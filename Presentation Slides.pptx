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38"/>
  </p:notesMasterIdLst>
  <p:handoutMasterIdLst>
    <p:handoutMasterId r:id="rId39"/>
  </p:handoutMasterIdLst>
  <p:sldIdLst>
    <p:sldId id="266" r:id="rId5"/>
    <p:sldId id="263" r:id="rId6"/>
    <p:sldId id="267" r:id="rId7"/>
    <p:sldId id="268" r:id="rId8"/>
    <p:sldId id="272" r:id="rId9"/>
    <p:sldId id="271" r:id="rId10"/>
    <p:sldId id="269" r:id="rId11"/>
    <p:sldId id="273" r:id="rId12"/>
    <p:sldId id="275" r:id="rId13"/>
    <p:sldId id="274" r:id="rId14"/>
    <p:sldId id="281" r:id="rId15"/>
    <p:sldId id="277" r:id="rId16"/>
    <p:sldId id="276" r:id="rId17"/>
    <p:sldId id="278" r:id="rId18"/>
    <p:sldId id="280" r:id="rId19"/>
    <p:sldId id="279" r:id="rId20"/>
    <p:sldId id="286" r:id="rId21"/>
    <p:sldId id="289" r:id="rId22"/>
    <p:sldId id="287" r:id="rId23"/>
    <p:sldId id="288" r:id="rId24"/>
    <p:sldId id="290" r:id="rId25"/>
    <p:sldId id="291" r:id="rId26"/>
    <p:sldId id="285" r:id="rId27"/>
    <p:sldId id="282" r:id="rId28"/>
    <p:sldId id="284" r:id="rId29"/>
    <p:sldId id="294" r:id="rId30"/>
    <p:sldId id="293" r:id="rId31"/>
    <p:sldId id="259" r:id="rId32"/>
    <p:sldId id="260" r:id="rId33"/>
    <p:sldId id="261" r:id="rId34"/>
    <p:sldId id="262" r:id="rId35"/>
    <p:sldId id="264" r:id="rId36"/>
    <p:sldId id="265" r:id="rId3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573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D521E4-97F1-4387-88FF-11734C91766B}" v="4" dt="2025-10-02T03:40:12.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78973"/>
  </p:normalViewPr>
  <p:slideViewPr>
    <p:cSldViewPr snapToGrid="0" snapToObjects="1">
      <p:cViewPr varScale="1">
        <p:scale>
          <a:sx n="132" d="100"/>
          <a:sy n="132" d="100"/>
        </p:scale>
        <p:origin x="224" y="168"/>
      </p:cViewPr>
      <p:guideLst>
        <p:guide orient="horz" pos="1620"/>
        <p:guide pos="2880"/>
      </p:guideLst>
    </p:cSldViewPr>
  </p:slideViewPr>
  <p:notesTextViewPr>
    <p:cViewPr>
      <p:scale>
        <a:sx n="25" d="100"/>
        <a:sy n="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EFC5B3-379E-EF40-A0D2-38E640436CC2}" type="datetimeFigureOut">
              <a:rPr lang="en-US" smtClean="0">
                <a:latin typeface="Arial"/>
              </a:rPr>
              <a:t>5/18/26</a:t>
            </a:fld>
            <a:endParaRPr lang="en-US" dirty="0">
              <a:latin typeface="Aria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A029101-7F9C-2D47-B95D-7561785BF174}" type="slidenum">
              <a:rPr lang="en-US" smtClean="0">
                <a:latin typeface="Arial"/>
              </a:rPr>
              <a:t>‹#›</a:t>
            </a:fld>
            <a:endParaRPr lang="en-US" dirty="0">
              <a:latin typeface="Arial"/>
            </a:endParaRPr>
          </a:p>
        </p:txBody>
      </p:sp>
    </p:spTree>
    <p:extLst>
      <p:ext uri="{BB962C8B-B14F-4D97-AF65-F5344CB8AC3E}">
        <p14:creationId xmlns:p14="http://schemas.microsoft.com/office/powerpoint/2010/main" val="39611757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E7A63A-F8D2-5643-BD40-39E8F1814861}" type="datetimeFigureOut">
              <a:rPr lang="en-US" smtClean="0"/>
              <a:t>5/18/26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C7B5EB-D6F8-BB4D-9502-33B7543973D7}" type="slidenum">
              <a:rPr lang="en-US" smtClean="0"/>
              <a:t>‹#›</a:t>
            </a:fld>
            <a:endParaRPr lang="en-US"/>
          </a:p>
        </p:txBody>
      </p:sp>
    </p:spTree>
    <p:extLst>
      <p:ext uri="{BB962C8B-B14F-4D97-AF65-F5344CB8AC3E}">
        <p14:creationId xmlns:p14="http://schemas.microsoft.com/office/powerpoint/2010/main" val="158089769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 represents a crucial step in leveraging AI for local biodiversity conservation for </a:t>
            </a:r>
            <a:r>
              <a:rPr lang="en-US" dirty="0" err="1"/>
              <a:t>singapore</a:t>
            </a:r>
            <a:r>
              <a:rPr lang="en-US" dirty="0"/>
              <a:t>, which is a field still relatively unexplored. </a:t>
            </a:r>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1</a:t>
            </a:fld>
            <a:endParaRPr lang="en-US"/>
          </a:p>
        </p:txBody>
      </p:sp>
    </p:spTree>
    <p:extLst>
      <p:ext uri="{BB962C8B-B14F-4D97-AF65-F5344CB8AC3E}">
        <p14:creationId xmlns:p14="http://schemas.microsoft.com/office/powerpoint/2010/main" val="2001180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which hear by sound alone? </a:t>
            </a:r>
          </a:p>
          <a:p>
            <a:r>
              <a:rPr lang="en-GB" dirty="0"/>
              <a:t>- house crow, rooster, </a:t>
            </a:r>
            <a:r>
              <a:rPr lang="en-GB" dirty="0" err="1"/>
              <a:t>asian</a:t>
            </a:r>
            <a:r>
              <a:rPr lang="en-GB" dirty="0"/>
              <a:t> koel (infamous morning calls) </a:t>
            </a:r>
          </a:p>
          <a:p>
            <a:r>
              <a:rPr lang="en-GB" dirty="0"/>
              <a:t>- recently been able to recognise black-naped oriole calls too as there is a pair living right outside my window. </a:t>
            </a:r>
          </a:p>
          <a:p>
            <a:r>
              <a:rPr lang="en-GB" dirty="0"/>
              <a:t>- birds give us a lot of information about ecological environment. to assist with efficient monitoring, we use detect them using their sound</a:t>
            </a:r>
          </a:p>
        </p:txBody>
      </p:sp>
      <p:sp>
        <p:nvSpPr>
          <p:cNvPr id="4" name="Slide Number Placeholder 3"/>
          <p:cNvSpPr>
            <a:spLocks noGrp="1"/>
          </p:cNvSpPr>
          <p:nvPr>
            <p:ph type="sldNum" sz="quarter" idx="5"/>
          </p:nvPr>
        </p:nvSpPr>
        <p:spPr/>
        <p:txBody>
          <a:bodyPr/>
          <a:lstStyle/>
          <a:p>
            <a:fld id="{B1C7B5EB-D6F8-BB4D-9502-33B7543973D7}" type="slidenum">
              <a:rPr lang="en-US" smtClean="0"/>
              <a:t>2</a:t>
            </a:fld>
            <a:endParaRPr lang="en-US"/>
          </a:p>
        </p:txBody>
      </p:sp>
    </p:spTree>
    <p:extLst>
      <p:ext uri="{BB962C8B-B14F-4D97-AF65-F5344CB8AC3E}">
        <p14:creationId xmlns:p14="http://schemas.microsoft.com/office/powerpoint/2010/main" val="2498660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citizen can assist in provision of ecological data, not just professionals only. </a:t>
            </a:r>
          </a:p>
        </p:txBody>
      </p:sp>
      <p:sp>
        <p:nvSpPr>
          <p:cNvPr id="4" name="Slide Number Placeholder 3"/>
          <p:cNvSpPr>
            <a:spLocks noGrp="1"/>
          </p:cNvSpPr>
          <p:nvPr>
            <p:ph type="sldNum" sz="quarter" idx="5"/>
          </p:nvPr>
        </p:nvSpPr>
        <p:spPr/>
        <p:txBody>
          <a:bodyPr/>
          <a:lstStyle/>
          <a:p>
            <a:fld id="{B1C7B5EB-D6F8-BB4D-9502-33B7543973D7}" type="slidenum">
              <a:rPr lang="en-US" smtClean="0"/>
              <a:t>3</a:t>
            </a:fld>
            <a:endParaRPr lang="en-US"/>
          </a:p>
        </p:txBody>
      </p:sp>
    </p:spTree>
    <p:extLst>
      <p:ext uri="{BB962C8B-B14F-4D97-AF65-F5344CB8AC3E}">
        <p14:creationId xmlns:p14="http://schemas.microsoft.com/office/powerpoint/2010/main" val="1387357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project aims to bridge these gaps by developing reusable AI components, specifically through regional model adaptation and a Retrieval-Augmented Generation system</a:t>
            </a:r>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4</a:t>
            </a:fld>
            <a:endParaRPr lang="en-US"/>
          </a:p>
        </p:txBody>
      </p:sp>
    </p:spTree>
    <p:extLst>
      <p:ext uri="{BB962C8B-B14F-4D97-AF65-F5344CB8AC3E}">
        <p14:creationId xmlns:p14="http://schemas.microsoft.com/office/powerpoint/2010/main" val="3985683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popular bird recognition tools globally. it is a model developed by </a:t>
            </a:r>
            <a:r>
              <a:rPr lang="en-GB" dirty="0" err="1"/>
              <a:t>cornell</a:t>
            </a:r>
            <a:r>
              <a:rPr lang="en-GB" dirty="0"/>
              <a:t>. </a:t>
            </a:r>
          </a:p>
          <a:p>
            <a:r>
              <a:rPr lang="en-GB" dirty="0"/>
              <a:t>- interesting thing about this is that their scripts are open-sourced readily available on </a:t>
            </a:r>
            <a:r>
              <a:rPr lang="en-GB" dirty="0" err="1"/>
              <a:t>github</a:t>
            </a:r>
            <a:r>
              <a:rPr lang="en-GB" dirty="0"/>
              <a:t>. we can use it to adapt our models</a:t>
            </a:r>
          </a:p>
        </p:txBody>
      </p:sp>
      <p:sp>
        <p:nvSpPr>
          <p:cNvPr id="4" name="Slide Number Placeholder 3"/>
          <p:cNvSpPr>
            <a:spLocks noGrp="1"/>
          </p:cNvSpPr>
          <p:nvPr>
            <p:ph type="sldNum" sz="quarter" idx="5"/>
          </p:nvPr>
        </p:nvSpPr>
        <p:spPr/>
        <p:txBody>
          <a:bodyPr/>
          <a:lstStyle/>
          <a:p>
            <a:fld id="{B1C7B5EB-D6F8-BB4D-9502-33B7543973D7}" type="slidenum">
              <a:rPr lang="en-US" smtClean="0"/>
              <a:t>5</a:t>
            </a:fld>
            <a:endParaRPr lang="en-US"/>
          </a:p>
        </p:txBody>
      </p:sp>
    </p:spTree>
    <p:extLst>
      <p:ext uri="{BB962C8B-B14F-4D97-AF65-F5344CB8AC3E}">
        <p14:creationId xmlns:p14="http://schemas.microsoft.com/office/powerpoint/2010/main" val="1658741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baseline tests with </a:t>
            </a:r>
            <a:r>
              <a:rPr lang="en-US" dirty="0" err="1"/>
              <a:t>BirdNET</a:t>
            </a:r>
            <a:r>
              <a:rPr lang="en-US" dirty="0"/>
              <a:t> V2.4 on common Singapore garden birds revealed a stark reality: only 32.1% accuracy.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-This performance gap is could be due to domain shift; these models trained heavily  are biased towards North American and European species. - We observed a complete failure for many local birds, with 37% of our target species showing a 0% recognition rate. Even more concerning, 38.3% of samples yielded no confident prediction at all, rendering the model unreliable for automated monitoring. </a:t>
            </a:r>
            <a:br>
              <a:rPr lang="en-US" dirty="0"/>
            </a:br>
            <a:r>
              <a:rPr lang="en-US" dirty="0"/>
              <a:t>-So, how do we address this significant performance deficit?</a:t>
            </a:r>
            <a:endParaRPr lang="en-GB" dirty="0"/>
          </a:p>
          <a:p>
            <a:endParaRPr lang="en-US" dirty="0"/>
          </a:p>
        </p:txBody>
      </p:sp>
      <p:sp>
        <p:nvSpPr>
          <p:cNvPr id="4" name="Slide Number Placeholder 3"/>
          <p:cNvSpPr>
            <a:spLocks noGrp="1"/>
          </p:cNvSpPr>
          <p:nvPr>
            <p:ph type="sldNum" sz="quarter" idx="5"/>
          </p:nvPr>
        </p:nvSpPr>
        <p:spPr/>
        <p:txBody>
          <a:bodyPr/>
          <a:lstStyle/>
          <a:p>
            <a:fld id="{B1C7B5EB-D6F8-BB4D-9502-33B7543973D7}" type="slidenum">
              <a:rPr lang="en-US" smtClean="0"/>
              <a:t>6</a:t>
            </a:fld>
            <a:endParaRPr lang="en-US"/>
          </a:p>
        </p:txBody>
      </p:sp>
    </p:spTree>
    <p:extLst>
      <p:ext uri="{BB962C8B-B14F-4D97-AF65-F5344CB8AC3E}">
        <p14:creationId xmlns:p14="http://schemas.microsoft.com/office/powerpoint/2010/main" val="2713819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can do this!</a:t>
            </a:r>
          </a:p>
        </p:txBody>
      </p:sp>
      <p:sp>
        <p:nvSpPr>
          <p:cNvPr id="4" name="Slide Number Placeholder 3"/>
          <p:cNvSpPr>
            <a:spLocks noGrp="1"/>
          </p:cNvSpPr>
          <p:nvPr>
            <p:ph type="sldNum" sz="quarter" idx="5"/>
          </p:nvPr>
        </p:nvSpPr>
        <p:spPr/>
        <p:txBody>
          <a:bodyPr/>
          <a:lstStyle/>
          <a:p>
            <a:fld id="{B1C7B5EB-D6F8-BB4D-9502-33B7543973D7}" type="slidenum">
              <a:rPr lang="en-US" smtClean="0"/>
              <a:t>7</a:t>
            </a:fld>
            <a:endParaRPr lang="en-US"/>
          </a:p>
        </p:txBody>
      </p:sp>
    </p:spTree>
    <p:extLst>
      <p:ext uri="{BB962C8B-B14F-4D97-AF65-F5344CB8AC3E}">
        <p14:creationId xmlns:p14="http://schemas.microsoft.com/office/powerpoint/2010/main" val="3913430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 tackle these challenges, we've designed a dual-component system architecture that integrates both recognition and education. </a:t>
            </a:r>
            <a:br>
              <a:rPr lang="en-US" dirty="0"/>
            </a:br>
            <a:r>
              <a:rPr lang="en-US" dirty="0"/>
              <a:t>- This system is built on two main pillars: a fine-tuned Multi-Layer Perceptron classifier and a RAG-based educational assistant. </a:t>
            </a:r>
            <a:br>
              <a:rPr lang="en-US" dirty="0"/>
            </a:br>
            <a:r>
              <a:rPr lang="en-US" dirty="0"/>
              <a:t>- The workflow is straightforward: audio input is processed for feature extraction, then classified by our local model. This classification then triggers contextual retrieval from a curated knowledge base, leading to an educational response. </a:t>
            </a:r>
            <a:br>
              <a:rPr lang="en-US" dirty="0"/>
            </a:br>
            <a:r>
              <a:rPr lang="en-US" dirty="0"/>
              <a:t>- Now, let's dive deeper into how we achieve this local classification through transfer learning.</a:t>
            </a:r>
          </a:p>
          <a:p>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8</a:t>
            </a:fld>
            <a:endParaRPr lang="en-US"/>
          </a:p>
        </p:txBody>
      </p:sp>
    </p:spTree>
    <p:extLst>
      <p:ext uri="{BB962C8B-B14F-4D97-AF65-F5344CB8AC3E}">
        <p14:creationId xmlns:p14="http://schemas.microsoft.com/office/powerpoint/2010/main" val="1533945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got our data from </a:t>
            </a:r>
            <a:r>
              <a:rPr lang="en-US" dirty="0" err="1"/>
              <a:t>xeno</a:t>
            </a:r>
            <a:r>
              <a:rPr lang="en-US" dirty="0"/>
              <a:t> canto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 further enhance our model's robustness, we employed extensive data augmentation techniques, including time shifting, pitch adjustments, volume changes, and the addition of Gaussian noise.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This approach allows us to adapt global embeddings to our specific regional species effectively. </a:t>
            </a:r>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9</a:t>
            </a:fld>
            <a:endParaRPr lang="en-US"/>
          </a:p>
        </p:txBody>
      </p:sp>
    </p:spTree>
    <p:extLst>
      <p:ext uri="{BB962C8B-B14F-4D97-AF65-F5344CB8AC3E}">
        <p14:creationId xmlns:p14="http://schemas.microsoft.com/office/powerpoint/2010/main" val="503281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Our classification phase heavily relies on transfer learning, a crucial strategy for overcoming data scarcity in regional bioacoustics.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 add audio data, transform into spectrogram images</a:t>
            </a:r>
            <a:br>
              <a:rPr lang="en-US" dirty="0"/>
            </a:br>
            <a:r>
              <a:rPr lang="en-US" dirty="0"/>
              <a:t>- We leverage the </a:t>
            </a:r>
            <a:r>
              <a:rPr lang="en-US" dirty="0" err="1"/>
              <a:t>BirdNET</a:t>
            </a:r>
            <a:r>
              <a:rPr lang="en-US" dirty="0"/>
              <a:t> V2.4 encoder as a frozen feature extractor, . This allows us to utilize the high-level acoustic patterns learned from thousands of global species.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 We then train a specialized Multi-Layer Perceptron head on these features, consisting of three layers with batch normalization and dropout to prevent overfitting</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10</a:t>
            </a:fld>
            <a:endParaRPr lang="en-US"/>
          </a:p>
        </p:txBody>
      </p:sp>
    </p:spTree>
    <p:extLst>
      <p:ext uri="{BB962C8B-B14F-4D97-AF65-F5344CB8AC3E}">
        <p14:creationId xmlns:p14="http://schemas.microsoft.com/office/powerpoint/2010/main" val="1143424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br>
              <a:rPr lang="en-US" dirty="0"/>
            </a:br>
            <a:r>
              <a:rPr lang="en-US" sz="1100" b="1" i="0" u="none" strike="noStrike" cap="none" dirty="0">
                <a:solidFill>
                  <a:srgbClr val="FFFFFF"/>
                </a:solidFill>
                <a:latin typeface="Inter"/>
                <a:ea typeface="Inter"/>
                <a:cs typeface="Inter"/>
                <a:sym typeface="Inter"/>
              </a:rPr>
              <a:t>Input:</a:t>
            </a:r>
            <a:r>
              <a:rPr lang="en-US" sz="1200" b="0" i="0" u="none" strike="noStrike" cap="none" dirty="0">
                <a:solidFill>
                  <a:srgbClr val="FFFFFF"/>
                </a:solidFill>
                <a:latin typeface="Inter"/>
                <a:ea typeface="Inter"/>
                <a:cs typeface="Inter"/>
                <a:sym typeface="Inter"/>
              </a:rPr>
              <a:t> 6,522-dimensional logits (</a:t>
            </a:r>
            <a:r>
              <a:rPr lang="en-US" sz="1200" b="0" i="0" u="none" strike="noStrike" cap="none" dirty="0" err="1">
                <a:solidFill>
                  <a:srgbClr val="FFFFFF"/>
                </a:solidFill>
                <a:latin typeface="Inter"/>
                <a:ea typeface="Inter"/>
                <a:cs typeface="Inter"/>
                <a:sym typeface="Inter"/>
              </a:rPr>
              <a:t>BirdNET</a:t>
            </a:r>
            <a:r>
              <a:rPr lang="en-US" sz="1200" b="0" i="0" u="none" strike="noStrike" cap="none" dirty="0">
                <a:solidFill>
                  <a:srgbClr val="FFFFFF"/>
                </a:solidFill>
                <a:latin typeface="Inter"/>
                <a:ea typeface="Inter"/>
                <a:cs typeface="Inter"/>
                <a:sym typeface="Inter"/>
              </a:rPr>
              <a:t> output)</a:t>
            </a:r>
            <a:endParaRPr lang="en-US" sz="1100" b="0" i="0" u="none" strike="noStrike" cap="none" dirty="0">
              <a:solidFill>
                <a:schemeClr val="dk1"/>
              </a:solidFill>
              <a:latin typeface="+mn-lt"/>
              <a:ea typeface="Calibri"/>
              <a:cs typeface="Calibri"/>
              <a:sym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100" b="1" i="0" u="none" strike="noStrike" cap="none" dirty="0">
                <a:solidFill>
                  <a:srgbClr val="FFFFFF"/>
                </a:solidFill>
                <a:latin typeface="Inter"/>
                <a:ea typeface="Inter"/>
                <a:cs typeface="Inter"/>
                <a:sym typeface="Inter"/>
              </a:rPr>
              <a:t>Hidden Layers:</a:t>
            </a:r>
            <a:r>
              <a:rPr lang="en-US" sz="1200" b="0" i="0" u="none" strike="noStrike" cap="none" dirty="0">
                <a:solidFill>
                  <a:srgbClr val="FFFFFF"/>
                </a:solidFill>
                <a:latin typeface="Inter"/>
                <a:ea typeface="Inter"/>
                <a:cs typeface="Inter"/>
                <a:sym typeface="Inter"/>
              </a:rPr>
              <a:t> 2 layers with Batch Normalization</a:t>
            </a:r>
            <a:endParaRPr lang="en-US" sz="1100" b="0" i="0" u="none" strike="noStrike" cap="none" dirty="0">
              <a:solidFill>
                <a:schemeClr val="dk1"/>
              </a:solidFill>
              <a:latin typeface="+mn-lt"/>
              <a:ea typeface="Calibri"/>
              <a:cs typeface="Calibri"/>
              <a:sym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100" b="1" i="0" u="none" strike="noStrike" cap="none" dirty="0">
                <a:solidFill>
                  <a:srgbClr val="FFFFFF"/>
                </a:solidFill>
                <a:latin typeface="Inter"/>
                <a:ea typeface="Inter"/>
                <a:cs typeface="Inter"/>
                <a:sym typeface="Inter"/>
              </a:rPr>
              <a:t>Regularization:</a:t>
            </a:r>
            <a:r>
              <a:rPr lang="en-US" sz="1200" b="0" i="0" u="none" strike="noStrike" cap="none" dirty="0">
                <a:solidFill>
                  <a:srgbClr val="FFFFFF"/>
                </a:solidFill>
                <a:latin typeface="Inter"/>
                <a:ea typeface="Inter"/>
                <a:cs typeface="Inter"/>
                <a:sym typeface="Inter"/>
              </a:rPr>
              <a:t> Dropout (0.3) + Weight Decay (10⁻⁴)</a:t>
            </a:r>
            <a:endParaRPr lang="en-US" sz="1100" b="0" i="0" u="none" strike="noStrike" cap="none" dirty="0">
              <a:solidFill>
                <a:schemeClr val="dk1"/>
              </a:solidFill>
              <a:latin typeface="+mn-lt"/>
              <a:ea typeface="Calibri"/>
              <a:cs typeface="Calibri"/>
              <a:sym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100" b="1" i="0" u="none" strike="noStrike" cap="none" dirty="0">
                <a:solidFill>
                  <a:srgbClr val="FFFFFF"/>
                </a:solidFill>
                <a:latin typeface="Inter"/>
                <a:ea typeface="Inter"/>
                <a:cs typeface="Inter"/>
                <a:sym typeface="Inter"/>
              </a:rPr>
              <a:t>Output:</a:t>
            </a:r>
            <a:r>
              <a:rPr lang="en-US" sz="1200" b="0" i="0" u="none" strike="noStrike" cap="none" dirty="0">
                <a:solidFill>
                  <a:srgbClr val="FFFFFF"/>
                </a:solidFill>
                <a:latin typeface="Inter"/>
                <a:ea typeface="Inter"/>
                <a:cs typeface="Inter"/>
                <a:sym typeface="Inter"/>
              </a:rPr>
              <a:t> </a:t>
            </a:r>
            <a:r>
              <a:rPr lang="en-US" sz="1200" b="0" i="0" u="none" strike="noStrike" cap="none" dirty="0" err="1">
                <a:solidFill>
                  <a:srgbClr val="FFFFFF"/>
                </a:solidFill>
                <a:latin typeface="Inter"/>
                <a:ea typeface="Inter"/>
                <a:cs typeface="Inter"/>
                <a:sym typeface="Inter"/>
              </a:rPr>
              <a:t>Softmax</a:t>
            </a:r>
            <a:r>
              <a:rPr lang="en-US" sz="1200" b="0" i="0" u="none" strike="noStrike" cap="none" dirty="0">
                <a:solidFill>
                  <a:srgbClr val="FFFFFF"/>
                </a:solidFill>
                <a:latin typeface="Inter"/>
                <a:ea typeface="Inter"/>
                <a:cs typeface="Inter"/>
                <a:sym typeface="Inter"/>
              </a:rPr>
              <a:t> over 27 Singapore species</a:t>
            </a:r>
            <a:endParaRPr lang="en-US" sz="1100" b="0" i="0" u="none" strike="noStrike" cap="none" dirty="0">
              <a:solidFill>
                <a:schemeClr val="dk1"/>
              </a:solidFill>
              <a:latin typeface="+mn-lt"/>
              <a:ea typeface="Calibri"/>
              <a:cs typeface="Calibri"/>
              <a:sym typeface="Calibri"/>
            </a:endParaRPr>
          </a:p>
        </p:txBody>
      </p:sp>
      <p:sp>
        <p:nvSpPr>
          <p:cNvPr id="4" name="Slide Number Placeholder 3"/>
          <p:cNvSpPr>
            <a:spLocks noGrp="1"/>
          </p:cNvSpPr>
          <p:nvPr>
            <p:ph type="sldNum" sz="quarter" idx="5"/>
          </p:nvPr>
        </p:nvSpPr>
        <p:spPr/>
        <p:txBody>
          <a:bodyPr/>
          <a:lstStyle/>
          <a:p>
            <a:fld id="{B1C7B5EB-D6F8-BB4D-9502-33B7543973D7}" type="slidenum">
              <a:rPr lang="en-US" smtClean="0"/>
              <a:t>11</a:t>
            </a:fld>
            <a:endParaRPr lang="en-US"/>
          </a:p>
        </p:txBody>
      </p:sp>
    </p:spTree>
    <p:extLst>
      <p:ext uri="{BB962C8B-B14F-4D97-AF65-F5344CB8AC3E}">
        <p14:creationId xmlns:p14="http://schemas.microsoft.com/office/powerpoint/2010/main" val="4092730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u="none" strike="noStrike" kern="1200" dirty="0">
                <a:solidFill>
                  <a:schemeClr val="tx1"/>
                </a:solidFill>
                <a:effectLst/>
                <a:latin typeface="+mn-lt"/>
                <a:ea typeface="+mn-ea"/>
                <a:cs typeface="+mn-cs"/>
              </a:rPr>
              <a:t>"Adapting pretrained acoustic representations to a regional context successfully recovers discriminative features for previously unrecognised local vocalisations"</a:t>
            </a:r>
          </a:p>
          <a:p>
            <a:endParaRPr lang="en-SG"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Fine-tuning nearly doubles our classification accuracy. This is a significant gain, moving from 32.1% to 63.0% overall. We saw improved recognition for 18 out of 27 species. Many of these species previously had zero recognition. This demonstrates the robustness of our approach. We confirmed stable performance with 5-fold cross-validation. </a:t>
            </a:r>
          </a:p>
        </p:txBody>
      </p:sp>
      <p:sp>
        <p:nvSpPr>
          <p:cNvPr id="4" name="Slide Number Placeholder 3"/>
          <p:cNvSpPr>
            <a:spLocks noGrp="1"/>
          </p:cNvSpPr>
          <p:nvPr>
            <p:ph type="sldNum" sz="quarter" idx="5"/>
          </p:nvPr>
        </p:nvSpPr>
        <p:spPr/>
        <p:txBody>
          <a:bodyPr/>
          <a:lstStyle/>
          <a:p>
            <a:fld id="{B1C7B5EB-D6F8-BB4D-9502-33B7543973D7}" type="slidenum">
              <a:rPr lang="en-US" smtClean="0"/>
              <a:t>13</a:t>
            </a:fld>
            <a:endParaRPr lang="en-US"/>
          </a:p>
        </p:txBody>
      </p:sp>
    </p:spTree>
    <p:extLst>
      <p:ext uri="{BB962C8B-B14F-4D97-AF65-F5344CB8AC3E}">
        <p14:creationId xmlns:p14="http://schemas.microsoft.com/office/powerpoint/2010/main" val="1022520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14</a:t>
            </a:fld>
            <a:endParaRPr lang="en-US"/>
          </a:p>
        </p:txBody>
      </p:sp>
    </p:spTree>
    <p:extLst>
      <p:ext uri="{BB962C8B-B14F-4D97-AF65-F5344CB8AC3E}">
        <p14:creationId xmlns:p14="http://schemas.microsoft.com/office/powerpoint/2010/main" val="3387139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Following our improved classification, we need to provide accurate information. Our RAG pipeline grounds educational responses in local authority. This eliminates hallucinations by sourcing from </a:t>
            </a:r>
            <a:r>
              <a:rPr lang="en-US" dirty="0" err="1"/>
              <a:t>NParks</a:t>
            </a:r>
            <a:r>
              <a:rPr lang="en-US" dirty="0"/>
              <a:t> and local databases. We curated our knowledge base from </a:t>
            </a:r>
            <a:r>
              <a:rPr lang="en-US" dirty="0" err="1"/>
              <a:t>NParks</a:t>
            </a:r>
            <a:r>
              <a:rPr lang="en-US" dirty="0"/>
              <a:t> Garden Bird Watch reports and the Singapore Bird Database. </a:t>
            </a:r>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16</a:t>
            </a:fld>
            <a:endParaRPr lang="en-US"/>
          </a:p>
        </p:txBody>
      </p:sp>
    </p:spTree>
    <p:extLst>
      <p:ext uri="{BB962C8B-B14F-4D97-AF65-F5344CB8AC3E}">
        <p14:creationId xmlns:p14="http://schemas.microsoft.com/office/powerpoint/2010/main" val="2674019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Our technical stack uses Sentence-Transformers for embeddings and </a:t>
            </a:r>
            <a:r>
              <a:rPr lang="en-US" dirty="0" err="1"/>
              <a:t>ChromaDB</a:t>
            </a:r>
            <a:r>
              <a:rPr lang="en-US" dirty="0"/>
              <a:t> for vector storage. We then use Claude 4 Sonnet for generation. This setup ensures highly relevant and factual information. Now, let's see how well this pipeline performs.</a:t>
            </a:r>
          </a:p>
          <a:p>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17</a:t>
            </a:fld>
            <a:endParaRPr lang="en-US"/>
          </a:p>
        </p:txBody>
      </p:sp>
    </p:spTree>
    <p:extLst>
      <p:ext uri="{BB962C8B-B14F-4D97-AF65-F5344CB8AC3E}">
        <p14:creationId xmlns:p14="http://schemas.microsoft.com/office/powerpoint/2010/main" val="2983003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we feed all these data in we had to first analyse our data</a:t>
            </a:r>
          </a:p>
          <a:p>
            <a:endParaRPr lang="en-GB" dirty="0"/>
          </a:p>
          <a:p>
            <a:r>
              <a:rPr lang="en-GB" dirty="0"/>
              <a:t>by page, by line</a:t>
            </a:r>
          </a:p>
          <a:p>
            <a:r>
              <a:rPr lang="en-GB" dirty="0"/>
              <a:t>split by species and perform embedding</a:t>
            </a:r>
          </a:p>
          <a:p>
            <a:endParaRPr lang="en-GB" dirty="0"/>
          </a:p>
          <a:p>
            <a:r>
              <a:rPr lang="en-GB" dirty="0"/>
              <a:t>run chunks through test queries. not very accurate. LLM comes in because it understand context instead of just a simple similarity search. </a:t>
            </a:r>
          </a:p>
        </p:txBody>
      </p:sp>
      <p:sp>
        <p:nvSpPr>
          <p:cNvPr id="4" name="Slide Number Placeholder 3"/>
          <p:cNvSpPr>
            <a:spLocks noGrp="1"/>
          </p:cNvSpPr>
          <p:nvPr>
            <p:ph type="sldNum" sz="quarter" idx="5"/>
          </p:nvPr>
        </p:nvSpPr>
        <p:spPr/>
        <p:txBody>
          <a:bodyPr/>
          <a:lstStyle/>
          <a:p>
            <a:fld id="{B1C7B5EB-D6F8-BB4D-9502-33B7543973D7}" type="slidenum">
              <a:rPr lang="en-US" smtClean="0"/>
              <a:t>18</a:t>
            </a:fld>
            <a:endParaRPr lang="en-US"/>
          </a:p>
        </p:txBody>
      </p:sp>
    </p:spTree>
    <p:extLst>
      <p:ext uri="{BB962C8B-B14F-4D97-AF65-F5344CB8AC3E}">
        <p14:creationId xmlns:p14="http://schemas.microsoft.com/office/powerpoint/2010/main" val="1475352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integrated LLM into our response </a:t>
            </a:r>
          </a:p>
          <a:p>
            <a:endParaRPr lang="en-GB" dirty="0"/>
          </a:p>
          <a:p>
            <a:r>
              <a:rPr lang="en-GB" dirty="0"/>
              <a:t>compare a standard LLM vs RAG based </a:t>
            </a:r>
            <a:r>
              <a:rPr lang="en-GB" dirty="0" err="1"/>
              <a:t>assistent</a:t>
            </a:r>
            <a:endParaRPr lang="en-GB" dirty="0"/>
          </a:p>
          <a:p>
            <a:r>
              <a:rPr lang="en-GB" dirty="0"/>
              <a:t>- scenario where user identified  tiger </a:t>
            </a:r>
            <a:r>
              <a:rPr lang="en-GB" dirty="0" err="1"/>
              <a:t>shirke</a:t>
            </a:r>
            <a:r>
              <a:rPr lang="en-GB" dirty="0"/>
              <a:t> using audio </a:t>
            </a:r>
            <a:r>
              <a:rPr lang="en-GB" dirty="0" err="1"/>
              <a:t>classifer</a:t>
            </a:r>
            <a:r>
              <a:rPr lang="en-GB" dirty="0"/>
              <a:t> </a:t>
            </a:r>
          </a:p>
        </p:txBody>
      </p:sp>
      <p:sp>
        <p:nvSpPr>
          <p:cNvPr id="4" name="Slide Number Placeholder 3"/>
          <p:cNvSpPr>
            <a:spLocks noGrp="1"/>
          </p:cNvSpPr>
          <p:nvPr>
            <p:ph type="sldNum" sz="quarter" idx="5"/>
          </p:nvPr>
        </p:nvSpPr>
        <p:spPr/>
        <p:txBody>
          <a:bodyPr/>
          <a:lstStyle/>
          <a:p>
            <a:fld id="{B1C7B5EB-D6F8-BB4D-9502-33B7543973D7}" type="slidenum">
              <a:rPr lang="en-US" smtClean="0"/>
              <a:t>19</a:t>
            </a:fld>
            <a:endParaRPr lang="en-US"/>
          </a:p>
        </p:txBody>
      </p:sp>
    </p:spTree>
    <p:extLst>
      <p:ext uri="{BB962C8B-B14F-4D97-AF65-F5344CB8AC3E}">
        <p14:creationId xmlns:p14="http://schemas.microsoft.com/office/powerpoint/2010/main" val="2364936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DEDB1-257D-8320-F138-29A212C38C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43FC33-BB60-95FA-A63D-9BEB36142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D1182-91F1-D30B-80DE-9C3883D9345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EE188F0-7480-CDBC-3A1A-9E5A376F43E7}"/>
              </a:ext>
            </a:extLst>
          </p:cNvPr>
          <p:cNvSpPr>
            <a:spLocks noGrp="1"/>
          </p:cNvSpPr>
          <p:nvPr>
            <p:ph type="sldNum" sz="quarter" idx="5"/>
          </p:nvPr>
        </p:nvSpPr>
        <p:spPr/>
        <p:txBody>
          <a:bodyPr/>
          <a:lstStyle/>
          <a:p>
            <a:fld id="{B1C7B5EB-D6F8-BB4D-9502-33B7543973D7}" type="slidenum">
              <a:rPr lang="en-US" smtClean="0"/>
              <a:t>21</a:t>
            </a:fld>
            <a:endParaRPr lang="en-US"/>
          </a:p>
        </p:txBody>
      </p:sp>
    </p:spTree>
    <p:extLst>
      <p:ext uri="{BB962C8B-B14F-4D97-AF65-F5344CB8AC3E}">
        <p14:creationId xmlns:p14="http://schemas.microsoft.com/office/powerpoint/2010/main" val="4210216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an LLM-as-a-Judge framework to assess </a:t>
            </a:r>
            <a:r>
              <a:rPr lang="en-US" dirty="0" err="1"/>
              <a:t>groundedness</a:t>
            </a:r>
            <a:r>
              <a:rPr lang="en-US" dirty="0"/>
              <a:t>. The system achieved high scores for faithfulness and relevance. It successfully retrieves local habitat details. All responses are traceable to authoritative Singaporean ornithological resources. </a:t>
            </a:r>
          </a:p>
          <a:p>
            <a:endParaRPr lang="en-US" dirty="0"/>
          </a:p>
          <a:p>
            <a:r>
              <a:rPr lang="en-US" dirty="0"/>
              <a:t>Completeness has a close fight. RAG responses may not be as complete as LLM sometimes as it depends largely on the grounded dataset vs LLM trained on big data. </a:t>
            </a:r>
          </a:p>
        </p:txBody>
      </p:sp>
      <p:sp>
        <p:nvSpPr>
          <p:cNvPr id="4" name="Slide Number Placeholder 3"/>
          <p:cNvSpPr>
            <a:spLocks noGrp="1"/>
          </p:cNvSpPr>
          <p:nvPr>
            <p:ph type="sldNum" sz="quarter" idx="5"/>
          </p:nvPr>
        </p:nvSpPr>
        <p:spPr/>
        <p:txBody>
          <a:bodyPr/>
          <a:lstStyle/>
          <a:p>
            <a:fld id="{B1C7B5EB-D6F8-BB4D-9502-33B7543973D7}" type="slidenum">
              <a:rPr lang="en-US" smtClean="0"/>
              <a:t>23</a:t>
            </a:fld>
            <a:endParaRPr lang="en-US"/>
          </a:p>
        </p:txBody>
      </p:sp>
    </p:spTree>
    <p:extLst>
      <p:ext uri="{BB962C8B-B14F-4D97-AF65-F5344CB8AC3E}">
        <p14:creationId xmlns:p14="http://schemas.microsoft.com/office/powerpoint/2010/main" val="2006398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We've seen the strengths of our system. But, like any research, there are limitations and future directions.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 Our current system is sensitive to high background noise.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Data scarcity also limits our classifier's breadth.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Future work will focus on multi-label detection.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also plan to integrate with mobile apps for real-time feedback. This will allow for on-device inference. We'll explore lightweight models for this. Now, let's summarize our contributions.</a:t>
            </a:r>
          </a:p>
          <a:p>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24</a:t>
            </a:fld>
            <a:endParaRPr lang="en-US"/>
          </a:p>
        </p:txBody>
      </p:sp>
    </p:spTree>
    <p:extLst>
      <p:ext uri="{BB962C8B-B14F-4D97-AF65-F5344CB8AC3E}">
        <p14:creationId xmlns:p14="http://schemas.microsoft.com/office/powerpoint/2010/main" val="2055375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contributions we want to make Singapore's digital ecology.</a:t>
            </a:r>
          </a:p>
          <a:p>
            <a:endParaRPr lang="en-US" dirty="0"/>
          </a:p>
          <a:p>
            <a:r>
              <a:rPr lang="en-US" dirty="0"/>
              <a:t> We provide a proven methodology for adapting global </a:t>
            </a:r>
            <a:r>
              <a:rPr lang="en-US" dirty="0" err="1"/>
              <a:t>bioacoustic</a:t>
            </a:r>
            <a:r>
              <a:rPr lang="en-US" dirty="0"/>
              <a:t> models. We also offer a RAG framework that democratizes access to specialized ecological knowledge. This lowers the barrier for public engagement in Singapore's 'City in Nature' initiatives. Our documented components are ready for integration into existing platforms. This project empowers citizens to become guardians of Singapore's biodiversity.</a:t>
            </a:r>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25</a:t>
            </a:fld>
            <a:endParaRPr lang="en-US"/>
          </a:p>
        </p:txBody>
      </p:sp>
    </p:spTree>
    <p:extLst>
      <p:ext uri="{BB962C8B-B14F-4D97-AF65-F5344CB8AC3E}">
        <p14:creationId xmlns:p14="http://schemas.microsoft.com/office/powerpoint/2010/main" val="38320563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27</a:t>
            </a:fld>
            <a:endParaRPr lang="en-US"/>
          </a:p>
        </p:txBody>
      </p:sp>
    </p:spTree>
    <p:extLst>
      <p:ext uri="{BB962C8B-B14F-4D97-AF65-F5344CB8AC3E}">
        <p14:creationId xmlns:p14="http://schemas.microsoft.com/office/powerpoint/2010/main" val="23794255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commons.wikimedia.org</a:t>
            </a:r>
            <a:r>
              <a:rPr lang="en-GB" dirty="0"/>
              <a:t>/wiki/</a:t>
            </a:r>
            <a:r>
              <a:rPr lang="en-GB" dirty="0" err="1"/>
              <a:t>File:Tropical_bird_on_a_branch</a:t>
            </a:r>
            <a:r>
              <a:rPr lang="en-GB" dirty="0"/>
              <a:t>_(</a:t>
            </a:r>
            <a:r>
              <a:rPr lang="en-GB" dirty="0" err="1"/>
              <a:t>Unsplash</a:t>
            </a:r>
            <a:r>
              <a:rPr lang="en-GB" dirty="0"/>
              <a:t>).jpg</a:t>
            </a:r>
            <a:br>
              <a:rPr lang="en-GB" dirty="0"/>
            </a:br>
            <a:br>
              <a:rPr lang="en-GB" dirty="0"/>
            </a:br>
            <a:r>
              <a:rPr lang="en-GB" dirty="0"/>
              <a:t>https://</a:t>
            </a:r>
            <a:r>
              <a:rPr lang="en-GB" dirty="0" err="1"/>
              <a:t>commons.wikimedia.org</a:t>
            </a:r>
            <a:r>
              <a:rPr lang="en-GB" dirty="0"/>
              <a:t>/wiki/</a:t>
            </a:r>
            <a:r>
              <a:rPr lang="en-GB" dirty="0" err="1"/>
              <a:t>File:Taiwan_Scimitar_Babbler_in_Taipei.jpg</a:t>
            </a:r>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29</a:t>
            </a:fld>
            <a:endParaRPr lang="en-US"/>
          </a:p>
        </p:txBody>
      </p:sp>
    </p:spTree>
    <p:extLst>
      <p:ext uri="{BB962C8B-B14F-4D97-AF65-F5344CB8AC3E}">
        <p14:creationId xmlns:p14="http://schemas.microsoft.com/office/powerpoint/2010/main" val="2665919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https://</a:t>
            </a:r>
            <a:r>
              <a:rPr lang="en-GB" dirty="0" err="1"/>
              <a:t>xeno-canto.org</a:t>
            </a:r>
            <a:r>
              <a:rPr lang="en-GB" dirty="0"/>
              <a:t>/article/241</a:t>
            </a:r>
          </a:p>
        </p:txBody>
      </p:sp>
      <p:sp>
        <p:nvSpPr>
          <p:cNvPr id="4" name="Slide Number Placeholder 3"/>
          <p:cNvSpPr>
            <a:spLocks noGrp="1"/>
          </p:cNvSpPr>
          <p:nvPr>
            <p:ph type="sldNum" sz="quarter" idx="5"/>
          </p:nvPr>
        </p:nvSpPr>
        <p:spPr/>
        <p:txBody>
          <a:bodyPr/>
          <a:lstStyle/>
          <a:p>
            <a:fld id="{B1C7B5EB-D6F8-BB4D-9502-33B7543973D7}" type="slidenum">
              <a:rPr lang="en-US" smtClean="0"/>
              <a:t>30</a:t>
            </a:fld>
            <a:endParaRPr lang="en-US"/>
          </a:p>
        </p:txBody>
      </p:sp>
    </p:spTree>
    <p:extLst>
      <p:ext uri="{BB962C8B-B14F-4D97-AF65-F5344CB8AC3E}">
        <p14:creationId xmlns:p14="http://schemas.microsoft.com/office/powerpoint/2010/main" val="1605842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1C7B5EB-D6F8-BB4D-9502-33B7543973D7}" type="slidenum">
              <a:rPr lang="en-US" smtClean="0"/>
              <a:t>31</a:t>
            </a:fld>
            <a:endParaRPr lang="en-US"/>
          </a:p>
        </p:txBody>
      </p:sp>
    </p:spTree>
    <p:extLst>
      <p:ext uri="{BB962C8B-B14F-4D97-AF65-F5344CB8AC3E}">
        <p14:creationId xmlns:p14="http://schemas.microsoft.com/office/powerpoint/2010/main" val="2284752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88B86-BF9A-C57D-E88F-5978C3A2B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A4FC7-EE2C-783A-B2E1-2EFD5AE96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5F64F-EC83-C7E5-D3E3-5DF212CA4AF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67BD55C-B27C-D05D-B771-4161EE711C0E}"/>
              </a:ext>
            </a:extLst>
          </p:cNvPr>
          <p:cNvSpPr>
            <a:spLocks noGrp="1"/>
          </p:cNvSpPr>
          <p:nvPr>
            <p:ph type="sldNum" sz="quarter" idx="5"/>
          </p:nvPr>
        </p:nvSpPr>
        <p:spPr/>
        <p:txBody>
          <a:bodyPr/>
          <a:lstStyle/>
          <a:p>
            <a:fld id="{B1C7B5EB-D6F8-BB4D-9502-33B7543973D7}" type="slidenum">
              <a:rPr lang="en-US" smtClean="0"/>
              <a:t>32</a:t>
            </a:fld>
            <a:endParaRPr lang="en-US"/>
          </a:p>
        </p:txBody>
      </p:sp>
    </p:spTree>
    <p:extLst>
      <p:ext uri="{BB962C8B-B14F-4D97-AF65-F5344CB8AC3E}">
        <p14:creationId xmlns:p14="http://schemas.microsoft.com/office/powerpoint/2010/main" val="271241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7F3D6-19BE-CD0C-E597-BE395FE0C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A91BF-3174-C492-DD9C-F8D407EC2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A1B9C-37A5-1A9B-1700-D250AC2AFD8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ADDF28B-517D-A882-8D23-91EAB435CB80}"/>
              </a:ext>
            </a:extLst>
          </p:cNvPr>
          <p:cNvSpPr>
            <a:spLocks noGrp="1"/>
          </p:cNvSpPr>
          <p:nvPr>
            <p:ph type="sldNum" sz="quarter" idx="5"/>
          </p:nvPr>
        </p:nvSpPr>
        <p:spPr/>
        <p:txBody>
          <a:bodyPr/>
          <a:lstStyle/>
          <a:p>
            <a:fld id="{B1C7B5EB-D6F8-BB4D-9502-33B7543973D7}" type="slidenum">
              <a:rPr lang="en-US" smtClean="0"/>
              <a:t>33</a:t>
            </a:fld>
            <a:endParaRPr lang="en-US"/>
          </a:p>
        </p:txBody>
      </p:sp>
    </p:spTree>
    <p:extLst>
      <p:ext uri="{BB962C8B-B14F-4D97-AF65-F5344CB8AC3E}">
        <p14:creationId xmlns:p14="http://schemas.microsoft.com/office/powerpoint/2010/main" val="2836653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noAutofit/>
          </a:bodyPr>
          <a:lstStyle>
            <a:lvl1pPr>
              <a:defRPr sz="900"/>
            </a:lvl1pPr>
          </a:lstStyle>
          <a:p>
            <a:endParaRPr lang="en-US" dirty="0"/>
          </a:p>
          <a:p>
            <a:r>
              <a:rPr lang="en-US" sz="900" dirty="0"/>
              <a:t>College of Computing and Data Science</a:t>
            </a:r>
          </a:p>
          <a:p>
            <a:endParaRPr lang="en-US" sz="1000" dirty="0"/>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3792405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CC6BF854-A76C-B3D1-0D6A-2888C57AAE0C}"/>
              </a:ext>
            </a:extLst>
          </p:cNvPr>
          <p:cNvPicPr>
            <a:picLocks noChangeAspect="1"/>
          </p:cNvPicPr>
          <p:nvPr userDrawn="1"/>
        </p:nvPicPr>
        <p:blipFill>
          <a:blip r:embed="rId2"/>
          <a:stretch>
            <a:fillRect/>
          </a:stretch>
        </p:blipFill>
        <p:spPr>
          <a:xfrm>
            <a:off x="6212327" y="4903452"/>
            <a:ext cx="2220614" cy="190834"/>
          </a:xfrm>
          <a:prstGeom prst="rect">
            <a:avLst/>
          </a:prstGeom>
        </p:spPr>
      </p:pic>
      <p:sp>
        <p:nvSpPr>
          <p:cNvPr id="5" name="Footer Placeholder 4">
            <a:extLst>
              <a:ext uri="{FF2B5EF4-FFF2-40B4-BE49-F238E27FC236}">
                <a16:creationId xmlns:a16="http://schemas.microsoft.com/office/drawing/2014/main" id="{45273F12-BAC4-D8C1-D2E5-3EFAF7419FFE}"/>
              </a:ext>
            </a:extLst>
          </p:cNvPr>
          <p:cNvSpPr>
            <a:spLocks noGrp="1"/>
          </p:cNvSpPr>
          <p:nvPr>
            <p:ph type="ftr" sz="quarter" idx="3"/>
          </p:nvPr>
        </p:nvSpPr>
        <p:spPr>
          <a:xfrm>
            <a:off x="2782001" y="4869656"/>
            <a:ext cx="3489773" cy="273844"/>
          </a:xfrm>
          <a:prstGeom prst="rect">
            <a:avLst/>
          </a:prstGeom>
        </p:spPr>
        <p:txBody>
          <a:bodyPr vert="horz" wrap="none" lIns="0" tIns="0" rIns="0" bIns="0" rtlCol="0" anchor="ctr">
            <a:normAutofit/>
          </a:bodyPr>
          <a:lstStyle>
            <a:lvl1pPr algn="ctr">
              <a:defRPr sz="800">
                <a:solidFill>
                  <a:srgbClr val="FFFFFF"/>
                </a:solidFill>
                <a:latin typeface="Arial"/>
              </a:defRPr>
            </a:lvl1pPr>
          </a:lstStyle>
          <a:p>
            <a:endParaRPr lang="en-US" dirty="0"/>
          </a:p>
          <a:p>
            <a:r>
              <a:rPr lang="en-US" sz="900" dirty="0"/>
              <a:t>College of Computing &amp; Data Science</a:t>
            </a:r>
          </a:p>
          <a:p>
            <a:endParaRPr lang="en-US" dirty="0"/>
          </a:p>
        </p:txBody>
      </p:sp>
      <p:sp>
        <p:nvSpPr>
          <p:cNvPr id="6" name="Slide Number Placeholder 5">
            <a:extLst>
              <a:ext uri="{FF2B5EF4-FFF2-40B4-BE49-F238E27FC236}">
                <a16:creationId xmlns:a16="http://schemas.microsoft.com/office/drawing/2014/main" id="{82FD5CB1-246D-3BDA-38DC-07BA0174737F}"/>
              </a:ext>
            </a:extLst>
          </p:cNvPr>
          <p:cNvSpPr>
            <a:spLocks noGrp="1"/>
          </p:cNvSpPr>
          <p:nvPr>
            <p:ph type="sldNum" sz="quarter" idx="4"/>
          </p:nvPr>
        </p:nvSpPr>
        <p:spPr>
          <a:xfrm>
            <a:off x="8383778" y="4881585"/>
            <a:ext cx="751810" cy="273844"/>
          </a:xfrm>
          <a:prstGeom prst="rect">
            <a:avLst/>
          </a:prstGeom>
        </p:spPr>
        <p:txBody>
          <a:bodyPr vert="horz" wrap="none" lIns="0" tIns="0" rIns="0" bIns="0" rtlCol="0" anchor="ctr">
            <a:normAutofit/>
          </a:bodyPr>
          <a:lstStyle>
            <a:lvl1pPr algn="r">
              <a:defRPr sz="800" baseline="0">
                <a:solidFill>
                  <a:srgbClr val="FFFFFF"/>
                </a:solidFill>
                <a:latin typeface="Arial"/>
              </a:defRPr>
            </a:lvl1pPr>
          </a:lstStyle>
          <a:p>
            <a:fld id="{8E6562B1-0B0F-0246-9532-09536BC2AE59}" type="slidenum">
              <a:rPr lang="en-US" smtClean="0"/>
              <a:pPr/>
              <a:t>‹#›</a:t>
            </a:fld>
            <a:endParaRPr lang="en-US" dirty="0"/>
          </a:p>
        </p:txBody>
      </p:sp>
    </p:spTree>
    <p:extLst>
      <p:ext uri="{BB962C8B-B14F-4D97-AF65-F5344CB8AC3E}">
        <p14:creationId xmlns:p14="http://schemas.microsoft.com/office/powerpoint/2010/main" val="1492943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3305176"/>
            <a:ext cx="8229600" cy="102155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457200" y="2180035"/>
            <a:ext cx="82296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5" name="Footer Placeholder 4"/>
          <p:cNvSpPr>
            <a:spLocks noGrp="1"/>
          </p:cNvSpPr>
          <p:nvPr>
            <p:ph type="ftr" sz="quarter" idx="11"/>
          </p:nvPr>
        </p:nvSpPr>
        <p:spPr/>
        <p:txBody>
          <a:bodyPr>
            <a:noAutofit/>
          </a:bodyPr>
          <a:lstStyle>
            <a:lvl1pPr>
              <a:defRPr sz="900"/>
            </a:lvl1pPr>
          </a:lstStyle>
          <a:p>
            <a:endParaRPr lang="en-US" dirty="0"/>
          </a:p>
          <a:p>
            <a:r>
              <a:rPr lang="en-US" sz="900" dirty="0"/>
              <a:t>College of Computing and Data Science</a:t>
            </a:r>
          </a:p>
          <a:p>
            <a:endParaRPr lang="en-US" dirty="0"/>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426584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noAutofit/>
          </a:bodyPr>
          <a:lstStyle>
            <a:lvl1pPr>
              <a:defRPr sz="900"/>
            </a:lvl1pPr>
          </a:lstStyle>
          <a:p>
            <a:endParaRPr lang="en-US" dirty="0"/>
          </a:p>
          <a:p>
            <a:r>
              <a:rPr lang="en-US" sz="900" dirty="0"/>
              <a:t>College of Computing and Data Science</a:t>
            </a:r>
          </a:p>
          <a:p>
            <a:endParaRPr lang="en-US" dirty="0"/>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dirty="0"/>
          </a:p>
        </p:txBody>
      </p:sp>
    </p:spTree>
    <p:extLst>
      <p:ext uri="{BB962C8B-B14F-4D97-AF65-F5344CB8AC3E}">
        <p14:creationId xmlns:p14="http://schemas.microsoft.com/office/powerpoint/2010/main" val="1061538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9124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71068"/>
            <a:ext cx="4040188" cy="272130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39124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71068"/>
            <a:ext cx="4041775" cy="272130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normAutofit/>
          </a:bodyPr>
          <a:lstStyle>
            <a:lvl1pPr>
              <a:defRPr sz="900"/>
            </a:lvl1pPr>
          </a:lstStyle>
          <a:p>
            <a:endParaRPr lang="en-US" dirty="0"/>
          </a:p>
          <a:p>
            <a:r>
              <a:rPr lang="en-US" sz="900" dirty="0"/>
              <a:t>College of Computing and Data Science</a:t>
            </a:r>
          </a:p>
          <a:p>
            <a:endParaRPr lang="en-US" dirty="0"/>
          </a:p>
        </p:txBody>
      </p:sp>
      <p:sp>
        <p:nvSpPr>
          <p:cNvPr id="9" name="Slide Number Placeholder 8"/>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983490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normAutofit/>
          </a:bodyPr>
          <a:lstStyle>
            <a:lvl1pPr>
              <a:defRPr sz="900"/>
            </a:lvl1pPr>
          </a:lstStyle>
          <a:p>
            <a:endParaRPr lang="en-US" dirty="0"/>
          </a:p>
          <a:p>
            <a:r>
              <a:rPr lang="en-US" sz="900" dirty="0"/>
              <a:t>College of Computing and Data Science</a:t>
            </a:r>
          </a:p>
          <a:p>
            <a:endParaRPr lang="en-US" sz="1050" dirty="0"/>
          </a:p>
        </p:txBody>
      </p:sp>
      <p:sp>
        <p:nvSpPr>
          <p:cNvPr id="5" name="Slide Number Placeholder 4"/>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1911849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361530"/>
            <a:ext cx="2133600" cy="273844"/>
          </a:xfrm>
          <a:prstGeom prst="rect">
            <a:avLst/>
          </a:prstGeom>
        </p:spPr>
        <p:txBody>
          <a:bodyPr/>
          <a:lstStyle/>
          <a:p>
            <a:endParaRPr lang="en-US"/>
          </a:p>
        </p:txBody>
      </p:sp>
      <p:sp>
        <p:nvSpPr>
          <p:cNvPr id="3" name="Footer Placeholder 2"/>
          <p:cNvSpPr>
            <a:spLocks noGrp="1"/>
          </p:cNvSpPr>
          <p:nvPr>
            <p:ph type="ftr" sz="quarter" idx="11"/>
          </p:nvPr>
        </p:nvSpPr>
        <p:spPr/>
        <p:txBody>
          <a:bodyPr>
            <a:noAutofit/>
          </a:bodyPr>
          <a:lstStyle>
            <a:lvl1pPr>
              <a:defRPr sz="900"/>
            </a:lvl1pPr>
          </a:lstStyle>
          <a:p>
            <a:r>
              <a:rPr lang="en-US" sz="900" dirty="0"/>
              <a:t>College of Computing and Data Science</a:t>
            </a:r>
          </a:p>
        </p:txBody>
      </p:sp>
      <p:sp>
        <p:nvSpPr>
          <p:cNvPr id="4" name="Slide Number Placeholder 3"/>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306448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591463"/>
            <a:ext cx="3008313" cy="871538"/>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591464"/>
            <a:ext cx="5111750" cy="40486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593860"/>
            <a:ext cx="3008313" cy="30462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noAutofit/>
          </a:bodyPr>
          <a:lstStyle>
            <a:lvl1pPr>
              <a:defRPr sz="900"/>
            </a:lvl1pPr>
          </a:lstStyle>
          <a:p>
            <a:endParaRPr lang="en-US" dirty="0"/>
          </a:p>
          <a:p>
            <a:r>
              <a:rPr lang="en-US" sz="900" dirty="0"/>
              <a:t>College of Computing and Data Science</a:t>
            </a:r>
          </a:p>
          <a:p>
            <a:endParaRPr lang="en-US" dirty="0"/>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415777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noAutofit/>
          </a:bodyPr>
          <a:lstStyle>
            <a:lvl1pPr>
              <a:defRPr sz="900"/>
            </a:lvl1pPr>
          </a:lstStyle>
          <a:p>
            <a:endParaRPr lang="en-US" dirty="0"/>
          </a:p>
          <a:p>
            <a:r>
              <a:rPr lang="en-US" sz="900" dirty="0"/>
              <a:t>College of Computing and Data Science</a:t>
            </a:r>
          </a:p>
          <a:p>
            <a:endParaRPr lang="en-US" dirty="0"/>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07289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929" y="124248"/>
            <a:ext cx="8936484"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0929" y="1099523"/>
            <a:ext cx="8936484" cy="36351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4872762"/>
            <a:ext cx="9144000" cy="285750"/>
          </a:xfrm>
          <a:prstGeom prst="rect">
            <a:avLst/>
          </a:prstGeom>
        </p:spPr>
      </p:pic>
      <p:sp>
        <p:nvSpPr>
          <p:cNvPr id="5" name="Footer Placeholder 4"/>
          <p:cNvSpPr>
            <a:spLocks noGrp="1"/>
          </p:cNvSpPr>
          <p:nvPr>
            <p:ph type="ftr" sz="quarter" idx="3"/>
          </p:nvPr>
        </p:nvSpPr>
        <p:spPr>
          <a:xfrm>
            <a:off x="3124200" y="4886308"/>
            <a:ext cx="4810790" cy="273844"/>
          </a:xfrm>
          <a:prstGeom prst="rect">
            <a:avLst/>
          </a:prstGeom>
        </p:spPr>
        <p:txBody>
          <a:bodyPr vert="horz" wrap="none" lIns="0" tIns="0" rIns="0" bIns="0" rtlCol="0" anchor="ctr">
            <a:normAutofit/>
          </a:bodyPr>
          <a:lstStyle>
            <a:lvl1pPr algn="ctr">
              <a:defRPr sz="800">
                <a:solidFill>
                  <a:srgbClr val="FFFFFF"/>
                </a:solidFill>
                <a:latin typeface="Arial"/>
              </a:defRPr>
            </a:lvl1pPr>
          </a:lstStyle>
          <a:p>
            <a:endParaRPr lang="en-US" dirty="0"/>
          </a:p>
          <a:p>
            <a:r>
              <a:rPr lang="en-US" sz="900" dirty="0"/>
              <a:t>College of Computing and Data Science</a:t>
            </a:r>
          </a:p>
          <a:p>
            <a:endParaRPr lang="en-US" dirty="0"/>
          </a:p>
        </p:txBody>
      </p:sp>
      <p:sp>
        <p:nvSpPr>
          <p:cNvPr id="6" name="Slide Number Placeholder 5"/>
          <p:cNvSpPr>
            <a:spLocks noGrp="1"/>
          </p:cNvSpPr>
          <p:nvPr>
            <p:ph type="sldNum" sz="quarter" idx="4"/>
          </p:nvPr>
        </p:nvSpPr>
        <p:spPr>
          <a:xfrm>
            <a:off x="8372559" y="4886308"/>
            <a:ext cx="751810" cy="273844"/>
          </a:xfrm>
          <a:prstGeom prst="rect">
            <a:avLst/>
          </a:prstGeom>
        </p:spPr>
        <p:txBody>
          <a:bodyPr vert="horz" wrap="none" lIns="0" tIns="0" rIns="0" bIns="0" rtlCol="0" anchor="ctr">
            <a:normAutofit/>
          </a:bodyPr>
          <a:lstStyle>
            <a:lvl1pPr algn="r">
              <a:defRPr sz="800" baseline="0">
                <a:solidFill>
                  <a:srgbClr val="FFFFFF"/>
                </a:solidFill>
                <a:latin typeface="Arial"/>
              </a:defRPr>
            </a:lvl1pPr>
          </a:lstStyle>
          <a:p>
            <a:fld id="{8E6562B1-0B0F-0246-9532-09536BC2AE59}" type="slidenum">
              <a:rPr lang="en-US" smtClean="0"/>
              <a:pPr/>
              <a:t>‹#›</a:t>
            </a:fld>
            <a:endParaRPr lang="en-US" dirty="0"/>
          </a:p>
        </p:txBody>
      </p:sp>
    </p:spTree>
    <p:extLst>
      <p:ext uri="{BB962C8B-B14F-4D97-AF65-F5344CB8AC3E}">
        <p14:creationId xmlns:p14="http://schemas.microsoft.com/office/powerpoint/2010/main" val="671930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dt="0"/>
  <p:txStyles>
    <p:titleStyle>
      <a:lvl1pPr algn="l" defTabSz="4572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002060"/>
        </a:buClr>
        <a:buFont typeface="Wingdings" panose="05000000000000000000" pitchFamily="2" charset="2"/>
        <a:buChar char="§"/>
        <a:defRPr sz="2800" kern="1200">
          <a:solidFill>
            <a:schemeClr val="tx1"/>
          </a:solidFill>
          <a:latin typeface="+mn-lt"/>
          <a:ea typeface="+mn-ea"/>
          <a:cs typeface="+mn-cs"/>
        </a:defRPr>
      </a:lvl1pPr>
      <a:lvl2pPr marL="742950" indent="-285750" algn="l" defTabSz="457200" rtl="0" eaLnBrk="1" latinLnBrk="0" hangingPunct="1">
        <a:spcBef>
          <a:spcPct val="20000"/>
        </a:spcBef>
        <a:buClr>
          <a:srgbClr val="C0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Clr>
          <a:srgbClr val="002060"/>
        </a:buClr>
        <a:buFont typeface="Segoe UI" panose="020B0502040204020203" pitchFamily="34" charset="0"/>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Clr>
          <a:srgbClr val="C00000"/>
        </a:buClr>
        <a:buFont typeface="Segoe UI" panose="020B0502040204020203" pitchFamily="34" charset="0"/>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g"/><Relationship Id="rId1" Type="http://schemas.openxmlformats.org/officeDocument/2006/relationships/slideLayout" Target="../slideLayouts/slideLayout1.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60F7DB-21FD-00D4-BBB6-2DA13991D48D}"/>
              </a:ext>
            </a:extLst>
          </p:cNvPr>
          <p:cNvSpPr>
            <a:spLocks noGrp="1"/>
          </p:cNvSpPr>
          <p:nvPr>
            <p:ph type="ftr" sz="quarter" idx="11"/>
          </p:nvPr>
        </p:nvSpPr>
        <p:spPr/>
        <p:txBody>
          <a:bodyPr/>
          <a:lstStyle/>
          <a:p>
            <a:r>
              <a:rPr lang="en-US" sz="900"/>
              <a:t>College of Computing and Data Science</a:t>
            </a:r>
            <a:endParaRPr lang="en-US" sz="900" dirty="0"/>
          </a:p>
        </p:txBody>
      </p:sp>
      <p:pic>
        <p:nvPicPr>
          <p:cNvPr id="3" name="Google Shape;23;p1">
            <a:extLst>
              <a:ext uri="{FF2B5EF4-FFF2-40B4-BE49-F238E27FC236}">
                <a16:creationId xmlns:a16="http://schemas.microsoft.com/office/drawing/2014/main" id="{66F610E7-7CC5-0AE5-2833-3EC85827C01E}"/>
              </a:ext>
            </a:extLst>
          </p:cNvPr>
          <p:cNvPicPr preferRelativeResize="0"/>
          <p:nvPr/>
        </p:nvPicPr>
        <p:blipFill>
          <a:blip r:embed="rId3">
            <a:alphaModFix amt="30000"/>
          </a:blip>
          <a:stretch>
            <a:fillRect/>
          </a:stretch>
        </p:blipFill>
        <p:spPr>
          <a:xfrm>
            <a:off x="0" y="16652"/>
            <a:ext cx="9144000" cy="5143500"/>
          </a:xfrm>
          <a:prstGeom prst="rect">
            <a:avLst/>
          </a:prstGeom>
          <a:noFill/>
          <a:ln>
            <a:noFill/>
          </a:ln>
        </p:spPr>
      </p:pic>
      <p:sp>
        <p:nvSpPr>
          <p:cNvPr id="4" name="Google Shape;24;p1">
            <a:extLst>
              <a:ext uri="{FF2B5EF4-FFF2-40B4-BE49-F238E27FC236}">
                <a16:creationId xmlns:a16="http://schemas.microsoft.com/office/drawing/2014/main" id="{AC497A8A-C5C9-AC90-C806-5A3EB79097FF}"/>
              </a:ext>
            </a:extLst>
          </p:cNvPr>
          <p:cNvSpPr/>
          <p:nvPr/>
        </p:nvSpPr>
        <p:spPr>
          <a:xfrm>
            <a:off x="1000125" y="947272"/>
            <a:ext cx="7143750" cy="783035"/>
          </a:xfrm>
          <a:prstGeom prst="rect">
            <a:avLst/>
          </a:prstGeom>
          <a:noFill/>
          <a:ln>
            <a:noFill/>
          </a:ln>
        </p:spPr>
        <p:txBody>
          <a:bodyPr spcFirstLastPara="1" wrap="square" lIns="0" tIns="0" rIns="0" bIns="0" anchor="t" anchorCtr="0">
            <a:spAutoFit/>
          </a:bodyPr>
          <a:lstStyle/>
          <a:p>
            <a:pPr marL="0" marR="0" lvl="0" indent="0" algn="ctr" rtl="0">
              <a:lnSpc>
                <a:spcPct val="96000"/>
              </a:lnSpc>
              <a:spcBef>
                <a:spcPts val="0"/>
              </a:spcBef>
              <a:spcAft>
                <a:spcPts val="0"/>
              </a:spcAft>
              <a:buClr>
                <a:srgbClr val="2C3E50"/>
              </a:buClr>
              <a:buSzPts val="2650"/>
              <a:buFont typeface="Inter"/>
              <a:buNone/>
            </a:pPr>
            <a:r>
              <a:rPr lang="en-US" sz="2650" b="1" i="0" u="none" strike="noStrike" cap="none" dirty="0">
                <a:solidFill>
                  <a:srgbClr val="2C3E50"/>
                </a:solidFill>
                <a:latin typeface="Inter"/>
                <a:ea typeface="Inter"/>
                <a:cs typeface="Inter"/>
                <a:sym typeface="Inter"/>
              </a:rPr>
              <a:t>Enhancing Bird Species Recognition and</a:t>
            </a:r>
          </a:p>
          <a:p>
            <a:pPr marL="0" marR="0" lvl="0" indent="0" algn="ctr" rtl="0">
              <a:lnSpc>
                <a:spcPct val="96000"/>
              </a:lnSpc>
              <a:spcBef>
                <a:spcPts val="0"/>
              </a:spcBef>
              <a:spcAft>
                <a:spcPts val="0"/>
              </a:spcAft>
              <a:buClr>
                <a:srgbClr val="2C3E50"/>
              </a:buClr>
              <a:buSzPts val="2650"/>
              <a:buFont typeface="Inter"/>
              <a:buNone/>
            </a:pPr>
            <a:r>
              <a:rPr lang="en-US" sz="2650" b="1" i="0" u="none" strike="noStrike" cap="none" dirty="0">
                <a:solidFill>
                  <a:srgbClr val="2C3E50"/>
                </a:solidFill>
                <a:latin typeface="Inter"/>
                <a:ea typeface="Inter"/>
                <a:cs typeface="Inter"/>
                <a:sym typeface="Inter"/>
              </a:rPr>
              <a:t> Education for Singapore</a:t>
            </a:r>
            <a:endParaRPr sz="2650" b="0" i="0" u="none" strike="noStrike" cap="none" dirty="0">
              <a:solidFill>
                <a:schemeClr val="dk1"/>
              </a:solidFill>
              <a:latin typeface="Calibri"/>
              <a:ea typeface="Calibri"/>
              <a:cs typeface="Calibri"/>
              <a:sym typeface="Calibri"/>
            </a:endParaRPr>
          </a:p>
        </p:txBody>
      </p:sp>
      <p:sp>
        <p:nvSpPr>
          <p:cNvPr id="5" name="Google Shape;25;p1">
            <a:extLst>
              <a:ext uri="{FF2B5EF4-FFF2-40B4-BE49-F238E27FC236}">
                <a16:creationId xmlns:a16="http://schemas.microsoft.com/office/drawing/2014/main" id="{8C1AC6C4-9ED3-ADFA-66FD-9036F7AFC654}"/>
              </a:ext>
            </a:extLst>
          </p:cNvPr>
          <p:cNvSpPr/>
          <p:nvPr/>
        </p:nvSpPr>
        <p:spPr>
          <a:xfrm>
            <a:off x="1000125" y="1953090"/>
            <a:ext cx="7143750" cy="258532"/>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E67E22"/>
              </a:buClr>
              <a:buSzPts val="1400"/>
              <a:buFont typeface="Inter SemiBold"/>
              <a:buNone/>
            </a:pPr>
            <a:r>
              <a:rPr lang="en-US" sz="1400" b="0" i="0" u="none" strike="noStrike" cap="none" dirty="0">
                <a:solidFill>
                  <a:srgbClr val="205732"/>
                </a:solidFill>
                <a:latin typeface="Inter SemiBold"/>
                <a:ea typeface="Inter SemiBold"/>
                <a:cs typeface="Inter SemiBold"/>
                <a:sym typeface="Inter SemiBold"/>
              </a:rPr>
              <a:t>A Regional Acoustic Classifier and RAG-Based Assistant</a:t>
            </a:r>
            <a:endParaRPr sz="1400" b="0" i="0" u="none" strike="noStrike" cap="none" dirty="0">
              <a:solidFill>
                <a:srgbClr val="205732"/>
              </a:solidFill>
              <a:latin typeface="Calibri"/>
              <a:ea typeface="Calibri"/>
              <a:cs typeface="Calibri"/>
              <a:sym typeface="Calibri"/>
            </a:endParaRPr>
          </a:p>
        </p:txBody>
      </p:sp>
      <p:sp>
        <p:nvSpPr>
          <p:cNvPr id="6" name="Google Shape;26;p1">
            <a:extLst>
              <a:ext uri="{FF2B5EF4-FFF2-40B4-BE49-F238E27FC236}">
                <a16:creationId xmlns:a16="http://schemas.microsoft.com/office/drawing/2014/main" id="{7F042829-DEC9-C9B4-B988-A04FB9CF6CB0}"/>
              </a:ext>
            </a:extLst>
          </p:cNvPr>
          <p:cNvSpPr/>
          <p:nvPr/>
        </p:nvSpPr>
        <p:spPr>
          <a:xfrm>
            <a:off x="2235994" y="2681753"/>
            <a:ext cx="4672013" cy="1514475"/>
          </a:xfrm>
          <a:prstGeom prst="rect">
            <a:avLst/>
          </a:prstGeom>
          <a:solidFill>
            <a:srgbClr val="20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7;p1">
            <a:extLst>
              <a:ext uri="{FF2B5EF4-FFF2-40B4-BE49-F238E27FC236}">
                <a16:creationId xmlns:a16="http://schemas.microsoft.com/office/drawing/2014/main" id="{6AD379AB-8099-CD0F-58CB-40B0A9591CF2}"/>
              </a:ext>
            </a:extLst>
          </p:cNvPr>
          <p:cNvSpPr/>
          <p:nvPr/>
        </p:nvSpPr>
        <p:spPr>
          <a:xfrm>
            <a:off x="2593181" y="2896065"/>
            <a:ext cx="3957638"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FFFFFF"/>
              </a:buClr>
              <a:buSzPts val="1000"/>
              <a:buFont typeface="Inter"/>
              <a:buNone/>
            </a:pPr>
            <a:r>
              <a:rPr lang="en-US" sz="1000" b="1" i="0" u="none" strike="noStrike" cap="none">
                <a:solidFill>
                  <a:srgbClr val="FFFFFF"/>
                </a:solidFill>
                <a:latin typeface="Inter"/>
                <a:ea typeface="Inter"/>
                <a:cs typeface="Inter"/>
                <a:sym typeface="Inter"/>
              </a:rPr>
              <a:t>Presenter:</a:t>
            </a:r>
            <a:r>
              <a:rPr lang="en-US" sz="1050" b="0" i="0" u="none" strike="noStrike" cap="none">
                <a:solidFill>
                  <a:srgbClr val="FFFFFF"/>
                </a:solidFill>
                <a:latin typeface="Inter"/>
                <a:ea typeface="Inter"/>
                <a:cs typeface="Inter"/>
                <a:sym typeface="Inter"/>
              </a:rPr>
              <a:t> Adele Ng Jingwen</a:t>
            </a:r>
            <a:endParaRPr sz="1000" b="0" i="0" u="none" strike="noStrike" cap="none">
              <a:solidFill>
                <a:schemeClr val="dk1"/>
              </a:solidFill>
              <a:latin typeface="Calibri"/>
              <a:ea typeface="Calibri"/>
              <a:cs typeface="Calibri"/>
              <a:sym typeface="Calibri"/>
            </a:endParaRPr>
          </a:p>
        </p:txBody>
      </p:sp>
      <p:sp>
        <p:nvSpPr>
          <p:cNvPr id="8" name="Google Shape;28;p1">
            <a:extLst>
              <a:ext uri="{FF2B5EF4-FFF2-40B4-BE49-F238E27FC236}">
                <a16:creationId xmlns:a16="http://schemas.microsoft.com/office/drawing/2014/main" id="{9025BBC5-2ED4-F10E-0772-114EC28477F2}"/>
              </a:ext>
            </a:extLst>
          </p:cNvPr>
          <p:cNvSpPr/>
          <p:nvPr/>
        </p:nvSpPr>
        <p:spPr>
          <a:xfrm>
            <a:off x="2593181" y="3167528"/>
            <a:ext cx="3957638"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FFFFFF"/>
              </a:buClr>
              <a:buSzPts val="1000"/>
              <a:buFont typeface="Inter"/>
              <a:buNone/>
            </a:pPr>
            <a:r>
              <a:rPr lang="en-US" sz="1000" b="1" i="0" u="none" strike="noStrike" cap="none">
                <a:solidFill>
                  <a:srgbClr val="FFFFFF"/>
                </a:solidFill>
                <a:latin typeface="Inter"/>
                <a:ea typeface="Inter"/>
                <a:cs typeface="Inter"/>
                <a:sym typeface="Inter"/>
              </a:rPr>
              <a:t>Supervisor:</a:t>
            </a:r>
            <a:r>
              <a:rPr lang="en-US" sz="1050" b="0" i="0" u="none" strike="noStrike" cap="none">
                <a:solidFill>
                  <a:srgbClr val="FFFFFF"/>
                </a:solidFill>
                <a:latin typeface="Inter"/>
                <a:ea typeface="Inter"/>
                <a:cs typeface="Inter"/>
                <a:sym typeface="Inter"/>
              </a:rPr>
              <a:t> Dr. Owen Noel Newton Fernando</a:t>
            </a:r>
            <a:endParaRPr sz="1000" b="0" i="0" u="none" strike="noStrike" cap="none">
              <a:solidFill>
                <a:schemeClr val="dk1"/>
              </a:solidFill>
              <a:latin typeface="Calibri"/>
              <a:ea typeface="Calibri"/>
              <a:cs typeface="Calibri"/>
              <a:sym typeface="Calibri"/>
            </a:endParaRPr>
          </a:p>
        </p:txBody>
      </p:sp>
      <p:sp>
        <p:nvSpPr>
          <p:cNvPr id="9" name="Google Shape;29;p1">
            <a:extLst>
              <a:ext uri="{FF2B5EF4-FFF2-40B4-BE49-F238E27FC236}">
                <a16:creationId xmlns:a16="http://schemas.microsoft.com/office/drawing/2014/main" id="{605B2FE1-8B18-0083-6296-C10CB910BF59}"/>
              </a:ext>
            </a:extLst>
          </p:cNvPr>
          <p:cNvSpPr/>
          <p:nvPr/>
        </p:nvSpPr>
        <p:spPr>
          <a:xfrm>
            <a:off x="2593181" y="3438990"/>
            <a:ext cx="3957638"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FFFFFF"/>
              </a:buClr>
              <a:buSzPts val="1000"/>
              <a:buFont typeface="Inter"/>
              <a:buNone/>
            </a:pPr>
            <a:r>
              <a:rPr lang="en-US" sz="1000" b="1" i="0" u="none" strike="noStrike" cap="none">
                <a:solidFill>
                  <a:srgbClr val="FFFFFF"/>
                </a:solidFill>
                <a:latin typeface="Inter"/>
                <a:ea typeface="Inter"/>
                <a:cs typeface="Inter"/>
                <a:sym typeface="Inter"/>
              </a:rPr>
              <a:t>Institution:</a:t>
            </a:r>
            <a:r>
              <a:rPr lang="en-US" sz="1050" b="0" i="0" u="none" strike="noStrike" cap="none">
                <a:solidFill>
                  <a:srgbClr val="FFFFFF"/>
                </a:solidFill>
                <a:latin typeface="Inter"/>
                <a:ea typeface="Inter"/>
                <a:cs typeface="Inter"/>
                <a:sym typeface="Inter"/>
              </a:rPr>
              <a:t> College of Computing and Data Science, NTU</a:t>
            </a:r>
            <a:endParaRPr sz="1000" b="0" i="0" u="none" strike="noStrike" cap="none">
              <a:solidFill>
                <a:schemeClr val="dk1"/>
              </a:solidFill>
              <a:latin typeface="Calibri"/>
              <a:ea typeface="Calibri"/>
              <a:cs typeface="Calibri"/>
              <a:sym typeface="Calibri"/>
            </a:endParaRPr>
          </a:p>
        </p:txBody>
      </p:sp>
      <p:sp>
        <p:nvSpPr>
          <p:cNvPr id="10" name="Google Shape;30;p1">
            <a:extLst>
              <a:ext uri="{FF2B5EF4-FFF2-40B4-BE49-F238E27FC236}">
                <a16:creationId xmlns:a16="http://schemas.microsoft.com/office/drawing/2014/main" id="{3FACD9D3-16C3-224A-E904-96325AF90CF6}"/>
              </a:ext>
            </a:extLst>
          </p:cNvPr>
          <p:cNvSpPr/>
          <p:nvPr/>
        </p:nvSpPr>
        <p:spPr>
          <a:xfrm>
            <a:off x="2593181" y="3710453"/>
            <a:ext cx="3957638"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FFFFFF"/>
              </a:buClr>
              <a:buSzPts val="1000"/>
              <a:buFont typeface="Inter"/>
              <a:buNone/>
            </a:pPr>
            <a:r>
              <a:rPr lang="en-US" sz="1000" b="1" i="0" u="none" strike="noStrike" cap="none">
                <a:solidFill>
                  <a:srgbClr val="FFFFFF"/>
                </a:solidFill>
                <a:latin typeface="Inter"/>
                <a:ea typeface="Inter"/>
                <a:cs typeface="Inter"/>
                <a:sym typeface="Inter"/>
              </a:rPr>
              <a:t>Year:</a:t>
            </a:r>
            <a:r>
              <a:rPr lang="en-US" sz="1050" b="0" i="0" u="none" strike="noStrike" cap="none">
                <a:solidFill>
                  <a:srgbClr val="FFFFFF"/>
                </a:solidFill>
                <a:latin typeface="Inter"/>
                <a:ea typeface="Inter"/>
                <a:cs typeface="Inter"/>
                <a:sym typeface="Inter"/>
              </a:rPr>
              <a:t> 2026</a:t>
            </a:r>
            <a:endParaRPr sz="10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2968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1F86A3A9-4F73-E48C-C6E8-BD53E72FFE7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54618" y="0"/>
            <a:ext cx="5034763" cy="4770438"/>
          </a:xfrm>
          <a:prstGeom prst="rect">
            <a:avLst/>
          </a:prstGeom>
          <a:solidFill>
            <a:srgbClr val="FFFFFF"/>
          </a:solidFill>
        </p:spPr>
      </p:pic>
      <p:sp>
        <p:nvSpPr>
          <p:cNvPr id="14" name="Title 13">
            <a:extLst>
              <a:ext uri="{FF2B5EF4-FFF2-40B4-BE49-F238E27FC236}">
                <a16:creationId xmlns:a16="http://schemas.microsoft.com/office/drawing/2014/main" id="{62570D06-281E-EB1D-E357-DCE4F757CB46}"/>
              </a:ext>
            </a:extLst>
          </p:cNvPr>
          <p:cNvSpPr>
            <a:spLocks noGrp="1"/>
          </p:cNvSpPr>
          <p:nvPr>
            <p:ph type="title"/>
          </p:nvPr>
        </p:nvSpPr>
        <p:spPr/>
        <p:txBody>
          <a:bodyPr/>
          <a:lstStyle/>
          <a:p>
            <a:endParaRPr lang="en-GB"/>
          </a:p>
        </p:txBody>
      </p:sp>
      <p:sp>
        <p:nvSpPr>
          <p:cNvPr id="15" name="Picture Placeholder 14">
            <a:extLst>
              <a:ext uri="{FF2B5EF4-FFF2-40B4-BE49-F238E27FC236}">
                <a16:creationId xmlns:a16="http://schemas.microsoft.com/office/drawing/2014/main" id="{9621D8E3-07B7-061B-1C2E-1BA1DB33CF10}"/>
              </a:ext>
            </a:extLst>
          </p:cNvPr>
          <p:cNvSpPr>
            <a:spLocks noGrp="1"/>
          </p:cNvSpPr>
          <p:nvPr>
            <p:ph type="pic" idx="1"/>
          </p:nvPr>
        </p:nvSpPr>
        <p:spPr/>
        <p:txBody>
          <a:bodyPr/>
          <a:lstStyle/>
          <a:p>
            <a:endParaRPr lang="en-GB"/>
          </a:p>
        </p:txBody>
      </p:sp>
      <p:sp>
        <p:nvSpPr>
          <p:cNvPr id="16" name="Text Placeholder 15">
            <a:extLst>
              <a:ext uri="{FF2B5EF4-FFF2-40B4-BE49-F238E27FC236}">
                <a16:creationId xmlns:a16="http://schemas.microsoft.com/office/drawing/2014/main" id="{C5CDA819-A35C-79EA-DFC4-143C572FA1AB}"/>
              </a:ext>
            </a:extLst>
          </p:cNvPr>
          <p:cNvSpPr>
            <a:spLocks noGrp="1"/>
          </p:cNvSpPr>
          <p:nvPr>
            <p:ph type="body" sz="half" idx="2"/>
          </p:nvPr>
        </p:nvSpPr>
        <p:spPr/>
        <p:txBody>
          <a:bodyPr/>
          <a:lstStyle/>
          <a:p>
            <a:endParaRPr lang="en-GB"/>
          </a:p>
        </p:txBody>
      </p:sp>
      <p:sp>
        <p:nvSpPr>
          <p:cNvPr id="4" name="Footer Placeholder 3">
            <a:extLst>
              <a:ext uri="{FF2B5EF4-FFF2-40B4-BE49-F238E27FC236}">
                <a16:creationId xmlns:a16="http://schemas.microsoft.com/office/drawing/2014/main" id="{69F3F0CE-F72E-7D3C-AE28-F82BBFF55C49}"/>
              </a:ext>
            </a:extLst>
          </p:cNvPr>
          <p:cNvSpPr>
            <a:spLocks noGrp="1"/>
          </p:cNvSpPr>
          <p:nvPr>
            <p:ph type="ftr" sz="quarter" idx="11"/>
          </p:nvPr>
        </p:nvSpPr>
        <p:spPr/>
        <p:txBody>
          <a:bodyPr>
            <a:normAutofit/>
          </a:bodyPr>
          <a:lstStyle/>
          <a:p>
            <a:r>
              <a:rPr lang="en-US" dirty="0"/>
              <a:t>College of Computing and Data Science</a:t>
            </a:r>
          </a:p>
        </p:txBody>
      </p:sp>
      <p:sp>
        <p:nvSpPr>
          <p:cNvPr id="2" name="Oval 1">
            <a:extLst>
              <a:ext uri="{FF2B5EF4-FFF2-40B4-BE49-F238E27FC236}">
                <a16:creationId xmlns:a16="http://schemas.microsoft.com/office/drawing/2014/main" id="{F70C2DA6-FE78-37A2-FA97-2A66CB8A7D31}"/>
              </a:ext>
            </a:extLst>
          </p:cNvPr>
          <p:cNvSpPr/>
          <p:nvPr/>
        </p:nvSpPr>
        <p:spPr>
          <a:xfrm>
            <a:off x="2315276" y="2152650"/>
            <a:ext cx="933450" cy="8382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 name="Oval 2">
            <a:extLst>
              <a:ext uri="{FF2B5EF4-FFF2-40B4-BE49-F238E27FC236}">
                <a16:creationId xmlns:a16="http://schemas.microsoft.com/office/drawing/2014/main" id="{5DE68BFB-A492-48C1-61C6-D8C19718EE5A}"/>
              </a:ext>
            </a:extLst>
          </p:cNvPr>
          <p:cNvSpPr/>
          <p:nvPr/>
        </p:nvSpPr>
        <p:spPr>
          <a:xfrm>
            <a:off x="5429951" y="3314700"/>
            <a:ext cx="933450" cy="8382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Oval 4">
            <a:extLst>
              <a:ext uri="{FF2B5EF4-FFF2-40B4-BE49-F238E27FC236}">
                <a16:creationId xmlns:a16="http://schemas.microsoft.com/office/drawing/2014/main" id="{4FE3CD68-0F83-9DEE-B338-FAC2B43221CB}"/>
              </a:ext>
            </a:extLst>
          </p:cNvPr>
          <p:cNvSpPr/>
          <p:nvPr/>
        </p:nvSpPr>
        <p:spPr>
          <a:xfrm>
            <a:off x="5338324" y="819150"/>
            <a:ext cx="933450" cy="8382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9819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0C23C71-4E22-411C-A015-727B6F65F459}"/>
              </a:ext>
            </a:extLst>
          </p:cNvPr>
          <p:cNvSpPr>
            <a:spLocks noGrp="1"/>
          </p:cNvSpPr>
          <p:nvPr>
            <p:ph type="ftr" sz="quarter" idx="11"/>
          </p:nvPr>
        </p:nvSpPr>
        <p:spPr/>
        <p:txBody>
          <a:bodyPr/>
          <a:lstStyle/>
          <a:p>
            <a:endParaRPr lang="en-US"/>
          </a:p>
          <a:p>
            <a:r>
              <a:rPr lang="en-US" sz="900"/>
              <a:t>College of Computing and Data Science</a:t>
            </a:r>
          </a:p>
          <a:p>
            <a:endParaRPr lang="en-US" dirty="0"/>
          </a:p>
        </p:txBody>
      </p:sp>
      <p:sp>
        <p:nvSpPr>
          <p:cNvPr id="6" name="Google Shape;36;g3e7d7471223_0_25">
            <a:extLst>
              <a:ext uri="{FF2B5EF4-FFF2-40B4-BE49-F238E27FC236}">
                <a16:creationId xmlns:a16="http://schemas.microsoft.com/office/drawing/2014/main" id="{8018BCAC-C6BA-5A67-7F18-D06C34D5A149}"/>
              </a:ext>
            </a:extLst>
          </p:cNvPr>
          <p:cNvSpPr/>
          <p:nvPr/>
        </p:nvSpPr>
        <p:spPr>
          <a:xfrm>
            <a:off x="571500" y="428625"/>
            <a:ext cx="8001000" cy="6144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7;g3e7d7471223_0_25">
            <a:extLst>
              <a:ext uri="{FF2B5EF4-FFF2-40B4-BE49-F238E27FC236}">
                <a16:creationId xmlns:a16="http://schemas.microsoft.com/office/drawing/2014/main" id="{84575796-69AE-B7EE-5781-CD426FBA5504}"/>
              </a:ext>
            </a:extLst>
          </p:cNvPr>
          <p:cNvSpPr/>
          <p:nvPr/>
        </p:nvSpPr>
        <p:spPr>
          <a:xfrm>
            <a:off x="571500" y="1014413"/>
            <a:ext cx="8001000" cy="28500"/>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8;g3e7d7471223_0_25">
            <a:extLst>
              <a:ext uri="{FF2B5EF4-FFF2-40B4-BE49-F238E27FC236}">
                <a16:creationId xmlns:a16="http://schemas.microsoft.com/office/drawing/2014/main" id="{1FFF86D3-9121-340A-80C0-686BDB753D7B}"/>
              </a:ext>
            </a:extLst>
          </p:cNvPr>
          <p:cNvSpPr/>
          <p:nvPr/>
        </p:nvSpPr>
        <p:spPr>
          <a:xfrm>
            <a:off x="571500" y="428625"/>
            <a:ext cx="8001000" cy="614400"/>
          </a:xfrm>
          <a:prstGeom prst="rect">
            <a:avLst/>
          </a:prstGeom>
          <a:noFill/>
          <a:ln>
            <a:noFill/>
          </a:ln>
        </p:spPr>
        <p:txBody>
          <a:bodyPr spcFirstLastPara="1" wrap="square" lIns="0" tIns="0" rIns="0" bIns="85075" anchor="t" anchorCtr="0">
            <a:no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Urban Biodiversity Monitoring Barriers</a:t>
            </a:r>
            <a:endParaRPr sz="2450" b="0" i="0" u="none" strike="noStrike" cap="none">
              <a:solidFill>
                <a:schemeClr val="dk1"/>
              </a:solidFill>
              <a:latin typeface="Calibri"/>
              <a:ea typeface="Calibri"/>
              <a:cs typeface="Calibri"/>
              <a:sym typeface="Calibri"/>
            </a:endParaRPr>
          </a:p>
        </p:txBody>
      </p:sp>
      <p:sp>
        <p:nvSpPr>
          <p:cNvPr id="9" name="Google Shape;39;g3e7d7471223_0_25">
            <a:extLst>
              <a:ext uri="{FF2B5EF4-FFF2-40B4-BE49-F238E27FC236}">
                <a16:creationId xmlns:a16="http://schemas.microsoft.com/office/drawing/2014/main" id="{2BE93353-9EA0-1612-F783-AE90F85D01C0}"/>
              </a:ext>
            </a:extLst>
          </p:cNvPr>
          <p:cNvSpPr/>
          <p:nvPr/>
        </p:nvSpPr>
        <p:spPr>
          <a:xfrm>
            <a:off x="636155" y="2296655"/>
            <a:ext cx="4130400" cy="720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2C3E50"/>
              </a:buClr>
              <a:buSzPts val="1200"/>
              <a:buFont typeface="Inter SemiBold"/>
              <a:buNone/>
            </a:pPr>
            <a:r>
              <a:rPr lang="en-US" sz="1200" b="0" i="0" u="none" strike="noStrike" cap="none">
                <a:solidFill>
                  <a:srgbClr val="2C3E50"/>
                </a:solidFill>
                <a:latin typeface="Inter SemiBold"/>
                <a:ea typeface="Inter SemiBold"/>
                <a:cs typeface="Inter SemiBold"/>
                <a:sym typeface="Inter SemiBold"/>
              </a:rPr>
              <a:t>Effective citizen science in Singapore is hindered by a critical gap between ecological vision and technical accessibility.</a:t>
            </a:r>
            <a:endParaRPr sz="1200" b="0" i="0" u="none" strike="noStrike" cap="none">
              <a:solidFill>
                <a:schemeClr val="dk1"/>
              </a:solidFill>
              <a:latin typeface="Calibri"/>
              <a:ea typeface="Calibri"/>
              <a:cs typeface="Calibri"/>
              <a:sym typeface="Calibri"/>
            </a:endParaRPr>
          </a:p>
        </p:txBody>
      </p:sp>
      <p:pic>
        <p:nvPicPr>
          <p:cNvPr id="10" name="Google Shape;40;g3e7d7471223_0_25" descr="preencoded.png">
            <a:extLst>
              <a:ext uri="{FF2B5EF4-FFF2-40B4-BE49-F238E27FC236}">
                <a16:creationId xmlns:a16="http://schemas.microsoft.com/office/drawing/2014/main" id="{B6D94AAD-4547-E426-5037-EFB75E50F5D7}"/>
              </a:ext>
            </a:extLst>
          </p:cNvPr>
          <p:cNvPicPr preferRelativeResize="0"/>
          <p:nvPr/>
        </p:nvPicPr>
        <p:blipFill rotWithShape="1">
          <a:blip r:embed="rId3">
            <a:alphaModFix/>
          </a:blip>
          <a:srcRect/>
          <a:stretch/>
        </p:blipFill>
        <p:spPr>
          <a:xfrm>
            <a:off x="636155" y="2989762"/>
            <a:ext cx="171450" cy="171450"/>
          </a:xfrm>
          <a:prstGeom prst="rect">
            <a:avLst/>
          </a:prstGeom>
          <a:noFill/>
          <a:ln>
            <a:noFill/>
          </a:ln>
        </p:spPr>
      </p:pic>
      <p:sp>
        <p:nvSpPr>
          <p:cNvPr id="11" name="Google Shape;41;g3e7d7471223_0_25">
            <a:extLst>
              <a:ext uri="{FF2B5EF4-FFF2-40B4-BE49-F238E27FC236}">
                <a16:creationId xmlns:a16="http://schemas.microsoft.com/office/drawing/2014/main" id="{3914FD85-61BE-4F44-BAE6-B55C54CADF6C}"/>
              </a:ext>
            </a:extLst>
          </p:cNvPr>
          <p:cNvSpPr/>
          <p:nvPr/>
        </p:nvSpPr>
        <p:spPr>
          <a:xfrm>
            <a:off x="914761" y="2920111"/>
            <a:ext cx="3851700" cy="57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C3E50"/>
              </a:buClr>
              <a:buSzPts val="900"/>
              <a:buFont typeface="Inter"/>
              <a:buNone/>
            </a:pPr>
            <a:r>
              <a:rPr lang="en-US" sz="1200" b="1" i="0" u="none" strike="noStrike" cap="none" dirty="0">
                <a:solidFill>
                  <a:srgbClr val="2C3E50"/>
                </a:solidFill>
                <a:latin typeface="Inter"/>
                <a:ea typeface="Inter"/>
                <a:cs typeface="Inter"/>
                <a:sym typeface="Inter"/>
              </a:rPr>
              <a:t>Identification Barrier:</a:t>
            </a:r>
            <a:r>
              <a:rPr lang="en-US" sz="1200" b="0" i="0" u="none" strike="noStrike" cap="none" dirty="0">
                <a:solidFill>
                  <a:srgbClr val="2C3E50"/>
                </a:solidFill>
                <a:latin typeface="Inter"/>
                <a:ea typeface="Inter"/>
                <a:cs typeface="Inter"/>
                <a:sym typeface="Inter"/>
              </a:rPr>
              <a:t> Non-experts struggle with acoustic recognition. </a:t>
            </a:r>
            <a:endParaRPr sz="1200" b="0" i="0" u="none" strike="noStrike" cap="none" dirty="0">
              <a:solidFill>
                <a:schemeClr val="dk1"/>
              </a:solidFill>
              <a:latin typeface="Calibri"/>
              <a:ea typeface="Calibri"/>
              <a:cs typeface="Calibri"/>
              <a:sym typeface="Calibri"/>
            </a:endParaRPr>
          </a:p>
        </p:txBody>
      </p:sp>
      <p:pic>
        <p:nvPicPr>
          <p:cNvPr id="12" name="Google Shape;42;g3e7d7471223_0_25" descr="preencoded.png">
            <a:extLst>
              <a:ext uri="{FF2B5EF4-FFF2-40B4-BE49-F238E27FC236}">
                <a16:creationId xmlns:a16="http://schemas.microsoft.com/office/drawing/2014/main" id="{CADD13EA-D254-B282-5B17-8253E51FE57A}"/>
              </a:ext>
            </a:extLst>
          </p:cNvPr>
          <p:cNvPicPr preferRelativeResize="0"/>
          <p:nvPr/>
        </p:nvPicPr>
        <p:blipFill rotWithShape="1">
          <a:blip r:embed="rId4">
            <a:alphaModFix/>
          </a:blip>
          <a:srcRect/>
          <a:stretch/>
        </p:blipFill>
        <p:spPr>
          <a:xfrm>
            <a:off x="636155" y="3739856"/>
            <a:ext cx="192881" cy="171450"/>
          </a:xfrm>
          <a:prstGeom prst="rect">
            <a:avLst/>
          </a:prstGeom>
          <a:noFill/>
          <a:ln>
            <a:noFill/>
          </a:ln>
        </p:spPr>
      </p:pic>
      <p:sp>
        <p:nvSpPr>
          <p:cNvPr id="13" name="Google Shape;43;g3e7d7471223_0_25">
            <a:extLst>
              <a:ext uri="{FF2B5EF4-FFF2-40B4-BE49-F238E27FC236}">
                <a16:creationId xmlns:a16="http://schemas.microsoft.com/office/drawing/2014/main" id="{65896702-51D1-3266-A2EC-243777A5DC32}"/>
              </a:ext>
            </a:extLst>
          </p:cNvPr>
          <p:cNvSpPr/>
          <p:nvPr/>
        </p:nvSpPr>
        <p:spPr>
          <a:xfrm>
            <a:off x="936193" y="3670205"/>
            <a:ext cx="3830400" cy="57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C3E50"/>
              </a:buClr>
              <a:buSzPts val="900"/>
              <a:buFont typeface="Inter"/>
              <a:buNone/>
            </a:pPr>
            <a:r>
              <a:rPr lang="en-US" sz="1200" b="1" i="0" u="none" strike="noStrike" cap="none" dirty="0">
                <a:solidFill>
                  <a:srgbClr val="2C3E50"/>
                </a:solidFill>
                <a:latin typeface="Inter"/>
                <a:ea typeface="Inter"/>
                <a:cs typeface="Inter"/>
                <a:sym typeface="Inter"/>
              </a:rPr>
              <a:t>Knowledge Gap:</a:t>
            </a:r>
            <a:r>
              <a:rPr lang="en-US" sz="1200" b="0" i="0" u="none" strike="noStrike" cap="none" dirty="0">
                <a:solidFill>
                  <a:srgbClr val="2C3E50"/>
                </a:solidFill>
                <a:latin typeface="Inter"/>
                <a:ea typeface="Inter"/>
                <a:cs typeface="Inter"/>
                <a:sym typeface="Inter"/>
              </a:rPr>
              <a:t> Authoritative ecological data is often siloed in static reports, lacking the interactive accessibility needed for public education.</a:t>
            </a:r>
            <a:endParaRPr sz="1200" b="0" i="0" u="none" strike="noStrike" cap="none" dirty="0">
              <a:solidFill>
                <a:schemeClr val="dk1"/>
              </a:solidFill>
              <a:latin typeface="Calibri"/>
              <a:ea typeface="Calibri"/>
              <a:cs typeface="Calibri"/>
              <a:sym typeface="Calibri"/>
            </a:endParaRPr>
          </a:p>
        </p:txBody>
      </p:sp>
      <p:pic>
        <p:nvPicPr>
          <p:cNvPr id="28" name="Picture 27" descr="Birdwatching at Jurong Lake Garden - Singapore Geographic">
            <a:extLst>
              <a:ext uri="{FF2B5EF4-FFF2-40B4-BE49-F238E27FC236}">
                <a16:creationId xmlns:a16="http://schemas.microsoft.com/office/drawing/2014/main" id="{4217B1C6-03C9-1BE4-7AD2-4EE570D3B7AC}"/>
              </a:ext>
            </a:extLst>
          </p:cNvPr>
          <p:cNvPicPr>
            <a:picLocks noChangeAspect="1"/>
          </p:cNvPicPr>
          <p:nvPr/>
        </p:nvPicPr>
        <p:blipFill>
          <a:blip r:embed="rId5"/>
          <a:stretch>
            <a:fillRect/>
          </a:stretch>
        </p:blipFill>
        <p:spPr>
          <a:xfrm>
            <a:off x="5084408" y="1511015"/>
            <a:ext cx="3488092" cy="2325395"/>
          </a:xfrm>
          <a:prstGeom prst="rect">
            <a:avLst/>
          </a:prstGeom>
        </p:spPr>
      </p:pic>
      <p:pic>
        <p:nvPicPr>
          <p:cNvPr id="29" name="Google Shape;46;g3e7d7471223_0_25" descr="preencoded.png">
            <a:extLst>
              <a:ext uri="{FF2B5EF4-FFF2-40B4-BE49-F238E27FC236}">
                <a16:creationId xmlns:a16="http://schemas.microsoft.com/office/drawing/2014/main" id="{6BA41795-D945-739C-4DE0-A546401989EE}"/>
              </a:ext>
            </a:extLst>
          </p:cNvPr>
          <p:cNvPicPr preferRelativeResize="0"/>
          <p:nvPr/>
        </p:nvPicPr>
        <p:blipFill rotWithShape="1">
          <a:blip r:embed="rId6">
            <a:alphaModFix/>
          </a:blip>
          <a:srcRect/>
          <a:stretch/>
        </p:blipFill>
        <p:spPr>
          <a:xfrm>
            <a:off x="571500" y="1468905"/>
            <a:ext cx="171450" cy="171450"/>
          </a:xfrm>
          <a:prstGeom prst="rect">
            <a:avLst/>
          </a:prstGeom>
          <a:noFill/>
          <a:ln>
            <a:noFill/>
          </a:ln>
        </p:spPr>
      </p:pic>
      <p:sp>
        <p:nvSpPr>
          <p:cNvPr id="30" name="Google Shape;47;g3e7d7471223_0_25">
            <a:extLst>
              <a:ext uri="{FF2B5EF4-FFF2-40B4-BE49-F238E27FC236}">
                <a16:creationId xmlns:a16="http://schemas.microsoft.com/office/drawing/2014/main" id="{6AAD6B88-ADB6-4D50-5731-C8DEF806C6E4}"/>
              </a:ext>
            </a:extLst>
          </p:cNvPr>
          <p:cNvSpPr/>
          <p:nvPr/>
        </p:nvSpPr>
        <p:spPr>
          <a:xfrm>
            <a:off x="850106" y="1399254"/>
            <a:ext cx="3163500" cy="57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C3E50"/>
              </a:buClr>
              <a:buSzPts val="900"/>
              <a:buFont typeface="Inter"/>
              <a:buNone/>
            </a:pPr>
            <a:r>
              <a:rPr lang="en-US" sz="1200" b="1" i="0" u="none" strike="noStrike" cap="none" dirty="0">
                <a:solidFill>
                  <a:srgbClr val="2C3E50"/>
                </a:solidFill>
                <a:latin typeface="Inter"/>
                <a:ea typeface="Inter"/>
                <a:cs typeface="Inter"/>
                <a:sym typeface="Inter"/>
              </a:rPr>
              <a:t>Context:</a:t>
            </a:r>
            <a:r>
              <a:rPr lang="en-US" sz="1200" b="0" i="0" u="none" strike="noStrike" cap="none" dirty="0">
                <a:solidFill>
                  <a:srgbClr val="2C3E50"/>
                </a:solidFill>
                <a:latin typeface="Inter"/>
                <a:ea typeface="Inter"/>
                <a:cs typeface="Inter"/>
                <a:sym typeface="Inter"/>
              </a:rPr>
              <a:t> Singapore's "City in Nature" vision taps on </a:t>
            </a:r>
            <a:r>
              <a:rPr lang="en-US" sz="1200" b="0" i="0" u="none" strike="noStrike" cap="none" dirty="0" err="1">
                <a:solidFill>
                  <a:srgbClr val="2C3E50"/>
                </a:solidFill>
                <a:latin typeface="Inter"/>
                <a:ea typeface="Inter"/>
                <a:cs typeface="Inter"/>
                <a:sym typeface="Inter"/>
              </a:rPr>
              <a:t>programmes</a:t>
            </a:r>
            <a:r>
              <a:rPr lang="en-US" sz="1200" b="0" i="0" u="none" strike="noStrike" cap="none" dirty="0">
                <a:solidFill>
                  <a:srgbClr val="2C3E50"/>
                </a:solidFill>
                <a:latin typeface="Inter"/>
                <a:ea typeface="Inter"/>
                <a:cs typeface="Inter"/>
                <a:sym typeface="Inter"/>
              </a:rPr>
              <a:t> like </a:t>
            </a:r>
            <a:r>
              <a:rPr lang="en-US" sz="1200" b="0" i="0" u="none" strike="noStrike" cap="none" dirty="0" err="1">
                <a:solidFill>
                  <a:srgbClr val="2C3E50"/>
                </a:solidFill>
                <a:latin typeface="Inter"/>
                <a:ea typeface="Inter"/>
                <a:cs typeface="Inter"/>
                <a:sym typeface="Inter"/>
              </a:rPr>
              <a:t>NParks</a:t>
            </a:r>
            <a:r>
              <a:rPr lang="en-US" sz="1200" b="0" i="0" u="none" strike="noStrike" cap="none" dirty="0">
                <a:solidFill>
                  <a:srgbClr val="2C3E50"/>
                </a:solidFill>
                <a:latin typeface="Inter"/>
                <a:ea typeface="Inter"/>
                <a:cs typeface="Inter"/>
                <a:sym typeface="Inter"/>
              </a:rPr>
              <a:t> Garden Bird Watch for large-scale data.</a:t>
            </a:r>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0405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6036BE-BC5C-8967-F3FC-E9CC57A48A08}"/>
              </a:ext>
            </a:extLst>
          </p:cNvPr>
          <p:cNvSpPr>
            <a:spLocks noGrp="1"/>
          </p:cNvSpPr>
          <p:nvPr>
            <p:ph type="ftr" sz="quarter" idx="11"/>
          </p:nvPr>
        </p:nvSpPr>
        <p:spPr/>
        <p:txBody>
          <a:bodyPr/>
          <a:lstStyle/>
          <a:p>
            <a:r>
              <a:rPr lang="en-US" sz="900"/>
              <a:t>College of Computing and Data Science</a:t>
            </a:r>
            <a:endParaRPr lang="en-US" sz="900" dirty="0"/>
          </a:p>
        </p:txBody>
      </p:sp>
      <p:pic>
        <p:nvPicPr>
          <p:cNvPr id="5" name="Google Shape;48;g3e7d7471223_0_25" descr="preencoded.png">
            <a:extLst>
              <a:ext uri="{FF2B5EF4-FFF2-40B4-BE49-F238E27FC236}">
                <a16:creationId xmlns:a16="http://schemas.microsoft.com/office/drawing/2014/main" id="{91E22BCC-9E76-7FEE-2E99-E4941FACCBD4}"/>
              </a:ext>
            </a:extLst>
          </p:cNvPr>
          <p:cNvPicPr preferRelativeResize="0"/>
          <p:nvPr/>
        </p:nvPicPr>
        <p:blipFill rotWithShape="1">
          <a:blip r:embed="rId3">
            <a:alphaModFix/>
          </a:blip>
          <a:srcRect/>
          <a:stretch/>
        </p:blipFill>
        <p:spPr>
          <a:xfrm>
            <a:off x="4447862" y="3053046"/>
            <a:ext cx="214313" cy="171450"/>
          </a:xfrm>
          <a:prstGeom prst="rect">
            <a:avLst/>
          </a:prstGeom>
          <a:noFill/>
          <a:ln>
            <a:noFill/>
          </a:ln>
        </p:spPr>
      </p:pic>
      <p:sp>
        <p:nvSpPr>
          <p:cNvPr id="6" name="Google Shape;49;g3e7d7471223_0_25">
            <a:extLst>
              <a:ext uri="{FF2B5EF4-FFF2-40B4-BE49-F238E27FC236}">
                <a16:creationId xmlns:a16="http://schemas.microsoft.com/office/drawing/2014/main" id="{B5DE1131-8B73-7A8A-0071-58A17213B92A}"/>
              </a:ext>
            </a:extLst>
          </p:cNvPr>
          <p:cNvSpPr/>
          <p:nvPr/>
        </p:nvSpPr>
        <p:spPr>
          <a:xfrm>
            <a:off x="4738384" y="3004068"/>
            <a:ext cx="3120600" cy="57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C3E50"/>
              </a:buClr>
              <a:buSzPts val="900"/>
              <a:buFont typeface="Inter"/>
              <a:buNone/>
            </a:pPr>
            <a:r>
              <a:rPr lang="en-US" sz="1400" b="1" i="0" u="none" strike="noStrike" cap="none" dirty="0">
                <a:solidFill>
                  <a:srgbClr val="2C3E50"/>
                </a:solidFill>
                <a:latin typeface="Inter"/>
                <a:ea typeface="Inter"/>
                <a:cs typeface="Inter"/>
                <a:sym typeface="Inter"/>
              </a:rPr>
              <a:t>Audience:</a:t>
            </a:r>
            <a:r>
              <a:rPr lang="en-US" sz="1400" b="0" i="0" u="none" strike="noStrike" cap="none" dirty="0">
                <a:solidFill>
                  <a:srgbClr val="2C3E50"/>
                </a:solidFill>
                <a:latin typeface="Inter"/>
                <a:ea typeface="Inter"/>
                <a:cs typeface="Inter"/>
                <a:sym typeface="Inter"/>
              </a:rPr>
              <a:t> Citizen scientists who require both identification tools and contextual learning to remain engaged.</a:t>
            </a:r>
            <a:endParaRPr sz="1400" b="0" i="0" u="none" strike="noStrike" cap="none" dirty="0">
              <a:solidFill>
                <a:schemeClr val="dk1"/>
              </a:solidFill>
              <a:latin typeface="Calibri"/>
              <a:ea typeface="Calibri"/>
              <a:cs typeface="Calibri"/>
              <a:sym typeface="Calibri"/>
            </a:endParaRPr>
          </a:p>
        </p:txBody>
      </p:sp>
      <p:sp>
        <p:nvSpPr>
          <p:cNvPr id="10" name="Google Shape;53;g3e7d7471223_0_25">
            <a:extLst>
              <a:ext uri="{FF2B5EF4-FFF2-40B4-BE49-F238E27FC236}">
                <a16:creationId xmlns:a16="http://schemas.microsoft.com/office/drawing/2014/main" id="{F1C51414-5B95-5B66-B160-338534D3F939}"/>
              </a:ext>
            </a:extLst>
          </p:cNvPr>
          <p:cNvSpPr/>
          <p:nvPr/>
        </p:nvSpPr>
        <p:spPr>
          <a:xfrm>
            <a:off x="4675309" y="3384351"/>
            <a:ext cx="3000300" cy="173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050"/>
              <a:buFont typeface="Inter"/>
              <a:buNone/>
            </a:pPr>
            <a:r>
              <a:rPr lang="en-US" sz="1050" b="0" i="0" u="none" strike="noStrike" cap="none" dirty="0">
                <a:solidFill>
                  <a:srgbClr val="FFFFFF"/>
                </a:solidFill>
                <a:latin typeface="Inter"/>
                <a:ea typeface="Inter"/>
                <a:cs typeface="Inter"/>
                <a:sym typeface="Inter"/>
              </a:rPr>
              <a:t>"Regional fine-tuning and grounded retrieval</a:t>
            </a:r>
            <a:endParaRPr sz="1050" b="0" i="0" u="none" strike="noStrike" cap="none" dirty="0">
              <a:solidFill>
                <a:schemeClr val="dk1"/>
              </a:solidFill>
              <a:latin typeface="Calibri"/>
              <a:ea typeface="Calibri"/>
              <a:cs typeface="Calibri"/>
              <a:sym typeface="Calibri"/>
            </a:endParaRPr>
          </a:p>
        </p:txBody>
      </p:sp>
      <p:sp>
        <p:nvSpPr>
          <p:cNvPr id="13" name="Google Shape;36;g3e7d7471223_0_25">
            <a:extLst>
              <a:ext uri="{FF2B5EF4-FFF2-40B4-BE49-F238E27FC236}">
                <a16:creationId xmlns:a16="http://schemas.microsoft.com/office/drawing/2014/main" id="{6C942375-C67C-2E13-9110-23A749039D23}"/>
              </a:ext>
            </a:extLst>
          </p:cNvPr>
          <p:cNvSpPr/>
          <p:nvPr/>
        </p:nvSpPr>
        <p:spPr>
          <a:xfrm>
            <a:off x="571500" y="428625"/>
            <a:ext cx="8001000" cy="6144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g3e7d7471223_0_25">
            <a:extLst>
              <a:ext uri="{FF2B5EF4-FFF2-40B4-BE49-F238E27FC236}">
                <a16:creationId xmlns:a16="http://schemas.microsoft.com/office/drawing/2014/main" id="{E2ACD879-0C3B-AA03-7B27-4208D7F4E7E2}"/>
              </a:ext>
            </a:extLst>
          </p:cNvPr>
          <p:cNvSpPr/>
          <p:nvPr/>
        </p:nvSpPr>
        <p:spPr>
          <a:xfrm>
            <a:off x="571500" y="1014413"/>
            <a:ext cx="8001000" cy="28500"/>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8;g3e7d7471223_0_25">
            <a:extLst>
              <a:ext uri="{FF2B5EF4-FFF2-40B4-BE49-F238E27FC236}">
                <a16:creationId xmlns:a16="http://schemas.microsoft.com/office/drawing/2014/main" id="{64C0FED9-F7ED-8EED-ADD2-FED65A3AFF41}"/>
              </a:ext>
            </a:extLst>
          </p:cNvPr>
          <p:cNvSpPr/>
          <p:nvPr/>
        </p:nvSpPr>
        <p:spPr>
          <a:xfrm>
            <a:off x="571500" y="428625"/>
            <a:ext cx="8001000" cy="614400"/>
          </a:xfrm>
          <a:prstGeom prst="rect">
            <a:avLst/>
          </a:prstGeom>
          <a:noFill/>
          <a:ln>
            <a:noFill/>
          </a:ln>
        </p:spPr>
        <p:txBody>
          <a:bodyPr spcFirstLastPara="1" wrap="square" lIns="0" tIns="0" rIns="0" bIns="85075" anchor="t" anchorCtr="0">
            <a:no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Urban Biodiversity Monitoring Barriers</a:t>
            </a:r>
            <a:endParaRPr sz="2450" b="0" i="0" u="none" strike="noStrike" cap="none">
              <a:solidFill>
                <a:schemeClr val="dk1"/>
              </a:solidFill>
              <a:latin typeface="Calibri"/>
              <a:ea typeface="Calibri"/>
              <a:cs typeface="Calibri"/>
              <a:sym typeface="Calibri"/>
            </a:endParaRPr>
          </a:p>
        </p:txBody>
      </p:sp>
      <p:pic>
        <p:nvPicPr>
          <p:cNvPr id="20" name="Google Shape;44;g3e7d7471223_0_25" descr="preencoded.png">
            <a:extLst>
              <a:ext uri="{FF2B5EF4-FFF2-40B4-BE49-F238E27FC236}">
                <a16:creationId xmlns:a16="http://schemas.microsoft.com/office/drawing/2014/main" id="{ABDADB63-670F-E535-9525-BA1613CD5611}"/>
              </a:ext>
            </a:extLst>
          </p:cNvPr>
          <p:cNvPicPr preferRelativeResize="0"/>
          <p:nvPr/>
        </p:nvPicPr>
        <p:blipFill rotWithShape="1">
          <a:blip r:embed="rId4">
            <a:alphaModFix/>
          </a:blip>
          <a:srcRect/>
          <a:stretch/>
        </p:blipFill>
        <p:spPr>
          <a:xfrm>
            <a:off x="4496715" y="1874263"/>
            <a:ext cx="146011" cy="171450"/>
          </a:xfrm>
          <a:prstGeom prst="rect">
            <a:avLst/>
          </a:prstGeom>
          <a:noFill/>
          <a:ln>
            <a:noFill/>
          </a:ln>
        </p:spPr>
      </p:pic>
      <p:sp>
        <p:nvSpPr>
          <p:cNvPr id="21" name="Google Shape;45;g3e7d7471223_0_25">
            <a:extLst>
              <a:ext uri="{FF2B5EF4-FFF2-40B4-BE49-F238E27FC236}">
                <a16:creationId xmlns:a16="http://schemas.microsoft.com/office/drawing/2014/main" id="{103B3891-88D3-1A5E-5D48-44079297ED7C}"/>
              </a:ext>
            </a:extLst>
          </p:cNvPr>
          <p:cNvSpPr/>
          <p:nvPr/>
        </p:nvSpPr>
        <p:spPr>
          <a:xfrm>
            <a:off x="4738384" y="1803653"/>
            <a:ext cx="3280200" cy="57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C3E50"/>
              </a:buClr>
              <a:buSzPts val="900"/>
              <a:buFont typeface="Inter"/>
              <a:buNone/>
            </a:pPr>
            <a:r>
              <a:rPr lang="en-US" sz="1400" b="1" i="0" u="none" strike="noStrike" cap="none" dirty="0">
                <a:solidFill>
                  <a:srgbClr val="2C3E50"/>
                </a:solidFill>
                <a:latin typeface="Inter"/>
                <a:ea typeface="Inter"/>
                <a:cs typeface="Inter"/>
                <a:sym typeface="Inter"/>
              </a:rPr>
              <a:t>Project Goal:</a:t>
            </a:r>
            <a:r>
              <a:rPr lang="en-US" sz="1400" b="0" i="0" u="none" strike="noStrike" cap="none" dirty="0">
                <a:solidFill>
                  <a:srgbClr val="2C3E50"/>
                </a:solidFill>
                <a:latin typeface="Inter"/>
                <a:ea typeface="Inter"/>
                <a:cs typeface="Inter"/>
                <a:sym typeface="Inter"/>
              </a:rPr>
              <a:t> Develop reusable AI components to bridge these gaps through regional model adaptation and RAG-based assistance.</a:t>
            </a:r>
            <a:endParaRPr sz="1400" b="0" i="0" u="none" strike="noStrike" cap="none" dirty="0">
              <a:solidFill>
                <a:schemeClr val="dk1"/>
              </a:solidFill>
              <a:latin typeface="Calibri"/>
              <a:ea typeface="Calibri"/>
              <a:cs typeface="Calibri"/>
              <a:sym typeface="Calibri"/>
            </a:endParaRPr>
          </a:p>
        </p:txBody>
      </p:sp>
      <p:pic>
        <p:nvPicPr>
          <p:cNvPr id="22" name="Picture 21" descr="Man in Jurong West picks up owl rarely seen in S'pore thinking it was dead,  turns out it was asleep - Mothership.SG - News from Singapore, Asia and  around the world">
            <a:extLst>
              <a:ext uri="{FF2B5EF4-FFF2-40B4-BE49-F238E27FC236}">
                <a16:creationId xmlns:a16="http://schemas.microsoft.com/office/drawing/2014/main" id="{838467FE-D41E-A3F2-98CE-59A7EE6A8FB5}"/>
              </a:ext>
            </a:extLst>
          </p:cNvPr>
          <p:cNvPicPr>
            <a:picLocks noChangeAspect="1"/>
          </p:cNvPicPr>
          <p:nvPr/>
        </p:nvPicPr>
        <p:blipFill>
          <a:blip r:embed="rId5"/>
          <a:stretch>
            <a:fillRect/>
          </a:stretch>
        </p:blipFill>
        <p:spPr>
          <a:xfrm>
            <a:off x="731100" y="1088149"/>
            <a:ext cx="2804746" cy="3739662"/>
          </a:xfrm>
          <a:prstGeom prst="rect">
            <a:avLst/>
          </a:prstGeom>
        </p:spPr>
      </p:pic>
    </p:spTree>
    <p:extLst>
      <p:ext uri="{BB962C8B-B14F-4D97-AF65-F5344CB8AC3E}">
        <p14:creationId xmlns:p14="http://schemas.microsoft.com/office/powerpoint/2010/main" val="2646471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10827-DA7B-1B57-A1CC-A46593BCE8C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C27A93-79BC-991C-B7D6-9DE348D24112}"/>
              </a:ext>
            </a:extLst>
          </p:cNvPr>
          <p:cNvSpPr>
            <a:spLocks noGrp="1"/>
          </p:cNvSpPr>
          <p:nvPr>
            <p:ph type="ftr" sz="quarter" idx="11"/>
          </p:nvPr>
        </p:nvSpPr>
        <p:spPr/>
        <p:txBody>
          <a:bodyPr/>
          <a:lstStyle/>
          <a:p>
            <a:r>
              <a:rPr lang="en-US" sz="900"/>
              <a:t>College of Computing and Data Science</a:t>
            </a:r>
            <a:endParaRPr lang="en-US" sz="900" dirty="0"/>
          </a:p>
        </p:txBody>
      </p:sp>
      <p:pic>
        <p:nvPicPr>
          <p:cNvPr id="3" name="Picture 2" descr="Für draußen: So erkennt ihr Vogelstimmen mit dem iPhone!">
            <a:extLst>
              <a:ext uri="{FF2B5EF4-FFF2-40B4-BE49-F238E27FC236}">
                <a16:creationId xmlns:a16="http://schemas.microsoft.com/office/drawing/2014/main" id="{010C29C3-8D79-23CB-D1FF-30F94561626B}"/>
              </a:ext>
            </a:extLst>
          </p:cNvPr>
          <p:cNvPicPr>
            <a:picLocks noChangeAspect="1"/>
          </p:cNvPicPr>
          <p:nvPr/>
        </p:nvPicPr>
        <p:blipFill>
          <a:blip r:embed="rId3"/>
          <a:stretch>
            <a:fillRect/>
          </a:stretch>
        </p:blipFill>
        <p:spPr>
          <a:xfrm>
            <a:off x="399422" y="250398"/>
            <a:ext cx="3783086" cy="1986120"/>
          </a:xfrm>
          <a:prstGeom prst="rect">
            <a:avLst/>
          </a:prstGeom>
        </p:spPr>
      </p:pic>
      <p:pic>
        <p:nvPicPr>
          <p:cNvPr id="8" name="Picture 7" descr="How to use BirdNET - British Ornithologists' Union">
            <a:extLst>
              <a:ext uri="{FF2B5EF4-FFF2-40B4-BE49-F238E27FC236}">
                <a16:creationId xmlns:a16="http://schemas.microsoft.com/office/drawing/2014/main" id="{030678D3-425E-67B2-BDD9-727D69837F32}"/>
              </a:ext>
            </a:extLst>
          </p:cNvPr>
          <p:cNvPicPr>
            <a:picLocks noChangeAspect="1"/>
          </p:cNvPicPr>
          <p:nvPr/>
        </p:nvPicPr>
        <p:blipFill>
          <a:blip r:embed="rId4"/>
          <a:stretch>
            <a:fillRect/>
          </a:stretch>
        </p:blipFill>
        <p:spPr>
          <a:xfrm>
            <a:off x="258745" y="2432188"/>
            <a:ext cx="4494125" cy="1903124"/>
          </a:xfrm>
          <a:prstGeom prst="rect">
            <a:avLst/>
          </a:prstGeom>
        </p:spPr>
      </p:pic>
      <p:pic>
        <p:nvPicPr>
          <p:cNvPr id="11" name="Picture 10">
            <a:extLst>
              <a:ext uri="{FF2B5EF4-FFF2-40B4-BE49-F238E27FC236}">
                <a16:creationId xmlns:a16="http://schemas.microsoft.com/office/drawing/2014/main" id="{36C81835-7E92-DC00-281F-B6E06FA772FA}"/>
              </a:ext>
            </a:extLst>
          </p:cNvPr>
          <p:cNvPicPr>
            <a:picLocks noChangeAspect="1"/>
          </p:cNvPicPr>
          <p:nvPr/>
        </p:nvPicPr>
        <p:blipFill>
          <a:blip r:embed="rId5"/>
          <a:stretch>
            <a:fillRect/>
          </a:stretch>
        </p:blipFill>
        <p:spPr>
          <a:xfrm>
            <a:off x="4961494" y="455881"/>
            <a:ext cx="3471070" cy="3879431"/>
          </a:xfrm>
          <a:prstGeom prst="rect">
            <a:avLst/>
          </a:prstGeom>
        </p:spPr>
      </p:pic>
    </p:spTree>
    <p:extLst>
      <p:ext uri="{BB962C8B-B14F-4D97-AF65-F5344CB8AC3E}">
        <p14:creationId xmlns:p14="http://schemas.microsoft.com/office/powerpoint/2010/main" val="2396303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E2F1C-AABF-288C-E7F3-AD91CA1AE776}"/>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86;p3">
            <a:extLst>
              <a:ext uri="{FF2B5EF4-FFF2-40B4-BE49-F238E27FC236}">
                <a16:creationId xmlns:a16="http://schemas.microsoft.com/office/drawing/2014/main" id="{F4B8C040-BA61-8184-CF18-9C39CC94BD60}"/>
              </a:ext>
            </a:extLst>
          </p:cNvPr>
          <p:cNvSpPr/>
          <p:nvPr/>
        </p:nvSpPr>
        <p:spPr>
          <a:xfrm>
            <a:off x="571500" y="428625"/>
            <a:ext cx="8001000" cy="614363"/>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7;p3">
            <a:extLst>
              <a:ext uri="{FF2B5EF4-FFF2-40B4-BE49-F238E27FC236}">
                <a16:creationId xmlns:a16="http://schemas.microsoft.com/office/drawing/2014/main" id="{F5463B1B-AB4D-2516-5CA1-A68361F179E9}"/>
              </a:ext>
            </a:extLst>
          </p:cNvPr>
          <p:cNvSpPr/>
          <p:nvPr/>
        </p:nvSpPr>
        <p:spPr>
          <a:xfrm>
            <a:off x="571500" y="1014413"/>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8;p3">
            <a:extLst>
              <a:ext uri="{FF2B5EF4-FFF2-40B4-BE49-F238E27FC236}">
                <a16:creationId xmlns:a16="http://schemas.microsoft.com/office/drawing/2014/main" id="{E65B007C-34A0-9D29-B387-25BFDB0DEC1C}"/>
              </a:ext>
            </a:extLst>
          </p:cNvPr>
          <p:cNvSpPr/>
          <p:nvPr/>
        </p:nvSpPr>
        <p:spPr>
          <a:xfrm>
            <a:off x="571500" y="428625"/>
            <a:ext cx="8001000" cy="614363"/>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Global Models vs. Local Soundscapes</a:t>
            </a:r>
            <a:endParaRPr sz="2450" b="0" i="0" u="none" strike="noStrike" cap="none">
              <a:solidFill>
                <a:schemeClr val="dk1"/>
              </a:solidFill>
              <a:latin typeface="Calibri"/>
              <a:ea typeface="Calibri"/>
              <a:cs typeface="Calibri"/>
              <a:sym typeface="Calibri"/>
            </a:endParaRPr>
          </a:p>
        </p:txBody>
      </p:sp>
      <p:sp>
        <p:nvSpPr>
          <p:cNvPr id="6" name="Google Shape;89;p3">
            <a:extLst>
              <a:ext uri="{FF2B5EF4-FFF2-40B4-BE49-F238E27FC236}">
                <a16:creationId xmlns:a16="http://schemas.microsoft.com/office/drawing/2014/main" id="{559671FE-DF74-9B91-934F-2050F313FD7D}"/>
              </a:ext>
            </a:extLst>
          </p:cNvPr>
          <p:cNvSpPr/>
          <p:nvPr/>
        </p:nvSpPr>
        <p:spPr>
          <a:xfrm>
            <a:off x="571500" y="1228725"/>
            <a:ext cx="7200900" cy="4714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150"/>
              <a:buFont typeface="Inter"/>
              <a:buNone/>
            </a:pPr>
            <a:r>
              <a:rPr lang="en-US" sz="1150" b="0" i="0" u="none" strike="noStrike" cap="none">
                <a:solidFill>
                  <a:srgbClr val="2C3E50"/>
                </a:solidFill>
                <a:latin typeface="Inter"/>
                <a:ea typeface="Inter"/>
                <a:cs typeface="Inter"/>
                <a:sym typeface="Inter"/>
              </a:rPr>
              <a:t>Baseline BirdNET V2.4 achieves only </a:t>
            </a:r>
            <a:r>
              <a:rPr lang="en-US" sz="1100" b="1" i="0" u="none" strike="noStrike" cap="none">
                <a:solidFill>
                  <a:srgbClr val="2C3E50"/>
                </a:solidFill>
                <a:latin typeface="Inter"/>
                <a:ea typeface="Inter"/>
                <a:cs typeface="Inter"/>
                <a:sym typeface="Inter"/>
              </a:rPr>
              <a:t>32.1% accuracy</a:t>
            </a:r>
            <a:r>
              <a:rPr lang="en-US" sz="1150" b="0" i="0" u="none" strike="noStrike" cap="none">
                <a:solidFill>
                  <a:srgbClr val="2C3E50"/>
                </a:solidFill>
                <a:latin typeface="Inter"/>
                <a:ea typeface="Inter"/>
                <a:cs typeface="Inter"/>
                <a:sym typeface="Inter"/>
              </a:rPr>
              <a:t> on common Singapore garden birds, highlighting the critical need for regional adaptation.</a:t>
            </a:r>
            <a:endParaRPr sz="1150" b="0" i="0" u="none" strike="noStrike" cap="none">
              <a:solidFill>
                <a:schemeClr val="dk1"/>
              </a:solidFill>
              <a:latin typeface="Calibri"/>
              <a:ea typeface="Calibri"/>
              <a:cs typeface="Calibri"/>
              <a:sym typeface="Calibri"/>
            </a:endParaRPr>
          </a:p>
        </p:txBody>
      </p:sp>
      <p:sp>
        <p:nvSpPr>
          <p:cNvPr id="7" name="Google Shape;90;p3">
            <a:extLst>
              <a:ext uri="{FF2B5EF4-FFF2-40B4-BE49-F238E27FC236}">
                <a16:creationId xmlns:a16="http://schemas.microsoft.com/office/drawing/2014/main" id="{A96CBBF2-1D1A-DC48-35C5-ED8CB279EDF1}"/>
              </a:ext>
            </a:extLst>
          </p:cNvPr>
          <p:cNvSpPr/>
          <p:nvPr/>
        </p:nvSpPr>
        <p:spPr>
          <a:xfrm>
            <a:off x="571500" y="1985963"/>
            <a:ext cx="3893344" cy="1254426"/>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1;p3">
            <a:extLst>
              <a:ext uri="{FF2B5EF4-FFF2-40B4-BE49-F238E27FC236}">
                <a16:creationId xmlns:a16="http://schemas.microsoft.com/office/drawing/2014/main" id="{D99D8917-E49D-5960-E576-6D0633D6999B}"/>
              </a:ext>
            </a:extLst>
          </p:cNvPr>
          <p:cNvSpPr/>
          <p:nvPr/>
        </p:nvSpPr>
        <p:spPr>
          <a:xfrm>
            <a:off x="571500" y="1985963"/>
            <a:ext cx="3893344"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2;p3">
            <a:extLst>
              <a:ext uri="{FF2B5EF4-FFF2-40B4-BE49-F238E27FC236}">
                <a16:creationId xmlns:a16="http://schemas.microsoft.com/office/drawing/2014/main" id="{46ED2650-FBD1-CC7A-EB07-25BA9038123C}"/>
              </a:ext>
            </a:extLst>
          </p:cNvPr>
          <p:cNvSpPr/>
          <p:nvPr/>
        </p:nvSpPr>
        <p:spPr>
          <a:xfrm>
            <a:off x="750094" y="2164556"/>
            <a:ext cx="428625" cy="428625"/>
          </a:xfrm>
          <a:prstGeom prst="ellipse">
            <a:avLst/>
          </a:prstGeom>
          <a:solidFill>
            <a:srgbClr val="5DAD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 name="Google Shape;93;p3" descr="preencoded.png">
            <a:extLst>
              <a:ext uri="{FF2B5EF4-FFF2-40B4-BE49-F238E27FC236}">
                <a16:creationId xmlns:a16="http://schemas.microsoft.com/office/drawing/2014/main" id="{0D0C98AB-47EA-3AB7-57F6-263C718D73F8}"/>
              </a:ext>
            </a:extLst>
          </p:cNvPr>
          <p:cNvPicPr preferRelativeResize="0"/>
          <p:nvPr/>
        </p:nvPicPr>
        <p:blipFill rotWithShape="1">
          <a:blip r:embed="rId3">
            <a:alphaModFix/>
          </a:blip>
          <a:srcRect/>
          <a:stretch/>
        </p:blipFill>
        <p:spPr>
          <a:xfrm>
            <a:off x="864394" y="2278856"/>
            <a:ext cx="200025" cy="200025"/>
          </a:xfrm>
          <a:prstGeom prst="rect">
            <a:avLst/>
          </a:prstGeom>
          <a:noFill/>
          <a:ln>
            <a:noFill/>
          </a:ln>
        </p:spPr>
      </p:pic>
      <p:sp>
        <p:nvSpPr>
          <p:cNvPr id="11" name="Google Shape;94;p3">
            <a:extLst>
              <a:ext uri="{FF2B5EF4-FFF2-40B4-BE49-F238E27FC236}">
                <a16:creationId xmlns:a16="http://schemas.microsoft.com/office/drawing/2014/main" id="{955A8E27-7116-FF4B-B405-50F8FBF49B63}"/>
              </a:ext>
            </a:extLst>
          </p:cNvPr>
          <p:cNvSpPr/>
          <p:nvPr/>
        </p:nvSpPr>
        <p:spPr>
          <a:xfrm>
            <a:off x="1321594" y="2164556"/>
            <a:ext cx="2964656" cy="2571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1200"/>
              <a:buFont typeface="Inter"/>
              <a:buNone/>
            </a:pPr>
            <a:r>
              <a:rPr lang="en-US" sz="1200" b="1" i="0" u="none" strike="noStrike" cap="none">
                <a:solidFill>
                  <a:srgbClr val="E67E22"/>
                </a:solidFill>
                <a:latin typeface="Inter"/>
                <a:ea typeface="Inter"/>
                <a:cs typeface="Inter"/>
                <a:sym typeface="Inter"/>
              </a:rPr>
              <a:t>Domain Shift</a:t>
            </a:r>
            <a:endParaRPr sz="1200" b="0" i="0" u="none" strike="noStrike" cap="none">
              <a:solidFill>
                <a:schemeClr val="dk1"/>
              </a:solidFill>
              <a:latin typeface="Calibri"/>
              <a:ea typeface="Calibri"/>
              <a:cs typeface="Calibri"/>
              <a:sym typeface="Calibri"/>
            </a:endParaRPr>
          </a:p>
        </p:txBody>
      </p:sp>
      <p:sp>
        <p:nvSpPr>
          <p:cNvPr id="12" name="Google Shape;95;p3">
            <a:extLst>
              <a:ext uri="{FF2B5EF4-FFF2-40B4-BE49-F238E27FC236}">
                <a16:creationId xmlns:a16="http://schemas.microsoft.com/office/drawing/2014/main" id="{D703EDB2-FC02-3EFE-F356-9660B19681E0}"/>
              </a:ext>
            </a:extLst>
          </p:cNvPr>
          <p:cNvSpPr/>
          <p:nvPr/>
        </p:nvSpPr>
        <p:spPr>
          <a:xfrm>
            <a:off x="1321594" y="2493169"/>
            <a:ext cx="2964656" cy="49128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50"/>
              <a:buFont typeface="Inter"/>
              <a:buNone/>
            </a:pPr>
            <a:r>
              <a:rPr lang="en-US" sz="950" b="0" i="0" u="none" strike="noStrike" cap="none" dirty="0">
                <a:solidFill>
                  <a:srgbClr val="2C3E50"/>
                </a:solidFill>
                <a:latin typeface="Inter"/>
                <a:ea typeface="Inter"/>
                <a:cs typeface="Inter"/>
                <a:sym typeface="Inter"/>
              </a:rPr>
              <a:t>Global models are heavily biased toward </a:t>
            </a:r>
            <a:r>
              <a:rPr lang="en-US" sz="950" b="1" i="0" u="none" strike="noStrike" cap="none" dirty="0">
                <a:solidFill>
                  <a:srgbClr val="2C3E50"/>
                </a:solidFill>
                <a:latin typeface="Inter"/>
                <a:ea typeface="Inter"/>
                <a:cs typeface="Inter"/>
                <a:sym typeface="Inter"/>
              </a:rPr>
              <a:t>North American </a:t>
            </a:r>
            <a:r>
              <a:rPr lang="en-US" sz="950" b="0" i="0" u="none" strike="noStrike" cap="none" dirty="0">
                <a:solidFill>
                  <a:srgbClr val="2C3E50"/>
                </a:solidFill>
                <a:latin typeface="Inter"/>
                <a:ea typeface="Inter"/>
                <a:cs typeface="Inter"/>
                <a:sym typeface="Inter"/>
              </a:rPr>
              <a:t>and </a:t>
            </a:r>
            <a:r>
              <a:rPr lang="en-US" sz="950" b="1" i="0" u="none" strike="noStrike" cap="none" dirty="0">
                <a:solidFill>
                  <a:srgbClr val="2C3E50"/>
                </a:solidFill>
                <a:latin typeface="Inter"/>
                <a:ea typeface="Inter"/>
                <a:cs typeface="Inter"/>
                <a:sym typeface="Inter"/>
              </a:rPr>
              <a:t>European species</a:t>
            </a:r>
            <a:r>
              <a:rPr lang="en-US" sz="950" b="0" i="0" u="none" strike="noStrike" cap="none" dirty="0">
                <a:solidFill>
                  <a:srgbClr val="2C3E50"/>
                </a:solidFill>
                <a:latin typeface="Inter"/>
                <a:ea typeface="Inter"/>
                <a:cs typeface="Inter"/>
                <a:sym typeface="Inter"/>
              </a:rPr>
              <a:t>, leading to suboptimal performance in Southeast Asia.</a:t>
            </a:r>
            <a:endParaRPr sz="950" b="0" i="0" u="none" strike="noStrike" cap="none" dirty="0">
              <a:solidFill>
                <a:schemeClr val="dk1"/>
              </a:solidFill>
              <a:latin typeface="Calibri"/>
              <a:ea typeface="Calibri"/>
              <a:cs typeface="Calibri"/>
              <a:sym typeface="Calibri"/>
            </a:endParaRPr>
          </a:p>
        </p:txBody>
      </p:sp>
      <p:sp>
        <p:nvSpPr>
          <p:cNvPr id="13" name="Google Shape;96;p3">
            <a:extLst>
              <a:ext uri="{FF2B5EF4-FFF2-40B4-BE49-F238E27FC236}">
                <a16:creationId xmlns:a16="http://schemas.microsoft.com/office/drawing/2014/main" id="{FA107B67-059B-6CC5-B5A9-B056717F7BF4}"/>
              </a:ext>
            </a:extLst>
          </p:cNvPr>
          <p:cNvSpPr/>
          <p:nvPr/>
        </p:nvSpPr>
        <p:spPr>
          <a:xfrm>
            <a:off x="4649591" y="3428404"/>
            <a:ext cx="3893344" cy="1254426"/>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7;p3">
            <a:extLst>
              <a:ext uri="{FF2B5EF4-FFF2-40B4-BE49-F238E27FC236}">
                <a16:creationId xmlns:a16="http://schemas.microsoft.com/office/drawing/2014/main" id="{878FA57F-D472-5553-0DC8-820FFEC21FEB}"/>
              </a:ext>
            </a:extLst>
          </p:cNvPr>
          <p:cNvSpPr/>
          <p:nvPr/>
        </p:nvSpPr>
        <p:spPr>
          <a:xfrm>
            <a:off x="4649591" y="3428404"/>
            <a:ext cx="3893344"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8;p3">
            <a:extLst>
              <a:ext uri="{FF2B5EF4-FFF2-40B4-BE49-F238E27FC236}">
                <a16:creationId xmlns:a16="http://schemas.microsoft.com/office/drawing/2014/main" id="{D51BE65E-A673-C150-51AC-A0395D88DA7D}"/>
              </a:ext>
            </a:extLst>
          </p:cNvPr>
          <p:cNvSpPr/>
          <p:nvPr/>
        </p:nvSpPr>
        <p:spPr>
          <a:xfrm>
            <a:off x="4828185" y="3606997"/>
            <a:ext cx="428625" cy="428625"/>
          </a:xfrm>
          <a:prstGeom prst="ellipse">
            <a:avLst/>
          </a:prstGeom>
          <a:solidFill>
            <a:srgbClr val="5DAD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99;p3" descr="preencoded.png">
            <a:extLst>
              <a:ext uri="{FF2B5EF4-FFF2-40B4-BE49-F238E27FC236}">
                <a16:creationId xmlns:a16="http://schemas.microsoft.com/office/drawing/2014/main" id="{830399D5-78FC-F287-F20E-6865748C23CE}"/>
              </a:ext>
            </a:extLst>
          </p:cNvPr>
          <p:cNvPicPr preferRelativeResize="0"/>
          <p:nvPr/>
        </p:nvPicPr>
        <p:blipFill rotWithShape="1">
          <a:blip r:embed="rId4">
            <a:alphaModFix/>
          </a:blip>
          <a:srcRect/>
          <a:stretch/>
        </p:blipFill>
        <p:spPr>
          <a:xfrm>
            <a:off x="4942485" y="3721297"/>
            <a:ext cx="200025" cy="200025"/>
          </a:xfrm>
          <a:prstGeom prst="rect">
            <a:avLst/>
          </a:prstGeom>
          <a:noFill/>
          <a:ln>
            <a:noFill/>
          </a:ln>
        </p:spPr>
      </p:pic>
      <p:sp>
        <p:nvSpPr>
          <p:cNvPr id="17" name="Google Shape;100;p3">
            <a:extLst>
              <a:ext uri="{FF2B5EF4-FFF2-40B4-BE49-F238E27FC236}">
                <a16:creationId xmlns:a16="http://schemas.microsoft.com/office/drawing/2014/main" id="{6661FC01-42C3-A0C7-1A55-B0B7EFAC365C}"/>
              </a:ext>
            </a:extLst>
          </p:cNvPr>
          <p:cNvSpPr/>
          <p:nvPr/>
        </p:nvSpPr>
        <p:spPr>
          <a:xfrm>
            <a:off x="5399685" y="3606997"/>
            <a:ext cx="2964656" cy="2571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1200"/>
              <a:buFont typeface="Inter"/>
              <a:buNone/>
            </a:pPr>
            <a:r>
              <a:rPr lang="en-US" sz="1200" b="1" i="0" u="none" strike="noStrike" cap="none">
                <a:solidFill>
                  <a:srgbClr val="E67E22"/>
                </a:solidFill>
                <a:latin typeface="Inter"/>
                <a:ea typeface="Inter"/>
                <a:cs typeface="Inter"/>
                <a:sym typeface="Inter"/>
              </a:rPr>
              <a:t>Performance Gap</a:t>
            </a:r>
            <a:endParaRPr sz="1200" b="0" i="0" u="none" strike="noStrike" cap="none">
              <a:solidFill>
                <a:schemeClr val="dk1"/>
              </a:solidFill>
              <a:latin typeface="Calibri"/>
              <a:ea typeface="Calibri"/>
              <a:cs typeface="Calibri"/>
              <a:sym typeface="Calibri"/>
            </a:endParaRPr>
          </a:p>
        </p:txBody>
      </p:sp>
      <p:sp>
        <p:nvSpPr>
          <p:cNvPr id="18" name="Google Shape;101;p3">
            <a:extLst>
              <a:ext uri="{FF2B5EF4-FFF2-40B4-BE49-F238E27FC236}">
                <a16:creationId xmlns:a16="http://schemas.microsoft.com/office/drawing/2014/main" id="{8437690C-F011-E860-66EB-3BDD7E19D565}"/>
              </a:ext>
            </a:extLst>
          </p:cNvPr>
          <p:cNvSpPr/>
          <p:nvPr/>
        </p:nvSpPr>
        <p:spPr>
          <a:xfrm>
            <a:off x="5399685" y="3935610"/>
            <a:ext cx="2964656" cy="49128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50"/>
              <a:buFont typeface="Inter"/>
              <a:buNone/>
            </a:pPr>
            <a:r>
              <a:rPr lang="en-US" sz="950" b="1" i="0" u="none" strike="noStrike" cap="none" dirty="0">
                <a:solidFill>
                  <a:srgbClr val="2C3E50"/>
                </a:solidFill>
                <a:latin typeface="Inter"/>
                <a:ea typeface="Inter"/>
                <a:cs typeface="Inter"/>
                <a:sym typeface="Inter"/>
              </a:rPr>
              <a:t>37% </a:t>
            </a:r>
            <a:r>
              <a:rPr lang="en-US" sz="950" b="0" i="0" u="none" strike="noStrike" cap="none" dirty="0">
                <a:solidFill>
                  <a:srgbClr val="2C3E50"/>
                </a:solidFill>
                <a:latin typeface="Inter"/>
                <a:ea typeface="Inter"/>
                <a:cs typeface="Inter"/>
                <a:sym typeface="Inter"/>
              </a:rPr>
              <a:t>of target Singapore species (10/27) had a </a:t>
            </a:r>
            <a:r>
              <a:rPr lang="en-US" sz="900" b="1" i="0" u="none" strike="noStrike" cap="none" dirty="0">
                <a:solidFill>
                  <a:srgbClr val="2C3E50"/>
                </a:solidFill>
                <a:latin typeface="Inter"/>
                <a:ea typeface="Inter"/>
                <a:cs typeface="Inter"/>
                <a:sym typeface="Inter"/>
              </a:rPr>
              <a:t>0% recognition rate</a:t>
            </a:r>
            <a:r>
              <a:rPr lang="en-US" sz="950" b="0" i="0" u="none" strike="noStrike" cap="none" dirty="0">
                <a:solidFill>
                  <a:srgbClr val="2C3E50"/>
                </a:solidFill>
                <a:latin typeface="Inter"/>
                <a:ea typeface="Inter"/>
                <a:cs typeface="Inter"/>
                <a:sym typeface="Inter"/>
              </a:rPr>
              <a:t> in baseline tests, indicating complete failure for many local birds.</a:t>
            </a:r>
            <a:endParaRPr sz="950" b="0" i="0" u="none" strike="noStrike" cap="none" dirty="0">
              <a:solidFill>
                <a:schemeClr val="dk1"/>
              </a:solidFill>
              <a:latin typeface="Calibri"/>
              <a:ea typeface="Calibri"/>
              <a:cs typeface="Calibri"/>
              <a:sym typeface="Calibri"/>
            </a:endParaRPr>
          </a:p>
        </p:txBody>
      </p:sp>
      <p:sp>
        <p:nvSpPr>
          <p:cNvPr id="19" name="Google Shape;102;p3">
            <a:extLst>
              <a:ext uri="{FF2B5EF4-FFF2-40B4-BE49-F238E27FC236}">
                <a16:creationId xmlns:a16="http://schemas.microsoft.com/office/drawing/2014/main" id="{2857C878-BEB4-3D2F-1D6F-40DD2838F10B}"/>
              </a:ext>
            </a:extLst>
          </p:cNvPr>
          <p:cNvSpPr/>
          <p:nvPr/>
        </p:nvSpPr>
        <p:spPr>
          <a:xfrm>
            <a:off x="571500" y="3426126"/>
            <a:ext cx="3893344" cy="1254426"/>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3;p3">
            <a:extLst>
              <a:ext uri="{FF2B5EF4-FFF2-40B4-BE49-F238E27FC236}">
                <a16:creationId xmlns:a16="http://schemas.microsoft.com/office/drawing/2014/main" id="{95F001A2-8CBE-174E-C4EF-875CDE1054CA}"/>
              </a:ext>
            </a:extLst>
          </p:cNvPr>
          <p:cNvSpPr/>
          <p:nvPr/>
        </p:nvSpPr>
        <p:spPr>
          <a:xfrm>
            <a:off x="571500" y="3426126"/>
            <a:ext cx="3893344"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4;p3">
            <a:extLst>
              <a:ext uri="{FF2B5EF4-FFF2-40B4-BE49-F238E27FC236}">
                <a16:creationId xmlns:a16="http://schemas.microsoft.com/office/drawing/2014/main" id="{7AF2B4D4-1912-BD2C-640E-FC102081D3F7}"/>
              </a:ext>
            </a:extLst>
          </p:cNvPr>
          <p:cNvSpPr/>
          <p:nvPr/>
        </p:nvSpPr>
        <p:spPr>
          <a:xfrm>
            <a:off x="750094" y="3604720"/>
            <a:ext cx="428625" cy="428625"/>
          </a:xfrm>
          <a:prstGeom prst="ellipse">
            <a:avLst/>
          </a:prstGeom>
          <a:solidFill>
            <a:srgbClr val="5DAD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105;p3" descr="preencoded.png">
            <a:extLst>
              <a:ext uri="{FF2B5EF4-FFF2-40B4-BE49-F238E27FC236}">
                <a16:creationId xmlns:a16="http://schemas.microsoft.com/office/drawing/2014/main" id="{13D46326-2DCA-F005-45EE-4EF55640249E}"/>
              </a:ext>
            </a:extLst>
          </p:cNvPr>
          <p:cNvPicPr preferRelativeResize="0"/>
          <p:nvPr/>
        </p:nvPicPr>
        <p:blipFill rotWithShape="1">
          <a:blip r:embed="rId5">
            <a:alphaModFix/>
          </a:blip>
          <a:srcRect/>
          <a:stretch/>
        </p:blipFill>
        <p:spPr>
          <a:xfrm>
            <a:off x="864394" y="3719020"/>
            <a:ext cx="200025" cy="200025"/>
          </a:xfrm>
          <a:prstGeom prst="rect">
            <a:avLst/>
          </a:prstGeom>
          <a:noFill/>
          <a:ln>
            <a:noFill/>
          </a:ln>
        </p:spPr>
      </p:pic>
      <p:sp>
        <p:nvSpPr>
          <p:cNvPr id="23" name="Google Shape;106;p3">
            <a:extLst>
              <a:ext uri="{FF2B5EF4-FFF2-40B4-BE49-F238E27FC236}">
                <a16:creationId xmlns:a16="http://schemas.microsoft.com/office/drawing/2014/main" id="{43084901-CAD5-1B2A-F67A-6CB0F4EC26A6}"/>
              </a:ext>
            </a:extLst>
          </p:cNvPr>
          <p:cNvSpPr/>
          <p:nvPr/>
        </p:nvSpPr>
        <p:spPr>
          <a:xfrm>
            <a:off x="1321594" y="3604720"/>
            <a:ext cx="2964656" cy="2571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1200"/>
              <a:buFont typeface="Inter"/>
              <a:buNone/>
            </a:pPr>
            <a:r>
              <a:rPr lang="en-US" sz="1200" b="1" i="0" u="none" strike="noStrike" cap="none">
                <a:solidFill>
                  <a:srgbClr val="E67E22"/>
                </a:solidFill>
                <a:latin typeface="Inter"/>
                <a:ea typeface="Inter"/>
                <a:cs typeface="Inter"/>
                <a:sym typeface="Inter"/>
              </a:rPr>
              <a:t>No-Detection Rate</a:t>
            </a:r>
            <a:endParaRPr sz="1200" b="0" i="0" u="none" strike="noStrike" cap="none">
              <a:solidFill>
                <a:schemeClr val="dk1"/>
              </a:solidFill>
              <a:latin typeface="Calibri"/>
              <a:ea typeface="Calibri"/>
              <a:cs typeface="Calibri"/>
              <a:sym typeface="Calibri"/>
            </a:endParaRPr>
          </a:p>
        </p:txBody>
      </p:sp>
      <p:sp>
        <p:nvSpPr>
          <p:cNvPr id="24" name="Google Shape;107;p3">
            <a:extLst>
              <a:ext uri="{FF2B5EF4-FFF2-40B4-BE49-F238E27FC236}">
                <a16:creationId xmlns:a16="http://schemas.microsoft.com/office/drawing/2014/main" id="{5F5AE7FD-1D00-C1EA-D782-DAFD1B73F5C7}"/>
              </a:ext>
            </a:extLst>
          </p:cNvPr>
          <p:cNvSpPr/>
          <p:nvPr/>
        </p:nvSpPr>
        <p:spPr>
          <a:xfrm>
            <a:off x="1321594" y="3933332"/>
            <a:ext cx="2964656" cy="540051"/>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38.3% of samples</a:t>
            </a:r>
            <a:r>
              <a:rPr lang="en-US" sz="950" b="0" i="0" u="none" strike="noStrike" cap="none">
                <a:solidFill>
                  <a:srgbClr val="2C3E50"/>
                </a:solidFill>
                <a:latin typeface="Inter"/>
                <a:ea typeface="Inter"/>
                <a:cs typeface="Inter"/>
                <a:sym typeface="Inter"/>
              </a:rPr>
              <a:t> failed to trigger any confident prediction, rendering the model unreliable for automated monitoring.</a:t>
            </a:r>
            <a:endParaRPr sz="950" b="0" i="0" u="none" strike="noStrike" cap="none">
              <a:solidFill>
                <a:schemeClr val="dk1"/>
              </a:solidFill>
              <a:latin typeface="Calibri"/>
              <a:ea typeface="Calibri"/>
              <a:cs typeface="Calibri"/>
              <a:sym typeface="Calibri"/>
            </a:endParaRPr>
          </a:p>
        </p:txBody>
      </p:sp>
      <p:sp>
        <p:nvSpPr>
          <p:cNvPr id="25" name="Google Shape;108;p3">
            <a:extLst>
              <a:ext uri="{FF2B5EF4-FFF2-40B4-BE49-F238E27FC236}">
                <a16:creationId xmlns:a16="http://schemas.microsoft.com/office/drawing/2014/main" id="{ACDBDB76-7EBA-2777-547C-A7C165820D1D}"/>
              </a:ext>
            </a:extLst>
          </p:cNvPr>
          <p:cNvSpPr/>
          <p:nvPr/>
        </p:nvSpPr>
        <p:spPr>
          <a:xfrm>
            <a:off x="4643438" y="1985963"/>
            <a:ext cx="3893344" cy="1254426"/>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9;p3">
            <a:extLst>
              <a:ext uri="{FF2B5EF4-FFF2-40B4-BE49-F238E27FC236}">
                <a16:creationId xmlns:a16="http://schemas.microsoft.com/office/drawing/2014/main" id="{BA30E7CC-E893-8EBB-BFBA-33AB027D6C46}"/>
              </a:ext>
            </a:extLst>
          </p:cNvPr>
          <p:cNvSpPr/>
          <p:nvPr/>
        </p:nvSpPr>
        <p:spPr>
          <a:xfrm>
            <a:off x="4643438" y="1985963"/>
            <a:ext cx="3893344"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p3">
            <a:extLst>
              <a:ext uri="{FF2B5EF4-FFF2-40B4-BE49-F238E27FC236}">
                <a16:creationId xmlns:a16="http://schemas.microsoft.com/office/drawing/2014/main" id="{4E13A176-F8A3-18E0-E0EC-F0B8ABB3DB22}"/>
              </a:ext>
            </a:extLst>
          </p:cNvPr>
          <p:cNvSpPr/>
          <p:nvPr/>
        </p:nvSpPr>
        <p:spPr>
          <a:xfrm>
            <a:off x="4822032" y="2164557"/>
            <a:ext cx="428625" cy="428625"/>
          </a:xfrm>
          <a:prstGeom prst="ellipse">
            <a:avLst/>
          </a:prstGeom>
          <a:solidFill>
            <a:srgbClr val="5DAD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 name="Google Shape;111;p3" descr="preencoded.png">
            <a:extLst>
              <a:ext uri="{FF2B5EF4-FFF2-40B4-BE49-F238E27FC236}">
                <a16:creationId xmlns:a16="http://schemas.microsoft.com/office/drawing/2014/main" id="{6CB6E3CD-B98F-D6D2-1043-FC427630758F}"/>
              </a:ext>
            </a:extLst>
          </p:cNvPr>
          <p:cNvPicPr preferRelativeResize="0"/>
          <p:nvPr/>
        </p:nvPicPr>
        <p:blipFill rotWithShape="1">
          <a:blip r:embed="rId6">
            <a:alphaModFix/>
          </a:blip>
          <a:srcRect/>
          <a:stretch/>
        </p:blipFill>
        <p:spPr>
          <a:xfrm>
            <a:off x="4911329" y="2278857"/>
            <a:ext cx="250031" cy="200025"/>
          </a:xfrm>
          <a:prstGeom prst="rect">
            <a:avLst/>
          </a:prstGeom>
          <a:noFill/>
          <a:ln>
            <a:noFill/>
          </a:ln>
        </p:spPr>
      </p:pic>
      <p:sp>
        <p:nvSpPr>
          <p:cNvPr id="29" name="Google Shape;112;p3">
            <a:extLst>
              <a:ext uri="{FF2B5EF4-FFF2-40B4-BE49-F238E27FC236}">
                <a16:creationId xmlns:a16="http://schemas.microsoft.com/office/drawing/2014/main" id="{DE659BFD-5978-86FF-839A-7BA2C99D4E76}"/>
              </a:ext>
            </a:extLst>
          </p:cNvPr>
          <p:cNvSpPr/>
          <p:nvPr/>
        </p:nvSpPr>
        <p:spPr>
          <a:xfrm>
            <a:off x="5393532" y="2164557"/>
            <a:ext cx="2964656" cy="2571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1200"/>
              <a:buFont typeface="Inter"/>
              <a:buNone/>
            </a:pPr>
            <a:r>
              <a:rPr lang="en-US" sz="1200" b="1" i="0" u="none" strike="noStrike" cap="none">
                <a:solidFill>
                  <a:srgbClr val="E67E22"/>
                </a:solidFill>
                <a:latin typeface="Inter"/>
                <a:ea typeface="Inter"/>
                <a:cs typeface="Inter"/>
                <a:sym typeface="Inter"/>
              </a:rPr>
              <a:t>Acoustic Divergence</a:t>
            </a:r>
            <a:endParaRPr sz="1200" b="0" i="0" u="none" strike="noStrike" cap="none">
              <a:solidFill>
                <a:schemeClr val="dk1"/>
              </a:solidFill>
              <a:latin typeface="Calibri"/>
              <a:ea typeface="Calibri"/>
              <a:cs typeface="Calibri"/>
              <a:sym typeface="Calibri"/>
            </a:endParaRPr>
          </a:p>
        </p:txBody>
      </p:sp>
      <p:sp>
        <p:nvSpPr>
          <p:cNvPr id="30" name="Google Shape;113;p3">
            <a:extLst>
              <a:ext uri="{FF2B5EF4-FFF2-40B4-BE49-F238E27FC236}">
                <a16:creationId xmlns:a16="http://schemas.microsoft.com/office/drawing/2014/main" id="{6F408316-41BA-FFA3-4855-15A4BD69EB2C}"/>
              </a:ext>
            </a:extLst>
          </p:cNvPr>
          <p:cNvSpPr/>
          <p:nvPr/>
        </p:nvSpPr>
        <p:spPr>
          <a:xfrm>
            <a:off x="5393532" y="2493169"/>
            <a:ext cx="2964656" cy="49128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50"/>
              <a:buFont typeface="Inter"/>
              <a:buNone/>
            </a:pPr>
            <a:r>
              <a:rPr lang="en-US" sz="950" b="0" i="0" u="none" strike="noStrike" cap="none" dirty="0">
                <a:solidFill>
                  <a:srgbClr val="2C3E50"/>
                </a:solidFill>
                <a:latin typeface="Inter"/>
                <a:ea typeface="Inter"/>
                <a:cs typeface="Inter"/>
                <a:sym typeface="Inter"/>
              </a:rPr>
              <a:t>Regional dialects and urban noise profiles in Singapore may differ significantly from the model's original training distribution.</a:t>
            </a:r>
            <a:endParaRPr sz="95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0610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CA924-4F3A-BE78-16B3-71F8A4F930A7}"/>
            </a:ext>
          </a:extLst>
        </p:cNvPr>
        <p:cNvGrpSpPr/>
        <p:nvPr/>
      </p:nvGrpSpPr>
      <p:grpSpPr>
        <a:xfrm>
          <a:off x="0" y="0"/>
          <a:ext cx="0" cy="0"/>
          <a:chOff x="0" y="0"/>
          <a:chExt cx="0" cy="0"/>
        </a:xfrm>
      </p:grpSpPr>
      <p:sp>
        <p:nvSpPr>
          <p:cNvPr id="7" name="Google Shape;50;g3e7d7471223_0_25">
            <a:extLst>
              <a:ext uri="{FF2B5EF4-FFF2-40B4-BE49-F238E27FC236}">
                <a16:creationId xmlns:a16="http://schemas.microsoft.com/office/drawing/2014/main" id="{62232A59-B642-ABC6-F135-01B1EA039C00}"/>
              </a:ext>
            </a:extLst>
          </p:cNvPr>
          <p:cNvSpPr/>
          <p:nvPr/>
        </p:nvSpPr>
        <p:spPr>
          <a:xfrm>
            <a:off x="1293813" y="1628701"/>
            <a:ext cx="6285337" cy="2500386"/>
          </a:xfrm>
          <a:prstGeom prst="rect">
            <a:avLst/>
          </a:prstGeom>
          <a:solidFill>
            <a:srgbClr val="20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dirty="0"/>
          </a:p>
        </p:txBody>
      </p:sp>
      <p:pic>
        <p:nvPicPr>
          <p:cNvPr id="17" name="Google Shape;23;p1">
            <a:extLst>
              <a:ext uri="{FF2B5EF4-FFF2-40B4-BE49-F238E27FC236}">
                <a16:creationId xmlns:a16="http://schemas.microsoft.com/office/drawing/2014/main" id="{C736D033-CF25-C277-7D12-17148EE2F93B}"/>
              </a:ext>
            </a:extLst>
          </p:cNvPr>
          <p:cNvPicPr preferRelativeResize="0"/>
          <p:nvPr/>
        </p:nvPicPr>
        <p:blipFill>
          <a:blip r:embed="rId3">
            <a:alphaModFix amt="30000"/>
          </a:blip>
          <a:stretch>
            <a:fillRect/>
          </a:stretch>
        </p:blipFill>
        <p:spPr>
          <a:xfrm>
            <a:off x="0" y="0"/>
            <a:ext cx="9144000" cy="5143500"/>
          </a:xfrm>
          <a:prstGeom prst="rect">
            <a:avLst/>
          </a:prstGeom>
          <a:noFill/>
          <a:ln>
            <a:noFill/>
          </a:ln>
        </p:spPr>
      </p:pic>
      <p:sp>
        <p:nvSpPr>
          <p:cNvPr id="2" name="Footer Placeholder 1">
            <a:extLst>
              <a:ext uri="{FF2B5EF4-FFF2-40B4-BE49-F238E27FC236}">
                <a16:creationId xmlns:a16="http://schemas.microsoft.com/office/drawing/2014/main" id="{2523B2B2-CD35-457B-7204-1299F3C99C25}"/>
              </a:ext>
            </a:extLst>
          </p:cNvPr>
          <p:cNvSpPr>
            <a:spLocks noGrp="1"/>
          </p:cNvSpPr>
          <p:nvPr>
            <p:ph type="ftr" sz="quarter" idx="11"/>
          </p:nvPr>
        </p:nvSpPr>
        <p:spPr/>
        <p:txBody>
          <a:bodyPr/>
          <a:lstStyle/>
          <a:p>
            <a:r>
              <a:rPr lang="en-US" sz="900"/>
              <a:t>College of Computing and Data Science</a:t>
            </a:r>
            <a:endParaRPr lang="en-US" sz="900" dirty="0"/>
          </a:p>
        </p:txBody>
      </p:sp>
      <p:sp>
        <p:nvSpPr>
          <p:cNvPr id="8" name="Google Shape;51;g3e7d7471223_0_25">
            <a:extLst>
              <a:ext uri="{FF2B5EF4-FFF2-40B4-BE49-F238E27FC236}">
                <a16:creationId xmlns:a16="http://schemas.microsoft.com/office/drawing/2014/main" id="{6DB7E1BF-F6D4-1BC3-610C-5A1E6E9DC473}"/>
              </a:ext>
            </a:extLst>
          </p:cNvPr>
          <p:cNvSpPr/>
          <p:nvPr/>
        </p:nvSpPr>
        <p:spPr>
          <a:xfrm>
            <a:off x="1293813" y="1628701"/>
            <a:ext cx="78341" cy="2500386"/>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9" name="Google Shape;52;g3e7d7471223_0_25">
            <a:extLst>
              <a:ext uri="{FF2B5EF4-FFF2-40B4-BE49-F238E27FC236}">
                <a16:creationId xmlns:a16="http://schemas.microsoft.com/office/drawing/2014/main" id="{16E8969F-0EE7-4E9E-8864-41F67196CC80}"/>
              </a:ext>
            </a:extLst>
          </p:cNvPr>
          <p:cNvSpPr/>
          <p:nvPr/>
        </p:nvSpPr>
        <p:spPr>
          <a:xfrm>
            <a:off x="1564850" y="1900317"/>
            <a:ext cx="5633411" cy="345214"/>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00"/>
              <a:buFont typeface="Inter"/>
              <a:buNone/>
            </a:pPr>
            <a:r>
              <a:rPr lang="en-US" sz="2000" b="1" i="0" u="none" strike="noStrike" cap="none" dirty="0">
                <a:solidFill>
                  <a:srgbClr val="FFFFFF"/>
                </a:solidFill>
                <a:latin typeface="Inter"/>
                <a:ea typeface="Inter"/>
                <a:cs typeface="Inter"/>
                <a:sym typeface="Inter"/>
              </a:rPr>
              <a:t>KEY INSIGHT</a:t>
            </a:r>
            <a:endParaRPr sz="2000" b="0" i="0" u="none" strike="noStrike" cap="none" dirty="0">
              <a:solidFill>
                <a:schemeClr val="dk1"/>
              </a:solidFill>
              <a:latin typeface="Calibri"/>
              <a:ea typeface="Calibri"/>
              <a:cs typeface="Calibri"/>
              <a:sym typeface="Calibri"/>
            </a:endParaRPr>
          </a:p>
        </p:txBody>
      </p:sp>
      <p:sp>
        <p:nvSpPr>
          <p:cNvPr id="10" name="Google Shape;53;g3e7d7471223_0_25">
            <a:extLst>
              <a:ext uri="{FF2B5EF4-FFF2-40B4-BE49-F238E27FC236}">
                <a16:creationId xmlns:a16="http://schemas.microsoft.com/office/drawing/2014/main" id="{8D36B721-0825-FA52-E7F7-E881E873C604}"/>
              </a:ext>
            </a:extLst>
          </p:cNvPr>
          <p:cNvSpPr/>
          <p:nvPr/>
        </p:nvSpPr>
        <p:spPr>
          <a:xfrm>
            <a:off x="1879653" y="2435284"/>
            <a:ext cx="5478921" cy="348231"/>
          </a:xfrm>
          <a:prstGeom prst="rect">
            <a:avLst/>
          </a:prstGeom>
          <a:noFill/>
          <a:ln>
            <a:noFill/>
          </a:ln>
        </p:spPr>
        <p:txBody>
          <a:bodyPr spcFirstLastPara="1" wrap="square" lIns="0" tIns="0" rIns="0" bIns="0" anchor="t" anchorCtr="0">
            <a:noAutofit/>
          </a:bodyPr>
          <a:lstStyle/>
          <a:p>
            <a:pPr>
              <a:lnSpc>
                <a:spcPct val="120000"/>
              </a:lnSpc>
              <a:buClr>
                <a:srgbClr val="FFFFFF"/>
              </a:buClr>
              <a:buSzPts val="1050"/>
            </a:pPr>
            <a:r>
              <a:rPr lang="en-US" b="0" i="0" u="none" strike="noStrike" cap="none" dirty="0">
                <a:solidFill>
                  <a:srgbClr val="FFFFFF"/>
                </a:solidFill>
                <a:latin typeface="Inter"/>
                <a:ea typeface="Inter"/>
                <a:cs typeface="Inter"/>
                <a:sym typeface="Inter"/>
              </a:rPr>
              <a:t>Regional fine-tuning and grounded </a:t>
            </a:r>
            <a:r>
              <a:rPr lang="en-US" dirty="0">
                <a:solidFill>
                  <a:srgbClr val="FFFFFF"/>
                </a:solidFill>
                <a:latin typeface="Inter"/>
                <a:ea typeface="Inter"/>
                <a:cs typeface="Inter"/>
                <a:sym typeface="Inter"/>
              </a:rPr>
              <a:t>retrieval can enhance citizen participation in bird monitoring, making citizen science viable for local conservation efforts.</a:t>
            </a:r>
            <a:endParaRPr lang="en-US" dirty="0">
              <a:solidFill>
                <a:schemeClr val="dk1"/>
              </a:solidFill>
              <a:latin typeface="Calibri"/>
              <a:ea typeface="Calibri"/>
              <a:cs typeface="Calibri"/>
              <a:sym typeface="Calibri"/>
            </a:endParaRPr>
          </a:p>
          <a:p>
            <a:pPr marL="0" marR="0" lvl="0" indent="0" algn="l" rtl="0">
              <a:lnSpc>
                <a:spcPct val="120000"/>
              </a:lnSpc>
              <a:spcBef>
                <a:spcPts val="0"/>
              </a:spcBef>
              <a:spcAft>
                <a:spcPts val="0"/>
              </a:spcAft>
              <a:buClr>
                <a:srgbClr val="FFFFFF"/>
              </a:buClr>
              <a:buSzPts val="1050"/>
              <a:buFont typeface="Inter"/>
              <a:buNone/>
            </a:pPr>
            <a:endParaRPr sz="2000" b="0" i="0" u="none" strike="noStrike" cap="none" dirty="0">
              <a:solidFill>
                <a:schemeClr val="dk1"/>
              </a:solidFill>
              <a:latin typeface="Calibri"/>
              <a:ea typeface="Calibri"/>
              <a:cs typeface="Calibri"/>
              <a:sym typeface="Calibri"/>
            </a:endParaRPr>
          </a:p>
        </p:txBody>
      </p:sp>
      <p:sp>
        <p:nvSpPr>
          <p:cNvPr id="11" name="Google Shape;54;g3e7d7471223_0_25">
            <a:extLst>
              <a:ext uri="{FF2B5EF4-FFF2-40B4-BE49-F238E27FC236}">
                <a16:creationId xmlns:a16="http://schemas.microsoft.com/office/drawing/2014/main" id="{A1A2E474-42FE-5CE2-7FB0-C6D0490EEDFE}"/>
              </a:ext>
            </a:extLst>
          </p:cNvPr>
          <p:cNvSpPr/>
          <p:nvPr/>
        </p:nvSpPr>
        <p:spPr>
          <a:xfrm>
            <a:off x="1879653" y="2812604"/>
            <a:ext cx="5384693" cy="34823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050"/>
              <a:buFont typeface="Inter"/>
              <a:buNone/>
            </a:pPr>
            <a:endParaRPr sz="2000" b="0" i="0" u="none" strike="noStrike" cap="none" dirty="0">
              <a:solidFill>
                <a:schemeClr val="dk1"/>
              </a:solidFill>
              <a:latin typeface="Calibri"/>
              <a:ea typeface="Calibri"/>
              <a:cs typeface="Calibri"/>
              <a:sym typeface="Calibri"/>
            </a:endParaRPr>
          </a:p>
        </p:txBody>
      </p:sp>
      <p:sp>
        <p:nvSpPr>
          <p:cNvPr id="12" name="Google Shape;55;g3e7d7471223_0_25">
            <a:extLst>
              <a:ext uri="{FF2B5EF4-FFF2-40B4-BE49-F238E27FC236}">
                <a16:creationId xmlns:a16="http://schemas.microsoft.com/office/drawing/2014/main" id="{BD942265-6369-5C2E-DF14-91768EE53436}"/>
              </a:ext>
            </a:extLst>
          </p:cNvPr>
          <p:cNvSpPr/>
          <p:nvPr/>
        </p:nvSpPr>
        <p:spPr>
          <a:xfrm>
            <a:off x="2205688" y="3195128"/>
            <a:ext cx="4539927" cy="34823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050"/>
              <a:buFont typeface="Inter"/>
              <a:buNone/>
            </a:pPr>
            <a:endParaRPr sz="2000" b="0" i="0" u="none" strike="noStrike" cap="none" dirty="0">
              <a:solidFill>
                <a:schemeClr val="dk1"/>
              </a:solidFill>
              <a:latin typeface="Calibri"/>
              <a:ea typeface="Calibri"/>
              <a:cs typeface="Calibri"/>
              <a:sym typeface="Calibri"/>
            </a:endParaRPr>
          </a:p>
        </p:txBody>
      </p:sp>
      <p:sp>
        <p:nvSpPr>
          <p:cNvPr id="13" name="Google Shape;36;g3e7d7471223_0_25">
            <a:extLst>
              <a:ext uri="{FF2B5EF4-FFF2-40B4-BE49-F238E27FC236}">
                <a16:creationId xmlns:a16="http://schemas.microsoft.com/office/drawing/2014/main" id="{F0F4AB2C-2575-0D53-626B-2B9BBDA909F9}"/>
              </a:ext>
            </a:extLst>
          </p:cNvPr>
          <p:cNvSpPr/>
          <p:nvPr/>
        </p:nvSpPr>
        <p:spPr>
          <a:xfrm>
            <a:off x="571500" y="428625"/>
            <a:ext cx="8001000" cy="6144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g3e7d7471223_0_25">
            <a:extLst>
              <a:ext uri="{FF2B5EF4-FFF2-40B4-BE49-F238E27FC236}">
                <a16:creationId xmlns:a16="http://schemas.microsoft.com/office/drawing/2014/main" id="{018B7DBA-4441-8060-CDBB-0DD95AFC2C74}"/>
              </a:ext>
            </a:extLst>
          </p:cNvPr>
          <p:cNvSpPr/>
          <p:nvPr/>
        </p:nvSpPr>
        <p:spPr>
          <a:xfrm>
            <a:off x="571500" y="1014413"/>
            <a:ext cx="8001000" cy="28500"/>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8;g3e7d7471223_0_25">
            <a:extLst>
              <a:ext uri="{FF2B5EF4-FFF2-40B4-BE49-F238E27FC236}">
                <a16:creationId xmlns:a16="http://schemas.microsoft.com/office/drawing/2014/main" id="{21261128-5751-27B2-58CE-D6BE850B631F}"/>
              </a:ext>
            </a:extLst>
          </p:cNvPr>
          <p:cNvSpPr/>
          <p:nvPr/>
        </p:nvSpPr>
        <p:spPr>
          <a:xfrm>
            <a:off x="571500" y="428625"/>
            <a:ext cx="8001000" cy="614400"/>
          </a:xfrm>
          <a:prstGeom prst="rect">
            <a:avLst/>
          </a:prstGeom>
          <a:noFill/>
          <a:ln>
            <a:noFill/>
          </a:ln>
        </p:spPr>
        <p:txBody>
          <a:bodyPr spcFirstLastPara="1" wrap="square" lIns="0" tIns="0" rIns="0" bIns="85075" anchor="t" anchorCtr="0">
            <a:no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Urban Biodiversity Monitoring Barriers</a:t>
            </a:r>
            <a:endParaRPr sz="24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75652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534B4A-0B5D-ED9B-7BBE-B2FAD8B9993C}"/>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119;p4">
            <a:extLst>
              <a:ext uri="{FF2B5EF4-FFF2-40B4-BE49-F238E27FC236}">
                <a16:creationId xmlns:a16="http://schemas.microsoft.com/office/drawing/2014/main" id="{D659E1D7-D1AC-5337-FE0D-6548EF30F804}"/>
              </a:ext>
            </a:extLst>
          </p:cNvPr>
          <p:cNvSpPr/>
          <p:nvPr/>
        </p:nvSpPr>
        <p:spPr>
          <a:xfrm>
            <a:off x="571500" y="428625"/>
            <a:ext cx="8001000" cy="614363"/>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20;p4">
            <a:extLst>
              <a:ext uri="{FF2B5EF4-FFF2-40B4-BE49-F238E27FC236}">
                <a16:creationId xmlns:a16="http://schemas.microsoft.com/office/drawing/2014/main" id="{9F6F0DA7-EBA3-24F2-62A2-0F7DF0F76794}"/>
              </a:ext>
            </a:extLst>
          </p:cNvPr>
          <p:cNvSpPr/>
          <p:nvPr/>
        </p:nvSpPr>
        <p:spPr>
          <a:xfrm>
            <a:off x="571500" y="1014413"/>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21;p4">
            <a:extLst>
              <a:ext uri="{FF2B5EF4-FFF2-40B4-BE49-F238E27FC236}">
                <a16:creationId xmlns:a16="http://schemas.microsoft.com/office/drawing/2014/main" id="{1E15CD27-2530-A3F5-BE39-5A6587C4ADEF}"/>
              </a:ext>
            </a:extLst>
          </p:cNvPr>
          <p:cNvSpPr/>
          <p:nvPr/>
        </p:nvSpPr>
        <p:spPr>
          <a:xfrm>
            <a:off x="571500" y="428625"/>
            <a:ext cx="8001000" cy="614363"/>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Dual-Component System Architecture</a:t>
            </a:r>
            <a:endParaRPr sz="2450" b="0" i="0" u="none" strike="noStrike" cap="none">
              <a:solidFill>
                <a:schemeClr val="dk1"/>
              </a:solidFill>
              <a:latin typeface="Calibri"/>
              <a:ea typeface="Calibri"/>
              <a:cs typeface="Calibri"/>
              <a:sym typeface="Calibri"/>
            </a:endParaRPr>
          </a:p>
        </p:txBody>
      </p:sp>
      <p:sp>
        <p:nvSpPr>
          <p:cNvPr id="6" name="Google Shape;122;p4">
            <a:extLst>
              <a:ext uri="{FF2B5EF4-FFF2-40B4-BE49-F238E27FC236}">
                <a16:creationId xmlns:a16="http://schemas.microsoft.com/office/drawing/2014/main" id="{A212424B-C2AF-E6D9-BE0B-B1E3F371EACF}"/>
              </a:ext>
            </a:extLst>
          </p:cNvPr>
          <p:cNvSpPr/>
          <p:nvPr/>
        </p:nvSpPr>
        <p:spPr>
          <a:xfrm>
            <a:off x="635110" y="1296463"/>
            <a:ext cx="3936890" cy="3877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050"/>
              <a:buFont typeface="Inter"/>
              <a:buNone/>
            </a:pPr>
            <a:r>
              <a:rPr lang="en-US" sz="1050" b="0" i="0" u="none" strike="noStrike" cap="none" dirty="0">
                <a:solidFill>
                  <a:srgbClr val="2C3E50"/>
                </a:solidFill>
                <a:latin typeface="Inter"/>
                <a:ea typeface="Inter"/>
                <a:cs typeface="Inter"/>
                <a:sym typeface="Inter"/>
              </a:rPr>
              <a:t>The system proposes a fine-tuned MLP classifier and a RAG-based educational pipeline for end-to-end recognition and learning.</a:t>
            </a:r>
            <a:endParaRPr sz="1050" b="0" i="0" u="none" strike="noStrike" cap="none" dirty="0">
              <a:solidFill>
                <a:schemeClr val="dk1"/>
              </a:solidFill>
              <a:latin typeface="Calibri"/>
              <a:ea typeface="Calibri"/>
              <a:cs typeface="Calibri"/>
              <a:sym typeface="Calibri"/>
            </a:endParaRPr>
          </a:p>
        </p:txBody>
      </p:sp>
      <p:sp>
        <p:nvSpPr>
          <p:cNvPr id="7" name="Google Shape;123;p4">
            <a:extLst>
              <a:ext uri="{FF2B5EF4-FFF2-40B4-BE49-F238E27FC236}">
                <a16:creationId xmlns:a16="http://schemas.microsoft.com/office/drawing/2014/main" id="{FAA8BA3D-7414-BB52-C041-9CB3BE79E310}"/>
              </a:ext>
            </a:extLst>
          </p:cNvPr>
          <p:cNvSpPr/>
          <p:nvPr/>
        </p:nvSpPr>
        <p:spPr>
          <a:xfrm>
            <a:off x="571500" y="1995339"/>
            <a:ext cx="228600" cy="228600"/>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4;p4">
            <a:extLst>
              <a:ext uri="{FF2B5EF4-FFF2-40B4-BE49-F238E27FC236}">
                <a16:creationId xmlns:a16="http://schemas.microsoft.com/office/drawing/2014/main" id="{90D9F771-E0A2-2050-C321-564E7C43824E}"/>
              </a:ext>
            </a:extLst>
          </p:cNvPr>
          <p:cNvSpPr/>
          <p:nvPr/>
        </p:nvSpPr>
        <p:spPr>
          <a:xfrm>
            <a:off x="571500" y="1995339"/>
            <a:ext cx="228600" cy="228600"/>
          </a:xfrm>
          <a:prstGeom prst="rect">
            <a:avLst/>
          </a:prstGeom>
          <a:noFill/>
          <a:ln>
            <a:noFill/>
          </a:ln>
        </p:spPr>
        <p:txBody>
          <a:bodyPr spcFirstLastPara="1" wrap="square" lIns="0" tIns="0" rIns="0" bIns="0" anchor="ctr" anchorCtr="0">
            <a:spAutoFit/>
          </a:bodyPr>
          <a:lstStyle/>
          <a:p>
            <a:pPr marL="0" marR="0" lvl="0" indent="0" algn="ctr"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1</a:t>
            </a:r>
            <a:endParaRPr sz="800" b="0" i="0" u="none" strike="noStrike" cap="none">
              <a:solidFill>
                <a:schemeClr val="dk1"/>
              </a:solidFill>
              <a:latin typeface="Calibri"/>
              <a:ea typeface="Calibri"/>
              <a:cs typeface="Calibri"/>
              <a:sym typeface="Calibri"/>
            </a:endParaRPr>
          </a:p>
        </p:txBody>
      </p:sp>
      <p:sp>
        <p:nvSpPr>
          <p:cNvPr id="9" name="Google Shape;125;p4">
            <a:extLst>
              <a:ext uri="{FF2B5EF4-FFF2-40B4-BE49-F238E27FC236}">
                <a16:creationId xmlns:a16="http://schemas.microsoft.com/office/drawing/2014/main" id="{5E240B11-8701-CFFA-A58C-9787676C9C02}"/>
              </a:ext>
            </a:extLst>
          </p:cNvPr>
          <p:cNvSpPr/>
          <p:nvPr/>
        </p:nvSpPr>
        <p:spPr>
          <a:xfrm>
            <a:off x="885825" y="1995339"/>
            <a:ext cx="3192614" cy="2357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100"/>
              <a:buFont typeface="Inter"/>
              <a:buNone/>
            </a:pPr>
            <a:r>
              <a:rPr lang="en-US" sz="1100" b="1" i="0" u="none" strike="noStrike" cap="none">
                <a:solidFill>
                  <a:srgbClr val="2C3E50"/>
                </a:solidFill>
                <a:latin typeface="Inter"/>
                <a:ea typeface="Inter"/>
                <a:cs typeface="Inter"/>
                <a:sym typeface="Inter"/>
              </a:rPr>
              <a:t>Feature Extraction</a:t>
            </a:r>
            <a:endParaRPr sz="1100" b="0" i="0" u="none" strike="noStrike" cap="none">
              <a:solidFill>
                <a:schemeClr val="dk1"/>
              </a:solidFill>
              <a:latin typeface="Calibri"/>
              <a:ea typeface="Calibri"/>
              <a:cs typeface="Calibri"/>
              <a:sym typeface="Calibri"/>
            </a:endParaRPr>
          </a:p>
        </p:txBody>
      </p:sp>
      <p:sp>
        <p:nvSpPr>
          <p:cNvPr id="10" name="Google Shape;126;p4">
            <a:extLst>
              <a:ext uri="{FF2B5EF4-FFF2-40B4-BE49-F238E27FC236}">
                <a16:creationId xmlns:a16="http://schemas.microsoft.com/office/drawing/2014/main" id="{87AE8084-5358-B22D-8CC1-4E8085BAE4D1}"/>
              </a:ext>
            </a:extLst>
          </p:cNvPr>
          <p:cNvSpPr/>
          <p:nvPr/>
        </p:nvSpPr>
        <p:spPr>
          <a:xfrm>
            <a:off x="885825" y="2259657"/>
            <a:ext cx="3192614" cy="33999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00"/>
              <a:buFont typeface="Inter"/>
              <a:buNone/>
            </a:pPr>
            <a:r>
              <a:rPr lang="en-US" sz="900" b="0" i="0" u="none" strike="noStrike" cap="none">
                <a:solidFill>
                  <a:srgbClr val="2C3E50"/>
                </a:solidFill>
                <a:latin typeface="Inter"/>
                <a:ea typeface="Inter"/>
                <a:cs typeface="Inter"/>
                <a:sym typeface="Inter"/>
              </a:rPr>
              <a:t>6,522-dimensional embeddings extracted from a frozen BirdNET V2.4 encoder.</a:t>
            </a:r>
            <a:endParaRPr sz="900" b="0" i="0" u="none" strike="noStrike" cap="none">
              <a:solidFill>
                <a:schemeClr val="dk1"/>
              </a:solidFill>
              <a:latin typeface="Calibri"/>
              <a:ea typeface="Calibri"/>
              <a:cs typeface="Calibri"/>
              <a:sym typeface="Calibri"/>
            </a:endParaRPr>
          </a:p>
        </p:txBody>
      </p:sp>
      <p:sp>
        <p:nvSpPr>
          <p:cNvPr id="11" name="Google Shape;127;p4">
            <a:extLst>
              <a:ext uri="{FF2B5EF4-FFF2-40B4-BE49-F238E27FC236}">
                <a16:creationId xmlns:a16="http://schemas.microsoft.com/office/drawing/2014/main" id="{F1E0E951-3576-74C9-16ED-3C6556F47714}"/>
              </a:ext>
            </a:extLst>
          </p:cNvPr>
          <p:cNvSpPr/>
          <p:nvPr/>
        </p:nvSpPr>
        <p:spPr>
          <a:xfrm>
            <a:off x="571500" y="2656805"/>
            <a:ext cx="228600" cy="228600"/>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4">
            <a:extLst>
              <a:ext uri="{FF2B5EF4-FFF2-40B4-BE49-F238E27FC236}">
                <a16:creationId xmlns:a16="http://schemas.microsoft.com/office/drawing/2014/main" id="{D9722B36-07F5-5D11-3BF5-D76C33D42D64}"/>
              </a:ext>
            </a:extLst>
          </p:cNvPr>
          <p:cNvSpPr/>
          <p:nvPr/>
        </p:nvSpPr>
        <p:spPr>
          <a:xfrm>
            <a:off x="571500" y="2656805"/>
            <a:ext cx="228600" cy="228600"/>
          </a:xfrm>
          <a:prstGeom prst="rect">
            <a:avLst/>
          </a:prstGeom>
          <a:noFill/>
          <a:ln>
            <a:noFill/>
          </a:ln>
        </p:spPr>
        <p:txBody>
          <a:bodyPr spcFirstLastPara="1" wrap="square" lIns="0" tIns="0" rIns="0" bIns="0" anchor="ctr" anchorCtr="0">
            <a:spAutoFit/>
          </a:bodyPr>
          <a:lstStyle/>
          <a:p>
            <a:pPr marL="0" marR="0" lvl="0" indent="0" algn="ctr"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2</a:t>
            </a:r>
            <a:endParaRPr sz="800" b="0" i="0" u="none" strike="noStrike" cap="none">
              <a:solidFill>
                <a:schemeClr val="dk1"/>
              </a:solidFill>
              <a:latin typeface="Calibri"/>
              <a:ea typeface="Calibri"/>
              <a:cs typeface="Calibri"/>
              <a:sym typeface="Calibri"/>
            </a:endParaRPr>
          </a:p>
        </p:txBody>
      </p:sp>
      <p:sp>
        <p:nvSpPr>
          <p:cNvPr id="13" name="Google Shape;129;p4">
            <a:extLst>
              <a:ext uri="{FF2B5EF4-FFF2-40B4-BE49-F238E27FC236}">
                <a16:creationId xmlns:a16="http://schemas.microsoft.com/office/drawing/2014/main" id="{2F3CD1BE-5DF9-7DA1-A770-12845C8FD671}"/>
              </a:ext>
            </a:extLst>
          </p:cNvPr>
          <p:cNvSpPr/>
          <p:nvPr/>
        </p:nvSpPr>
        <p:spPr>
          <a:xfrm>
            <a:off x="885825" y="2656805"/>
            <a:ext cx="3192614" cy="2357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100"/>
              <a:buFont typeface="Inter"/>
              <a:buNone/>
            </a:pPr>
            <a:r>
              <a:rPr lang="en-US" sz="1100" b="1" i="0" u="none" strike="noStrike" cap="none">
                <a:solidFill>
                  <a:srgbClr val="2C3E50"/>
                </a:solidFill>
                <a:latin typeface="Inter"/>
                <a:ea typeface="Inter"/>
                <a:cs typeface="Inter"/>
                <a:sym typeface="Inter"/>
              </a:rPr>
              <a:t>Local Classification</a:t>
            </a:r>
            <a:endParaRPr sz="1100" b="0" i="0" u="none" strike="noStrike" cap="none">
              <a:solidFill>
                <a:schemeClr val="dk1"/>
              </a:solidFill>
              <a:latin typeface="Calibri"/>
              <a:ea typeface="Calibri"/>
              <a:cs typeface="Calibri"/>
              <a:sym typeface="Calibri"/>
            </a:endParaRPr>
          </a:p>
        </p:txBody>
      </p:sp>
      <p:sp>
        <p:nvSpPr>
          <p:cNvPr id="14" name="Google Shape;130;p4">
            <a:extLst>
              <a:ext uri="{FF2B5EF4-FFF2-40B4-BE49-F238E27FC236}">
                <a16:creationId xmlns:a16="http://schemas.microsoft.com/office/drawing/2014/main" id="{C7DE5451-2F59-139D-AA27-096131CE417E}"/>
              </a:ext>
            </a:extLst>
          </p:cNvPr>
          <p:cNvSpPr/>
          <p:nvPr/>
        </p:nvSpPr>
        <p:spPr>
          <a:xfrm>
            <a:off x="885825" y="2921124"/>
            <a:ext cx="3192614" cy="33999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00"/>
              <a:buFont typeface="Inter"/>
              <a:buNone/>
            </a:pPr>
            <a:r>
              <a:rPr lang="en-US" sz="900" b="0" i="0" u="none" strike="noStrike" cap="none">
                <a:solidFill>
                  <a:srgbClr val="2C3E50"/>
                </a:solidFill>
                <a:latin typeface="Inter"/>
                <a:ea typeface="Inter"/>
                <a:cs typeface="Inter"/>
                <a:sym typeface="Inter"/>
              </a:rPr>
              <a:t>Fine-tuned MLP head trained on Singapore-specific species labels.</a:t>
            </a:r>
            <a:endParaRPr sz="900" b="0" i="0" u="none" strike="noStrike" cap="none">
              <a:solidFill>
                <a:schemeClr val="dk1"/>
              </a:solidFill>
              <a:latin typeface="Calibri"/>
              <a:ea typeface="Calibri"/>
              <a:cs typeface="Calibri"/>
              <a:sym typeface="Calibri"/>
            </a:endParaRPr>
          </a:p>
        </p:txBody>
      </p:sp>
      <p:sp>
        <p:nvSpPr>
          <p:cNvPr id="15" name="Google Shape;131;p4">
            <a:extLst>
              <a:ext uri="{FF2B5EF4-FFF2-40B4-BE49-F238E27FC236}">
                <a16:creationId xmlns:a16="http://schemas.microsoft.com/office/drawing/2014/main" id="{B9C31E67-3FFE-1691-2CF2-7C0EAA68AD6A}"/>
              </a:ext>
            </a:extLst>
          </p:cNvPr>
          <p:cNvSpPr/>
          <p:nvPr/>
        </p:nvSpPr>
        <p:spPr>
          <a:xfrm>
            <a:off x="571500" y="3318272"/>
            <a:ext cx="228600" cy="228600"/>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2;p4">
            <a:extLst>
              <a:ext uri="{FF2B5EF4-FFF2-40B4-BE49-F238E27FC236}">
                <a16:creationId xmlns:a16="http://schemas.microsoft.com/office/drawing/2014/main" id="{CBEA773A-C8B4-8393-0830-D9057DFDC6D1}"/>
              </a:ext>
            </a:extLst>
          </p:cNvPr>
          <p:cNvSpPr/>
          <p:nvPr/>
        </p:nvSpPr>
        <p:spPr>
          <a:xfrm>
            <a:off x="571500" y="3318272"/>
            <a:ext cx="228600" cy="228600"/>
          </a:xfrm>
          <a:prstGeom prst="rect">
            <a:avLst/>
          </a:prstGeom>
          <a:noFill/>
          <a:ln>
            <a:noFill/>
          </a:ln>
        </p:spPr>
        <p:txBody>
          <a:bodyPr spcFirstLastPara="1" wrap="square" lIns="0" tIns="0" rIns="0" bIns="0" anchor="ctr" anchorCtr="0">
            <a:spAutoFit/>
          </a:bodyPr>
          <a:lstStyle/>
          <a:p>
            <a:pPr marL="0" marR="0" lvl="0" indent="0" algn="ctr"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3</a:t>
            </a:r>
            <a:endParaRPr sz="800" b="0" i="0" u="none" strike="noStrike" cap="none">
              <a:solidFill>
                <a:schemeClr val="dk1"/>
              </a:solidFill>
              <a:latin typeface="Calibri"/>
              <a:ea typeface="Calibri"/>
              <a:cs typeface="Calibri"/>
              <a:sym typeface="Calibri"/>
            </a:endParaRPr>
          </a:p>
        </p:txBody>
      </p:sp>
      <p:sp>
        <p:nvSpPr>
          <p:cNvPr id="17" name="Google Shape;133;p4">
            <a:extLst>
              <a:ext uri="{FF2B5EF4-FFF2-40B4-BE49-F238E27FC236}">
                <a16:creationId xmlns:a16="http://schemas.microsoft.com/office/drawing/2014/main" id="{4D5635AA-4617-27D2-CD85-675F149C7893}"/>
              </a:ext>
            </a:extLst>
          </p:cNvPr>
          <p:cNvSpPr/>
          <p:nvPr/>
        </p:nvSpPr>
        <p:spPr>
          <a:xfrm>
            <a:off x="885825" y="3318272"/>
            <a:ext cx="3192614" cy="2357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100"/>
              <a:buFont typeface="Inter"/>
              <a:buNone/>
            </a:pPr>
            <a:r>
              <a:rPr lang="en-US" sz="1100" b="1" i="0" u="none" strike="noStrike" cap="none">
                <a:solidFill>
                  <a:srgbClr val="2C3E50"/>
                </a:solidFill>
                <a:latin typeface="Inter"/>
                <a:ea typeface="Inter"/>
                <a:cs typeface="Inter"/>
                <a:sym typeface="Inter"/>
              </a:rPr>
              <a:t>Contextual Retrieval</a:t>
            </a:r>
            <a:endParaRPr sz="1100" b="0" i="0" u="none" strike="noStrike" cap="none">
              <a:solidFill>
                <a:schemeClr val="dk1"/>
              </a:solidFill>
              <a:latin typeface="Calibri"/>
              <a:ea typeface="Calibri"/>
              <a:cs typeface="Calibri"/>
              <a:sym typeface="Calibri"/>
            </a:endParaRPr>
          </a:p>
        </p:txBody>
      </p:sp>
      <p:sp>
        <p:nvSpPr>
          <p:cNvPr id="18" name="Google Shape;134;p4">
            <a:extLst>
              <a:ext uri="{FF2B5EF4-FFF2-40B4-BE49-F238E27FC236}">
                <a16:creationId xmlns:a16="http://schemas.microsoft.com/office/drawing/2014/main" id="{9F6158C0-C146-A03F-4BF3-BFE3B3C03E43}"/>
              </a:ext>
            </a:extLst>
          </p:cNvPr>
          <p:cNvSpPr/>
          <p:nvPr/>
        </p:nvSpPr>
        <p:spPr>
          <a:xfrm>
            <a:off x="885825" y="3582591"/>
            <a:ext cx="3192614" cy="33999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00"/>
              <a:buFont typeface="Inter"/>
              <a:buNone/>
            </a:pPr>
            <a:r>
              <a:rPr lang="en-US" sz="900" b="0" i="0" u="none" strike="noStrike" cap="none">
                <a:solidFill>
                  <a:srgbClr val="2C3E50"/>
                </a:solidFill>
                <a:latin typeface="Inter"/>
                <a:ea typeface="Inter"/>
                <a:cs typeface="Inter"/>
                <a:sym typeface="Inter"/>
              </a:rPr>
              <a:t>Semantic search over NParks and SG Bird Database via ChromaDB.</a:t>
            </a:r>
            <a:endParaRPr sz="900" b="0" i="0" u="none" strike="noStrike" cap="none">
              <a:solidFill>
                <a:schemeClr val="dk1"/>
              </a:solidFill>
              <a:latin typeface="Calibri"/>
              <a:ea typeface="Calibri"/>
              <a:cs typeface="Calibri"/>
              <a:sym typeface="Calibri"/>
            </a:endParaRPr>
          </a:p>
        </p:txBody>
      </p:sp>
      <p:sp>
        <p:nvSpPr>
          <p:cNvPr id="19" name="Google Shape;135;p4">
            <a:extLst>
              <a:ext uri="{FF2B5EF4-FFF2-40B4-BE49-F238E27FC236}">
                <a16:creationId xmlns:a16="http://schemas.microsoft.com/office/drawing/2014/main" id="{050F2D47-8997-024B-933D-DDC5C1F1F3F0}"/>
              </a:ext>
            </a:extLst>
          </p:cNvPr>
          <p:cNvSpPr/>
          <p:nvPr/>
        </p:nvSpPr>
        <p:spPr>
          <a:xfrm>
            <a:off x="571500" y="3979738"/>
            <a:ext cx="228600" cy="228600"/>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6;p4">
            <a:extLst>
              <a:ext uri="{FF2B5EF4-FFF2-40B4-BE49-F238E27FC236}">
                <a16:creationId xmlns:a16="http://schemas.microsoft.com/office/drawing/2014/main" id="{9389A65B-1A86-E4C6-1616-94EABB60C7CC}"/>
              </a:ext>
            </a:extLst>
          </p:cNvPr>
          <p:cNvSpPr/>
          <p:nvPr/>
        </p:nvSpPr>
        <p:spPr>
          <a:xfrm>
            <a:off x="571500" y="3979738"/>
            <a:ext cx="228600" cy="228600"/>
          </a:xfrm>
          <a:prstGeom prst="rect">
            <a:avLst/>
          </a:prstGeom>
          <a:noFill/>
          <a:ln>
            <a:noFill/>
          </a:ln>
        </p:spPr>
        <p:txBody>
          <a:bodyPr spcFirstLastPara="1" wrap="square" lIns="0" tIns="0" rIns="0" bIns="0" anchor="ctr" anchorCtr="0">
            <a:spAutoFit/>
          </a:bodyPr>
          <a:lstStyle/>
          <a:p>
            <a:pPr marL="0" marR="0" lvl="0" indent="0" algn="ctr"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4</a:t>
            </a:r>
            <a:endParaRPr sz="800" b="0" i="0" u="none" strike="noStrike" cap="none">
              <a:solidFill>
                <a:schemeClr val="dk1"/>
              </a:solidFill>
              <a:latin typeface="Calibri"/>
              <a:ea typeface="Calibri"/>
              <a:cs typeface="Calibri"/>
              <a:sym typeface="Calibri"/>
            </a:endParaRPr>
          </a:p>
        </p:txBody>
      </p:sp>
      <p:sp>
        <p:nvSpPr>
          <p:cNvPr id="21" name="Google Shape;137;p4">
            <a:extLst>
              <a:ext uri="{FF2B5EF4-FFF2-40B4-BE49-F238E27FC236}">
                <a16:creationId xmlns:a16="http://schemas.microsoft.com/office/drawing/2014/main" id="{0CC0E390-93D8-C79D-EB53-F88DF40CA4F1}"/>
              </a:ext>
            </a:extLst>
          </p:cNvPr>
          <p:cNvSpPr/>
          <p:nvPr/>
        </p:nvSpPr>
        <p:spPr>
          <a:xfrm>
            <a:off x="885825" y="3979738"/>
            <a:ext cx="3192614" cy="2357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100"/>
              <a:buFont typeface="Inter"/>
              <a:buNone/>
            </a:pPr>
            <a:r>
              <a:rPr lang="en-US" sz="1100" b="1" i="0" u="none" strike="noStrike" cap="none">
                <a:solidFill>
                  <a:srgbClr val="2C3E50"/>
                </a:solidFill>
                <a:latin typeface="Inter"/>
                <a:ea typeface="Inter"/>
                <a:cs typeface="Inter"/>
                <a:sym typeface="Inter"/>
              </a:rPr>
              <a:t>Educational Response</a:t>
            </a:r>
            <a:endParaRPr sz="1100" b="0" i="0" u="none" strike="noStrike" cap="none">
              <a:solidFill>
                <a:schemeClr val="dk1"/>
              </a:solidFill>
              <a:latin typeface="Calibri"/>
              <a:ea typeface="Calibri"/>
              <a:cs typeface="Calibri"/>
              <a:sym typeface="Calibri"/>
            </a:endParaRPr>
          </a:p>
        </p:txBody>
      </p:sp>
      <p:sp>
        <p:nvSpPr>
          <p:cNvPr id="22" name="Google Shape;138;p4">
            <a:extLst>
              <a:ext uri="{FF2B5EF4-FFF2-40B4-BE49-F238E27FC236}">
                <a16:creationId xmlns:a16="http://schemas.microsoft.com/office/drawing/2014/main" id="{15954040-2A1C-CD07-DDAA-52A0553363ED}"/>
              </a:ext>
            </a:extLst>
          </p:cNvPr>
          <p:cNvSpPr/>
          <p:nvPr/>
        </p:nvSpPr>
        <p:spPr>
          <a:xfrm>
            <a:off x="885825" y="4244057"/>
            <a:ext cx="3192614" cy="33999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900"/>
              <a:buFont typeface="Inter"/>
              <a:buNone/>
            </a:pPr>
            <a:r>
              <a:rPr lang="en-US" sz="900" b="0" i="0" u="none" strike="noStrike" cap="none">
                <a:solidFill>
                  <a:srgbClr val="2C3E50"/>
                </a:solidFill>
                <a:latin typeface="Inter"/>
                <a:ea typeface="Inter"/>
                <a:cs typeface="Inter"/>
                <a:sym typeface="Inter"/>
              </a:rPr>
              <a:t>Grounded generation using Claude LLM with retrieved local context.</a:t>
            </a:r>
            <a:endParaRPr sz="900" b="0" i="0" u="none" strike="noStrike" cap="none">
              <a:solidFill>
                <a:schemeClr val="dk1"/>
              </a:solidFill>
              <a:latin typeface="Calibri"/>
              <a:ea typeface="Calibri"/>
              <a:cs typeface="Calibri"/>
              <a:sym typeface="Calibri"/>
            </a:endParaRPr>
          </a:p>
        </p:txBody>
      </p:sp>
      <p:sp>
        <p:nvSpPr>
          <p:cNvPr id="23" name="Google Shape;139;p4">
            <a:extLst>
              <a:ext uri="{FF2B5EF4-FFF2-40B4-BE49-F238E27FC236}">
                <a16:creationId xmlns:a16="http://schemas.microsoft.com/office/drawing/2014/main" id="{436B84D9-560B-43E0-B7CE-952D53371D26}"/>
              </a:ext>
            </a:extLst>
          </p:cNvPr>
          <p:cNvSpPr/>
          <p:nvPr/>
        </p:nvSpPr>
        <p:spPr>
          <a:xfrm>
            <a:off x="4364189" y="1228725"/>
            <a:ext cx="4208311" cy="3450431"/>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Google Shape;140;p4" descr="preencoded.png">
            <a:extLst>
              <a:ext uri="{FF2B5EF4-FFF2-40B4-BE49-F238E27FC236}">
                <a16:creationId xmlns:a16="http://schemas.microsoft.com/office/drawing/2014/main" id="{68961E50-DE9E-A7A7-EBC0-FFFC7A7837ED}"/>
              </a:ext>
            </a:extLst>
          </p:cNvPr>
          <p:cNvPicPr preferRelativeResize="0"/>
          <p:nvPr/>
        </p:nvPicPr>
        <p:blipFill rotWithShape="1">
          <a:blip r:embed="rId3">
            <a:alphaModFix/>
          </a:blip>
          <a:srcRect/>
          <a:stretch/>
        </p:blipFill>
        <p:spPr>
          <a:xfrm>
            <a:off x="5316010" y="1300190"/>
            <a:ext cx="2304669" cy="3307500"/>
          </a:xfrm>
          <a:prstGeom prst="rect">
            <a:avLst/>
          </a:prstGeom>
          <a:noFill/>
          <a:ln>
            <a:noFill/>
          </a:ln>
        </p:spPr>
      </p:pic>
    </p:spTree>
    <p:extLst>
      <p:ext uri="{BB962C8B-B14F-4D97-AF65-F5344CB8AC3E}">
        <p14:creationId xmlns:p14="http://schemas.microsoft.com/office/powerpoint/2010/main" val="2838429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0E569-1764-9C76-8039-2CFC190AB94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8B5B9C9-ACC6-2D95-8A37-5E1C2F716482}"/>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147;p5">
            <a:extLst>
              <a:ext uri="{FF2B5EF4-FFF2-40B4-BE49-F238E27FC236}">
                <a16:creationId xmlns:a16="http://schemas.microsoft.com/office/drawing/2014/main" id="{27B5CA12-9863-1C8F-7EAD-E8184CF90091}"/>
              </a:ext>
            </a:extLst>
          </p:cNvPr>
          <p:cNvSpPr/>
          <p:nvPr/>
        </p:nvSpPr>
        <p:spPr>
          <a:xfrm>
            <a:off x="571500" y="428625"/>
            <a:ext cx="8001000" cy="550069"/>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48;p5">
            <a:extLst>
              <a:ext uri="{FF2B5EF4-FFF2-40B4-BE49-F238E27FC236}">
                <a16:creationId xmlns:a16="http://schemas.microsoft.com/office/drawing/2014/main" id="{C82C9729-9686-3726-6BE8-46D2970101BA}"/>
              </a:ext>
            </a:extLst>
          </p:cNvPr>
          <p:cNvSpPr/>
          <p:nvPr/>
        </p:nvSpPr>
        <p:spPr>
          <a:xfrm>
            <a:off x="571500" y="950119"/>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49;p5">
            <a:extLst>
              <a:ext uri="{FF2B5EF4-FFF2-40B4-BE49-F238E27FC236}">
                <a16:creationId xmlns:a16="http://schemas.microsoft.com/office/drawing/2014/main" id="{B568F987-32F4-39B9-BCC0-B8D252D495B8}"/>
              </a:ext>
            </a:extLst>
          </p:cNvPr>
          <p:cNvSpPr/>
          <p:nvPr/>
        </p:nvSpPr>
        <p:spPr>
          <a:xfrm>
            <a:off x="571500" y="428625"/>
            <a:ext cx="8001000" cy="550069"/>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100"/>
              <a:buFont typeface="Inter"/>
              <a:buNone/>
            </a:pPr>
            <a:r>
              <a:rPr lang="en-US" sz="2100" b="1" i="0" u="none" strike="noStrike" cap="none">
                <a:solidFill>
                  <a:srgbClr val="2C3E50"/>
                </a:solidFill>
                <a:latin typeface="Inter"/>
                <a:ea typeface="Inter"/>
                <a:cs typeface="Inter"/>
                <a:sym typeface="Inter"/>
              </a:rPr>
              <a:t>Transfer Learning &amp; Data Strategy</a:t>
            </a:r>
            <a:endParaRPr sz="2100" b="0" i="0" u="none" strike="noStrike" cap="none">
              <a:solidFill>
                <a:schemeClr val="dk1"/>
              </a:solidFill>
              <a:latin typeface="Calibri"/>
              <a:ea typeface="Calibri"/>
              <a:cs typeface="Calibri"/>
              <a:sym typeface="Calibri"/>
            </a:endParaRPr>
          </a:p>
        </p:txBody>
      </p:sp>
      <p:sp>
        <p:nvSpPr>
          <p:cNvPr id="6" name="Google Shape;150;p5">
            <a:extLst>
              <a:ext uri="{FF2B5EF4-FFF2-40B4-BE49-F238E27FC236}">
                <a16:creationId xmlns:a16="http://schemas.microsoft.com/office/drawing/2014/main" id="{60685F91-1BC0-5509-905F-8CB1652A39F6}"/>
              </a:ext>
            </a:extLst>
          </p:cNvPr>
          <p:cNvSpPr/>
          <p:nvPr/>
        </p:nvSpPr>
        <p:spPr>
          <a:xfrm>
            <a:off x="571500" y="1164431"/>
            <a:ext cx="3857625"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1000"/>
              <a:buFont typeface="Inter"/>
              <a:buNone/>
            </a:pPr>
            <a:r>
              <a:rPr lang="en-US" sz="1000" b="1" i="0" u="none" strike="noStrike" cap="none">
                <a:solidFill>
                  <a:srgbClr val="E67E22"/>
                </a:solidFill>
                <a:latin typeface="Inter"/>
                <a:ea typeface="Inter"/>
                <a:cs typeface="Inter"/>
                <a:sym typeface="Inter"/>
              </a:rPr>
              <a:t>PHASE 1: CLASSIFICATION</a:t>
            </a:r>
            <a:endParaRPr sz="1000" b="0" i="0" u="none" strike="noStrike" cap="none">
              <a:solidFill>
                <a:schemeClr val="dk1"/>
              </a:solidFill>
              <a:latin typeface="Calibri"/>
              <a:ea typeface="Calibri"/>
              <a:cs typeface="Calibri"/>
              <a:sym typeface="Calibri"/>
            </a:endParaRPr>
          </a:p>
        </p:txBody>
      </p:sp>
      <p:sp>
        <p:nvSpPr>
          <p:cNvPr id="13" name="Google Shape;157;p5">
            <a:extLst>
              <a:ext uri="{FF2B5EF4-FFF2-40B4-BE49-F238E27FC236}">
                <a16:creationId xmlns:a16="http://schemas.microsoft.com/office/drawing/2014/main" id="{0F9B5709-8342-41A6-B752-1860AD2342DC}"/>
              </a:ext>
            </a:extLst>
          </p:cNvPr>
          <p:cNvSpPr/>
          <p:nvPr/>
        </p:nvSpPr>
        <p:spPr>
          <a:xfrm>
            <a:off x="714375" y="3253253"/>
            <a:ext cx="3571875" cy="160009"/>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Hidden Layers:</a:t>
            </a:r>
            <a:r>
              <a:rPr lang="en-US" sz="850" b="0" i="0" u="none" strike="noStrike" cap="none">
                <a:solidFill>
                  <a:srgbClr val="FFFFFF"/>
                </a:solidFill>
                <a:latin typeface="Inter"/>
                <a:ea typeface="Inter"/>
                <a:cs typeface="Inter"/>
                <a:sym typeface="Inter"/>
              </a:rPr>
              <a:t> 2 layers with Batch Normalization</a:t>
            </a:r>
            <a:endParaRPr sz="800" b="0" i="0" u="none" strike="noStrike" cap="none">
              <a:solidFill>
                <a:schemeClr val="dk1"/>
              </a:solidFill>
              <a:latin typeface="Calibri"/>
              <a:ea typeface="Calibri"/>
              <a:cs typeface="Calibri"/>
              <a:sym typeface="Calibri"/>
            </a:endParaRPr>
          </a:p>
        </p:txBody>
      </p:sp>
      <p:sp>
        <p:nvSpPr>
          <p:cNvPr id="14" name="Google Shape;158;p5">
            <a:extLst>
              <a:ext uri="{FF2B5EF4-FFF2-40B4-BE49-F238E27FC236}">
                <a16:creationId xmlns:a16="http://schemas.microsoft.com/office/drawing/2014/main" id="{D082CF0A-0484-AFD1-F9AA-A9CBB333C5F4}"/>
              </a:ext>
            </a:extLst>
          </p:cNvPr>
          <p:cNvSpPr/>
          <p:nvPr/>
        </p:nvSpPr>
        <p:spPr>
          <a:xfrm>
            <a:off x="714375" y="3413261"/>
            <a:ext cx="3571875" cy="160009"/>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Regularization:</a:t>
            </a:r>
            <a:r>
              <a:rPr lang="en-US" sz="850" b="0" i="0" u="none" strike="noStrike" cap="none">
                <a:solidFill>
                  <a:srgbClr val="FFFFFF"/>
                </a:solidFill>
                <a:latin typeface="Inter"/>
                <a:ea typeface="Inter"/>
                <a:cs typeface="Inter"/>
                <a:sym typeface="Inter"/>
              </a:rPr>
              <a:t> Dropout (0.3) + Weight Decay (10⁻⁴)</a:t>
            </a:r>
            <a:endParaRPr sz="800" b="0" i="0" u="none" strike="noStrike" cap="none">
              <a:solidFill>
                <a:schemeClr val="dk1"/>
              </a:solidFill>
              <a:latin typeface="Calibri"/>
              <a:ea typeface="Calibri"/>
              <a:cs typeface="Calibri"/>
              <a:sym typeface="Calibri"/>
            </a:endParaRPr>
          </a:p>
        </p:txBody>
      </p:sp>
      <p:sp>
        <p:nvSpPr>
          <p:cNvPr id="15" name="Google Shape;159;p5">
            <a:extLst>
              <a:ext uri="{FF2B5EF4-FFF2-40B4-BE49-F238E27FC236}">
                <a16:creationId xmlns:a16="http://schemas.microsoft.com/office/drawing/2014/main" id="{BF8B5C31-AD21-BBC3-E21B-3A2C29BBF957}"/>
              </a:ext>
            </a:extLst>
          </p:cNvPr>
          <p:cNvSpPr/>
          <p:nvPr/>
        </p:nvSpPr>
        <p:spPr>
          <a:xfrm>
            <a:off x="714375" y="3573270"/>
            <a:ext cx="3571875" cy="160009"/>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Output:</a:t>
            </a:r>
            <a:r>
              <a:rPr lang="en-US" sz="850" b="0" i="0" u="none" strike="noStrike" cap="none">
                <a:solidFill>
                  <a:srgbClr val="FFFFFF"/>
                </a:solidFill>
                <a:latin typeface="Inter"/>
                <a:ea typeface="Inter"/>
                <a:cs typeface="Inter"/>
                <a:sym typeface="Inter"/>
              </a:rPr>
              <a:t> Softmax over 27 Singapore species</a:t>
            </a:r>
            <a:endParaRPr sz="800" b="0" i="0" u="none" strike="noStrike" cap="none">
              <a:solidFill>
                <a:schemeClr val="dk1"/>
              </a:solidFill>
              <a:latin typeface="Calibri"/>
              <a:ea typeface="Calibri"/>
              <a:cs typeface="Calibri"/>
              <a:sym typeface="Calibri"/>
            </a:endParaRPr>
          </a:p>
        </p:txBody>
      </p:sp>
      <p:pic>
        <p:nvPicPr>
          <p:cNvPr id="16" name="Google Shape;160;p5" descr="preencoded.png">
            <a:extLst>
              <a:ext uri="{FF2B5EF4-FFF2-40B4-BE49-F238E27FC236}">
                <a16:creationId xmlns:a16="http://schemas.microsoft.com/office/drawing/2014/main" id="{163D9883-56D9-E921-F99A-F0B20779DD22}"/>
              </a:ext>
            </a:extLst>
          </p:cNvPr>
          <p:cNvPicPr preferRelativeResize="0"/>
          <p:nvPr/>
        </p:nvPicPr>
        <p:blipFill rotWithShape="1">
          <a:blip r:embed="rId3">
            <a:alphaModFix/>
          </a:blip>
          <a:srcRect/>
          <a:stretch/>
        </p:blipFill>
        <p:spPr>
          <a:xfrm>
            <a:off x="4714875" y="1200150"/>
            <a:ext cx="125016" cy="142875"/>
          </a:xfrm>
          <a:prstGeom prst="rect">
            <a:avLst/>
          </a:prstGeom>
          <a:noFill/>
          <a:ln>
            <a:noFill/>
          </a:ln>
        </p:spPr>
      </p:pic>
      <p:sp>
        <p:nvSpPr>
          <p:cNvPr id="17" name="Google Shape;161;p5">
            <a:extLst>
              <a:ext uri="{FF2B5EF4-FFF2-40B4-BE49-F238E27FC236}">
                <a16:creationId xmlns:a16="http://schemas.microsoft.com/office/drawing/2014/main" id="{4673F14C-AF14-6CAB-24DB-5287E5B096CA}"/>
              </a:ext>
            </a:extLst>
          </p:cNvPr>
          <p:cNvSpPr/>
          <p:nvPr/>
        </p:nvSpPr>
        <p:spPr>
          <a:xfrm>
            <a:off x="4911328" y="1164431"/>
            <a:ext cx="1978819"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000"/>
              <a:buFont typeface="Inter"/>
              <a:buNone/>
            </a:pPr>
            <a:r>
              <a:rPr lang="en-US" sz="1000" b="1" i="0" u="none" strike="noStrike" cap="none">
                <a:solidFill>
                  <a:srgbClr val="2C3E50"/>
                </a:solidFill>
                <a:latin typeface="Inter"/>
                <a:ea typeface="Inter"/>
                <a:cs typeface="Inter"/>
                <a:sym typeface="Inter"/>
              </a:rPr>
              <a:t>Data Augmentation Strategy</a:t>
            </a:r>
            <a:endParaRPr sz="1000" b="0" i="0" u="none" strike="noStrike" cap="none">
              <a:solidFill>
                <a:schemeClr val="dk1"/>
              </a:solidFill>
              <a:latin typeface="Calibri"/>
              <a:ea typeface="Calibri"/>
              <a:cs typeface="Calibri"/>
              <a:sym typeface="Calibri"/>
            </a:endParaRPr>
          </a:p>
        </p:txBody>
      </p:sp>
      <p:pic>
        <p:nvPicPr>
          <p:cNvPr id="18" name="Google Shape;162;p5" descr="preencoded.png">
            <a:extLst>
              <a:ext uri="{FF2B5EF4-FFF2-40B4-BE49-F238E27FC236}">
                <a16:creationId xmlns:a16="http://schemas.microsoft.com/office/drawing/2014/main" id="{426B9EDC-E5A2-DD0B-D61D-6A6C1A41834D}"/>
              </a:ext>
            </a:extLst>
          </p:cNvPr>
          <p:cNvPicPr preferRelativeResize="0"/>
          <p:nvPr/>
        </p:nvPicPr>
        <p:blipFill rotWithShape="1">
          <a:blip r:embed="rId4">
            <a:alphaModFix/>
          </a:blip>
          <a:srcRect/>
          <a:stretch/>
        </p:blipFill>
        <p:spPr>
          <a:xfrm>
            <a:off x="4714875" y="1521619"/>
            <a:ext cx="100013" cy="100013"/>
          </a:xfrm>
          <a:prstGeom prst="rect">
            <a:avLst/>
          </a:prstGeom>
          <a:noFill/>
          <a:ln>
            <a:noFill/>
          </a:ln>
        </p:spPr>
      </p:pic>
      <p:sp>
        <p:nvSpPr>
          <p:cNvPr id="19" name="Google Shape;163;p5">
            <a:extLst>
              <a:ext uri="{FF2B5EF4-FFF2-40B4-BE49-F238E27FC236}">
                <a16:creationId xmlns:a16="http://schemas.microsoft.com/office/drawing/2014/main" id="{61BBD53C-B0E2-982C-ED24-4BA3DACE8146}"/>
              </a:ext>
            </a:extLst>
          </p:cNvPr>
          <p:cNvSpPr/>
          <p:nvPr/>
        </p:nvSpPr>
        <p:spPr>
          <a:xfrm>
            <a:off x="4872038" y="1485900"/>
            <a:ext cx="964406"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Time Shift (±0.3s)</a:t>
            </a:r>
            <a:endParaRPr sz="850" b="0" i="0" u="none" strike="noStrike" cap="none">
              <a:solidFill>
                <a:schemeClr val="dk1"/>
              </a:solidFill>
              <a:latin typeface="Calibri"/>
              <a:ea typeface="Calibri"/>
              <a:cs typeface="Calibri"/>
              <a:sym typeface="Calibri"/>
            </a:endParaRPr>
          </a:p>
        </p:txBody>
      </p:sp>
      <p:pic>
        <p:nvPicPr>
          <p:cNvPr id="20" name="Google Shape;164;p5" descr="preencoded.png">
            <a:extLst>
              <a:ext uri="{FF2B5EF4-FFF2-40B4-BE49-F238E27FC236}">
                <a16:creationId xmlns:a16="http://schemas.microsoft.com/office/drawing/2014/main" id="{52C64411-7A03-5B3E-A21F-8FA0CC264B3C}"/>
              </a:ext>
            </a:extLst>
          </p:cNvPr>
          <p:cNvPicPr preferRelativeResize="0"/>
          <p:nvPr/>
        </p:nvPicPr>
        <p:blipFill rotWithShape="1">
          <a:blip r:embed="rId5">
            <a:alphaModFix/>
          </a:blip>
          <a:srcRect/>
          <a:stretch/>
        </p:blipFill>
        <p:spPr>
          <a:xfrm>
            <a:off x="6679406" y="1521619"/>
            <a:ext cx="100013" cy="100013"/>
          </a:xfrm>
          <a:prstGeom prst="rect">
            <a:avLst/>
          </a:prstGeom>
          <a:noFill/>
          <a:ln>
            <a:noFill/>
          </a:ln>
        </p:spPr>
      </p:pic>
      <p:sp>
        <p:nvSpPr>
          <p:cNvPr id="21" name="Google Shape;165;p5">
            <a:extLst>
              <a:ext uri="{FF2B5EF4-FFF2-40B4-BE49-F238E27FC236}">
                <a16:creationId xmlns:a16="http://schemas.microsoft.com/office/drawing/2014/main" id="{50BD4340-8E49-459D-1441-8C657F4BEA0B}"/>
              </a:ext>
            </a:extLst>
          </p:cNvPr>
          <p:cNvSpPr/>
          <p:nvPr/>
        </p:nvSpPr>
        <p:spPr>
          <a:xfrm>
            <a:off x="6836569" y="1485900"/>
            <a:ext cx="1300163"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Pitch Up (+2 semitones)</a:t>
            </a:r>
            <a:endParaRPr sz="850" b="0" i="0" u="none" strike="noStrike" cap="none">
              <a:solidFill>
                <a:schemeClr val="dk1"/>
              </a:solidFill>
              <a:latin typeface="Calibri"/>
              <a:ea typeface="Calibri"/>
              <a:cs typeface="Calibri"/>
              <a:sym typeface="Calibri"/>
            </a:endParaRPr>
          </a:p>
        </p:txBody>
      </p:sp>
      <p:pic>
        <p:nvPicPr>
          <p:cNvPr id="22" name="Google Shape;166;p5" descr="preencoded.png">
            <a:extLst>
              <a:ext uri="{FF2B5EF4-FFF2-40B4-BE49-F238E27FC236}">
                <a16:creationId xmlns:a16="http://schemas.microsoft.com/office/drawing/2014/main" id="{E805D1E5-E7AB-91BC-C580-B790FCD6EDEB}"/>
              </a:ext>
            </a:extLst>
          </p:cNvPr>
          <p:cNvPicPr preferRelativeResize="0"/>
          <p:nvPr/>
        </p:nvPicPr>
        <p:blipFill rotWithShape="1">
          <a:blip r:embed="rId6">
            <a:alphaModFix/>
          </a:blip>
          <a:srcRect/>
          <a:stretch/>
        </p:blipFill>
        <p:spPr>
          <a:xfrm>
            <a:off x="4714875" y="1764506"/>
            <a:ext cx="87511" cy="100013"/>
          </a:xfrm>
          <a:prstGeom prst="rect">
            <a:avLst/>
          </a:prstGeom>
          <a:noFill/>
          <a:ln>
            <a:noFill/>
          </a:ln>
        </p:spPr>
      </p:pic>
      <p:sp>
        <p:nvSpPr>
          <p:cNvPr id="23" name="Google Shape;167;p5">
            <a:extLst>
              <a:ext uri="{FF2B5EF4-FFF2-40B4-BE49-F238E27FC236}">
                <a16:creationId xmlns:a16="http://schemas.microsoft.com/office/drawing/2014/main" id="{D8BC3787-CEB4-E01B-028D-49CEBB584328}"/>
              </a:ext>
            </a:extLst>
          </p:cNvPr>
          <p:cNvSpPr/>
          <p:nvPr/>
        </p:nvSpPr>
        <p:spPr>
          <a:xfrm>
            <a:off x="4859536" y="1728788"/>
            <a:ext cx="823317"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Volume (-30%)</a:t>
            </a:r>
            <a:endParaRPr sz="850" b="0" i="0" u="none" strike="noStrike" cap="none">
              <a:solidFill>
                <a:schemeClr val="dk1"/>
              </a:solidFill>
              <a:latin typeface="Calibri"/>
              <a:ea typeface="Calibri"/>
              <a:cs typeface="Calibri"/>
              <a:sym typeface="Calibri"/>
            </a:endParaRPr>
          </a:p>
        </p:txBody>
      </p:sp>
      <p:pic>
        <p:nvPicPr>
          <p:cNvPr id="24" name="Google Shape;168;p5" descr="preencoded.png">
            <a:extLst>
              <a:ext uri="{FF2B5EF4-FFF2-40B4-BE49-F238E27FC236}">
                <a16:creationId xmlns:a16="http://schemas.microsoft.com/office/drawing/2014/main" id="{A2073313-AB54-43DB-9569-882BD025F1E1}"/>
              </a:ext>
            </a:extLst>
          </p:cNvPr>
          <p:cNvPicPr preferRelativeResize="0"/>
          <p:nvPr/>
        </p:nvPicPr>
        <p:blipFill rotWithShape="1">
          <a:blip r:embed="rId5">
            <a:alphaModFix/>
          </a:blip>
          <a:srcRect/>
          <a:stretch/>
        </p:blipFill>
        <p:spPr>
          <a:xfrm>
            <a:off x="6679406" y="1764506"/>
            <a:ext cx="100013" cy="100013"/>
          </a:xfrm>
          <a:prstGeom prst="rect">
            <a:avLst/>
          </a:prstGeom>
          <a:noFill/>
          <a:ln>
            <a:noFill/>
          </a:ln>
        </p:spPr>
      </p:pic>
      <p:sp>
        <p:nvSpPr>
          <p:cNvPr id="25" name="Google Shape;169;p5">
            <a:extLst>
              <a:ext uri="{FF2B5EF4-FFF2-40B4-BE49-F238E27FC236}">
                <a16:creationId xmlns:a16="http://schemas.microsoft.com/office/drawing/2014/main" id="{FDD573B2-88AE-6F35-C511-5CA3363A22ED}"/>
              </a:ext>
            </a:extLst>
          </p:cNvPr>
          <p:cNvSpPr/>
          <p:nvPr/>
        </p:nvSpPr>
        <p:spPr>
          <a:xfrm>
            <a:off x="6836569" y="1728788"/>
            <a:ext cx="1430536"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Pitch Down (-2 semitones)</a:t>
            </a:r>
            <a:endParaRPr sz="850" b="0" i="0" u="none" strike="noStrike" cap="none">
              <a:solidFill>
                <a:schemeClr val="dk1"/>
              </a:solidFill>
              <a:latin typeface="Calibri"/>
              <a:ea typeface="Calibri"/>
              <a:cs typeface="Calibri"/>
              <a:sym typeface="Calibri"/>
            </a:endParaRPr>
          </a:p>
        </p:txBody>
      </p:sp>
      <p:pic>
        <p:nvPicPr>
          <p:cNvPr id="26" name="Google Shape;170;p5" descr="preencoded.png">
            <a:extLst>
              <a:ext uri="{FF2B5EF4-FFF2-40B4-BE49-F238E27FC236}">
                <a16:creationId xmlns:a16="http://schemas.microsoft.com/office/drawing/2014/main" id="{4634BEE5-BAD3-34E4-9777-63B49B3B498F}"/>
              </a:ext>
            </a:extLst>
          </p:cNvPr>
          <p:cNvPicPr preferRelativeResize="0"/>
          <p:nvPr/>
        </p:nvPicPr>
        <p:blipFill rotWithShape="1">
          <a:blip r:embed="rId7">
            <a:alphaModFix/>
          </a:blip>
          <a:srcRect/>
          <a:stretch/>
        </p:blipFill>
        <p:spPr>
          <a:xfrm>
            <a:off x="4714875" y="2007394"/>
            <a:ext cx="100013" cy="100013"/>
          </a:xfrm>
          <a:prstGeom prst="rect">
            <a:avLst/>
          </a:prstGeom>
          <a:noFill/>
          <a:ln>
            <a:noFill/>
          </a:ln>
        </p:spPr>
      </p:pic>
      <p:sp>
        <p:nvSpPr>
          <p:cNvPr id="27" name="Google Shape;171;p5">
            <a:extLst>
              <a:ext uri="{FF2B5EF4-FFF2-40B4-BE49-F238E27FC236}">
                <a16:creationId xmlns:a16="http://schemas.microsoft.com/office/drawing/2014/main" id="{E1E09BA1-C974-A6FE-E564-A30512D9B2DD}"/>
              </a:ext>
            </a:extLst>
          </p:cNvPr>
          <p:cNvSpPr/>
          <p:nvPr/>
        </p:nvSpPr>
        <p:spPr>
          <a:xfrm>
            <a:off x="4872038" y="1971675"/>
            <a:ext cx="841177"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Gaussian Noise</a:t>
            </a:r>
            <a:endParaRPr sz="850" b="0" i="0" u="none" strike="noStrike" cap="none">
              <a:solidFill>
                <a:schemeClr val="dk1"/>
              </a:solidFill>
              <a:latin typeface="Calibri"/>
              <a:ea typeface="Calibri"/>
              <a:cs typeface="Calibri"/>
              <a:sym typeface="Calibri"/>
            </a:endParaRPr>
          </a:p>
        </p:txBody>
      </p:sp>
      <p:pic>
        <p:nvPicPr>
          <p:cNvPr id="28" name="Google Shape;172;p5" descr="preencoded.png">
            <a:extLst>
              <a:ext uri="{FF2B5EF4-FFF2-40B4-BE49-F238E27FC236}">
                <a16:creationId xmlns:a16="http://schemas.microsoft.com/office/drawing/2014/main" id="{4ED4C2E6-DBD7-5743-2103-30B2F3F967C4}"/>
              </a:ext>
            </a:extLst>
          </p:cNvPr>
          <p:cNvPicPr preferRelativeResize="0"/>
          <p:nvPr/>
        </p:nvPicPr>
        <p:blipFill rotWithShape="1">
          <a:blip r:embed="rId8">
            <a:alphaModFix/>
          </a:blip>
          <a:srcRect/>
          <a:stretch/>
        </p:blipFill>
        <p:spPr>
          <a:xfrm>
            <a:off x="6679406" y="2007394"/>
            <a:ext cx="125016" cy="100013"/>
          </a:xfrm>
          <a:prstGeom prst="rect">
            <a:avLst/>
          </a:prstGeom>
          <a:noFill/>
          <a:ln>
            <a:noFill/>
          </a:ln>
        </p:spPr>
      </p:pic>
      <p:sp>
        <p:nvSpPr>
          <p:cNvPr id="29" name="Google Shape;173;p5">
            <a:extLst>
              <a:ext uri="{FF2B5EF4-FFF2-40B4-BE49-F238E27FC236}">
                <a16:creationId xmlns:a16="http://schemas.microsoft.com/office/drawing/2014/main" id="{CA612E2B-714B-3F1A-BBFB-FD89449E96B2}"/>
              </a:ext>
            </a:extLst>
          </p:cNvPr>
          <p:cNvSpPr/>
          <p:nvPr/>
        </p:nvSpPr>
        <p:spPr>
          <a:xfrm>
            <a:off x="6861572" y="1971675"/>
            <a:ext cx="846534"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Volume (+30%)</a:t>
            </a:r>
            <a:endParaRPr sz="850" b="0" i="0" u="none" strike="noStrike" cap="none">
              <a:solidFill>
                <a:schemeClr val="dk1"/>
              </a:solidFill>
              <a:latin typeface="Calibri"/>
              <a:ea typeface="Calibri"/>
              <a:cs typeface="Calibri"/>
              <a:sym typeface="Calibri"/>
            </a:endParaRPr>
          </a:p>
        </p:txBody>
      </p:sp>
      <p:pic>
        <p:nvPicPr>
          <p:cNvPr id="30" name="Google Shape;174;p5" descr="preencoded.png">
            <a:extLst>
              <a:ext uri="{FF2B5EF4-FFF2-40B4-BE49-F238E27FC236}">
                <a16:creationId xmlns:a16="http://schemas.microsoft.com/office/drawing/2014/main" id="{8B3276B8-9051-691E-401F-2F3C9B5C209E}"/>
              </a:ext>
            </a:extLst>
          </p:cNvPr>
          <p:cNvPicPr preferRelativeResize="0"/>
          <p:nvPr/>
        </p:nvPicPr>
        <p:blipFill rotWithShape="1">
          <a:blip r:embed="rId9">
            <a:alphaModFix/>
          </a:blip>
          <a:srcRect/>
          <a:stretch/>
        </p:blipFill>
        <p:spPr>
          <a:xfrm>
            <a:off x="4714875" y="2357438"/>
            <a:ext cx="125016" cy="142875"/>
          </a:xfrm>
          <a:prstGeom prst="rect">
            <a:avLst/>
          </a:prstGeom>
          <a:noFill/>
          <a:ln>
            <a:noFill/>
          </a:ln>
        </p:spPr>
      </p:pic>
      <p:sp>
        <p:nvSpPr>
          <p:cNvPr id="31" name="Google Shape;175;p5">
            <a:extLst>
              <a:ext uri="{FF2B5EF4-FFF2-40B4-BE49-F238E27FC236}">
                <a16:creationId xmlns:a16="http://schemas.microsoft.com/office/drawing/2014/main" id="{693706C1-B971-E301-CFE5-A7DAE1F13291}"/>
              </a:ext>
            </a:extLst>
          </p:cNvPr>
          <p:cNvSpPr/>
          <p:nvPr/>
        </p:nvSpPr>
        <p:spPr>
          <a:xfrm>
            <a:off x="4911328" y="2321719"/>
            <a:ext cx="1459111"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000"/>
              <a:buFont typeface="Inter"/>
              <a:buNone/>
            </a:pPr>
            <a:r>
              <a:rPr lang="en-US" sz="1000" b="1" i="0" u="none" strike="noStrike" cap="none">
                <a:solidFill>
                  <a:srgbClr val="2C3E50"/>
                </a:solidFill>
                <a:latin typeface="Inter"/>
                <a:ea typeface="Inter"/>
                <a:cs typeface="Inter"/>
                <a:sym typeface="Inter"/>
              </a:rPr>
              <a:t>Dataset Composition</a:t>
            </a:r>
            <a:endParaRPr sz="1000" b="0" i="0" u="none" strike="noStrike" cap="none">
              <a:solidFill>
                <a:schemeClr val="dk1"/>
              </a:solidFill>
              <a:latin typeface="Calibri"/>
              <a:ea typeface="Calibri"/>
              <a:cs typeface="Calibri"/>
              <a:sym typeface="Calibri"/>
            </a:endParaRPr>
          </a:p>
        </p:txBody>
      </p:sp>
      <p:sp>
        <p:nvSpPr>
          <p:cNvPr id="32" name="Google Shape;176;p5">
            <a:extLst>
              <a:ext uri="{FF2B5EF4-FFF2-40B4-BE49-F238E27FC236}">
                <a16:creationId xmlns:a16="http://schemas.microsoft.com/office/drawing/2014/main" id="{6E3E70EE-3520-656E-2DBD-D2100B0DA9BB}"/>
              </a:ext>
            </a:extLst>
          </p:cNvPr>
          <p:cNvSpPr/>
          <p:nvPr/>
        </p:nvSpPr>
        <p:spPr>
          <a:xfrm>
            <a:off x="4714875" y="2643188"/>
            <a:ext cx="1272648" cy="31432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7;p5">
            <a:extLst>
              <a:ext uri="{FF2B5EF4-FFF2-40B4-BE49-F238E27FC236}">
                <a16:creationId xmlns:a16="http://schemas.microsoft.com/office/drawing/2014/main" id="{506D87A8-E008-7F9A-F7CE-58C9DE4AE68D}"/>
              </a:ext>
            </a:extLst>
          </p:cNvPr>
          <p:cNvSpPr/>
          <p:nvPr/>
        </p:nvSpPr>
        <p:spPr>
          <a:xfrm>
            <a:off x="4714875" y="2643188"/>
            <a:ext cx="1272648" cy="314325"/>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Partition</a:t>
            </a:r>
            <a:endParaRPr sz="800" b="0" i="0" u="none" strike="noStrike" cap="none">
              <a:solidFill>
                <a:schemeClr val="dk1"/>
              </a:solidFill>
              <a:latin typeface="Calibri"/>
              <a:ea typeface="Calibri"/>
              <a:cs typeface="Calibri"/>
              <a:sym typeface="Calibri"/>
            </a:endParaRPr>
          </a:p>
        </p:txBody>
      </p:sp>
      <p:sp>
        <p:nvSpPr>
          <p:cNvPr id="34" name="Google Shape;178;p5">
            <a:extLst>
              <a:ext uri="{FF2B5EF4-FFF2-40B4-BE49-F238E27FC236}">
                <a16:creationId xmlns:a16="http://schemas.microsoft.com/office/drawing/2014/main" id="{19035FF4-4320-92CF-5197-519EA4EF1337}"/>
              </a:ext>
            </a:extLst>
          </p:cNvPr>
          <p:cNvSpPr/>
          <p:nvPr/>
        </p:nvSpPr>
        <p:spPr>
          <a:xfrm>
            <a:off x="5987523" y="2643188"/>
            <a:ext cx="1107839" cy="31432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9;p5">
            <a:extLst>
              <a:ext uri="{FF2B5EF4-FFF2-40B4-BE49-F238E27FC236}">
                <a16:creationId xmlns:a16="http://schemas.microsoft.com/office/drawing/2014/main" id="{85569443-C0B2-0922-A071-FE282B213B7F}"/>
              </a:ext>
            </a:extLst>
          </p:cNvPr>
          <p:cNvSpPr/>
          <p:nvPr/>
        </p:nvSpPr>
        <p:spPr>
          <a:xfrm>
            <a:off x="5987523" y="2643188"/>
            <a:ext cx="1107839" cy="314325"/>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Original</a:t>
            </a:r>
            <a:endParaRPr sz="800" b="0" i="0" u="none" strike="noStrike" cap="none">
              <a:solidFill>
                <a:schemeClr val="dk1"/>
              </a:solidFill>
              <a:latin typeface="Calibri"/>
              <a:ea typeface="Calibri"/>
              <a:cs typeface="Calibri"/>
              <a:sym typeface="Calibri"/>
            </a:endParaRPr>
          </a:p>
        </p:txBody>
      </p:sp>
      <p:sp>
        <p:nvSpPr>
          <p:cNvPr id="36" name="Google Shape;180;p5">
            <a:extLst>
              <a:ext uri="{FF2B5EF4-FFF2-40B4-BE49-F238E27FC236}">
                <a16:creationId xmlns:a16="http://schemas.microsoft.com/office/drawing/2014/main" id="{AAB9E779-3786-D6E1-994B-1C6DA4923BD8}"/>
              </a:ext>
            </a:extLst>
          </p:cNvPr>
          <p:cNvSpPr/>
          <p:nvPr/>
        </p:nvSpPr>
        <p:spPr>
          <a:xfrm>
            <a:off x="7095362" y="2643188"/>
            <a:ext cx="1477138" cy="31432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1;p5">
            <a:extLst>
              <a:ext uri="{FF2B5EF4-FFF2-40B4-BE49-F238E27FC236}">
                <a16:creationId xmlns:a16="http://schemas.microsoft.com/office/drawing/2014/main" id="{EA972D9E-11A7-4311-470E-7BEBDB9C7EE0}"/>
              </a:ext>
            </a:extLst>
          </p:cNvPr>
          <p:cNvSpPr/>
          <p:nvPr/>
        </p:nvSpPr>
        <p:spPr>
          <a:xfrm>
            <a:off x="7095362" y="2643188"/>
            <a:ext cx="1477138" cy="314325"/>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Augmented</a:t>
            </a:r>
            <a:endParaRPr sz="800" b="0" i="0" u="none" strike="noStrike" cap="none">
              <a:solidFill>
                <a:schemeClr val="dk1"/>
              </a:solidFill>
              <a:latin typeface="Calibri"/>
              <a:ea typeface="Calibri"/>
              <a:cs typeface="Calibri"/>
              <a:sym typeface="Calibri"/>
            </a:endParaRPr>
          </a:p>
        </p:txBody>
      </p:sp>
      <p:sp>
        <p:nvSpPr>
          <p:cNvPr id="38" name="Google Shape;182;p5">
            <a:extLst>
              <a:ext uri="{FF2B5EF4-FFF2-40B4-BE49-F238E27FC236}">
                <a16:creationId xmlns:a16="http://schemas.microsoft.com/office/drawing/2014/main" id="{52B6E1B9-FF9D-DF57-8FAD-EDEBEC57E642}"/>
              </a:ext>
            </a:extLst>
          </p:cNvPr>
          <p:cNvSpPr/>
          <p:nvPr/>
        </p:nvSpPr>
        <p:spPr>
          <a:xfrm>
            <a:off x="4714875" y="2957513"/>
            <a:ext cx="1272648" cy="317897"/>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Training</a:t>
            </a:r>
            <a:endParaRPr sz="850" b="0" i="0" u="none" strike="noStrike" cap="none">
              <a:solidFill>
                <a:schemeClr val="dk1"/>
              </a:solidFill>
              <a:latin typeface="Calibri"/>
              <a:ea typeface="Calibri"/>
              <a:cs typeface="Calibri"/>
              <a:sym typeface="Calibri"/>
            </a:endParaRPr>
          </a:p>
        </p:txBody>
      </p:sp>
      <p:sp>
        <p:nvSpPr>
          <p:cNvPr id="39" name="Google Shape;183;p5">
            <a:extLst>
              <a:ext uri="{FF2B5EF4-FFF2-40B4-BE49-F238E27FC236}">
                <a16:creationId xmlns:a16="http://schemas.microsoft.com/office/drawing/2014/main" id="{11EB30CC-AFBA-F781-F5AB-7BFDBE28D90B}"/>
              </a:ext>
            </a:extLst>
          </p:cNvPr>
          <p:cNvSpPr/>
          <p:nvPr/>
        </p:nvSpPr>
        <p:spPr>
          <a:xfrm>
            <a:off x="5987523" y="2957513"/>
            <a:ext cx="1107839" cy="317897"/>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354</a:t>
            </a:r>
            <a:endParaRPr sz="850" b="0" i="0" u="none" strike="noStrike" cap="none">
              <a:solidFill>
                <a:schemeClr val="dk1"/>
              </a:solidFill>
              <a:latin typeface="Calibri"/>
              <a:ea typeface="Calibri"/>
              <a:cs typeface="Calibri"/>
              <a:sym typeface="Calibri"/>
            </a:endParaRPr>
          </a:p>
        </p:txBody>
      </p:sp>
      <p:sp>
        <p:nvSpPr>
          <p:cNvPr id="40" name="Google Shape;184;p5">
            <a:extLst>
              <a:ext uri="{FF2B5EF4-FFF2-40B4-BE49-F238E27FC236}">
                <a16:creationId xmlns:a16="http://schemas.microsoft.com/office/drawing/2014/main" id="{AD46C68F-7473-2886-C646-5194F7FA5BBD}"/>
              </a:ext>
            </a:extLst>
          </p:cNvPr>
          <p:cNvSpPr/>
          <p:nvPr/>
        </p:nvSpPr>
        <p:spPr>
          <a:xfrm>
            <a:off x="7095362" y="2957513"/>
            <a:ext cx="1477138" cy="317897"/>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2,124</a:t>
            </a:r>
            <a:endParaRPr sz="850" b="0" i="0" u="none" strike="noStrike" cap="none">
              <a:solidFill>
                <a:schemeClr val="dk1"/>
              </a:solidFill>
              <a:latin typeface="Calibri"/>
              <a:ea typeface="Calibri"/>
              <a:cs typeface="Calibri"/>
              <a:sym typeface="Calibri"/>
            </a:endParaRPr>
          </a:p>
        </p:txBody>
      </p:sp>
      <p:sp>
        <p:nvSpPr>
          <p:cNvPr id="41" name="Google Shape;185;p5">
            <a:extLst>
              <a:ext uri="{FF2B5EF4-FFF2-40B4-BE49-F238E27FC236}">
                <a16:creationId xmlns:a16="http://schemas.microsoft.com/office/drawing/2014/main" id="{9CFDAAE8-3B49-2766-B87B-F95DFE19D455}"/>
              </a:ext>
            </a:extLst>
          </p:cNvPr>
          <p:cNvSpPr/>
          <p:nvPr/>
        </p:nvSpPr>
        <p:spPr>
          <a:xfrm>
            <a:off x="4714875" y="3275409"/>
            <a:ext cx="1272648" cy="321469"/>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Validation</a:t>
            </a:r>
            <a:endParaRPr sz="850" b="0" i="0" u="none" strike="noStrike" cap="none">
              <a:solidFill>
                <a:schemeClr val="dk1"/>
              </a:solidFill>
              <a:latin typeface="Calibri"/>
              <a:ea typeface="Calibri"/>
              <a:cs typeface="Calibri"/>
              <a:sym typeface="Calibri"/>
            </a:endParaRPr>
          </a:p>
        </p:txBody>
      </p:sp>
      <p:sp>
        <p:nvSpPr>
          <p:cNvPr id="42" name="Google Shape;186;p5">
            <a:extLst>
              <a:ext uri="{FF2B5EF4-FFF2-40B4-BE49-F238E27FC236}">
                <a16:creationId xmlns:a16="http://schemas.microsoft.com/office/drawing/2014/main" id="{794D9AA1-1ECC-407C-2082-F4900C919C6A}"/>
              </a:ext>
            </a:extLst>
          </p:cNvPr>
          <p:cNvSpPr/>
          <p:nvPr/>
        </p:nvSpPr>
        <p:spPr>
          <a:xfrm>
            <a:off x="5987523" y="3275409"/>
            <a:ext cx="1107839" cy="321469"/>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74</a:t>
            </a:r>
            <a:endParaRPr sz="850" b="0" i="0" u="none" strike="noStrike" cap="none">
              <a:solidFill>
                <a:schemeClr val="dk1"/>
              </a:solidFill>
              <a:latin typeface="Calibri"/>
              <a:ea typeface="Calibri"/>
              <a:cs typeface="Calibri"/>
              <a:sym typeface="Calibri"/>
            </a:endParaRPr>
          </a:p>
        </p:txBody>
      </p:sp>
      <p:sp>
        <p:nvSpPr>
          <p:cNvPr id="43" name="Google Shape;187;p5">
            <a:extLst>
              <a:ext uri="{FF2B5EF4-FFF2-40B4-BE49-F238E27FC236}">
                <a16:creationId xmlns:a16="http://schemas.microsoft.com/office/drawing/2014/main" id="{5BB1382B-C8B4-B112-5253-410156A4F715}"/>
              </a:ext>
            </a:extLst>
          </p:cNvPr>
          <p:cNvSpPr/>
          <p:nvPr/>
        </p:nvSpPr>
        <p:spPr>
          <a:xfrm>
            <a:off x="7095362" y="3275409"/>
            <a:ext cx="1477138" cy="321469"/>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0</a:t>
            </a:r>
            <a:endParaRPr sz="850" b="0" i="0" u="none" strike="noStrike" cap="none">
              <a:solidFill>
                <a:schemeClr val="dk1"/>
              </a:solidFill>
              <a:latin typeface="Calibri"/>
              <a:ea typeface="Calibri"/>
              <a:cs typeface="Calibri"/>
              <a:sym typeface="Calibri"/>
            </a:endParaRPr>
          </a:p>
        </p:txBody>
      </p:sp>
      <p:sp>
        <p:nvSpPr>
          <p:cNvPr id="44" name="Google Shape;188;p5">
            <a:extLst>
              <a:ext uri="{FF2B5EF4-FFF2-40B4-BE49-F238E27FC236}">
                <a16:creationId xmlns:a16="http://schemas.microsoft.com/office/drawing/2014/main" id="{F16259E6-B0A5-CBCC-BEF1-32B9F36CF56B}"/>
              </a:ext>
            </a:extLst>
          </p:cNvPr>
          <p:cNvSpPr/>
          <p:nvPr/>
        </p:nvSpPr>
        <p:spPr>
          <a:xfrm>
            <a:off x="4714875" y="3596878"/>
            <a:ext cx="1272648" cy="321469"/>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Test</a:t>
            </a:r>
            <a:endParaRPr sz="850" b="0" i="0" u="none" strike="noStrike" cap="none">
              <a:solidFill>
                <a:schemeClr val="dk1"/>
              </a:solidFill>
              <a:latin typeface="Calibri"/>
              <a:ea typeface="Calibri"/>
              <a:cs typeface="Calibri"/>
              <a:sym typeface="Calibri"/>
            </a:endParaRPr>
          </a:p>
        </p:txBody>
      </p:sp>
      <p:sp>
        <p:nvSpPr>
          <p:cNvPr id="45" name="Google Shape;189;p5">
            <a:extLst>
              <a:ext uri="{FF2B5EF4-FFF2-40B4-BE49-F238E27FC236}">
                <a16:creationId xmlns:a16="http://schemas.microsoft.com/office/drawing/2014/main" id="{D3F01A7A-2959-C404-88C3-13A0A4279EFF}"/>
              </a:ext>
            </a:extLst>
          </p:cNvPr>
          <p:cNvSpPr/>
          <p:nvPr/>
        </p:nvSpPr>
        <p:spPr>
          <a:xfrm>
            <a:off x="5987523" y="3596878"/>
            <a:ext cx="1107839" cy="321469"/>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81</a:t>
            </a:r>
            <a:endParaRPr sz="850" b="0" i="0" u="none" strike="noStrike" cap="none">
              <a:solidFill>
                <a:schemeClr val="dk1"/>
              </a:solidFill>
              <a:latin typeface="Calibri"/>
              <a:ea typeface="Calibri"/>
              <a:cs typeface="Calibri"/>
              <a:sym typeface="Calibri"/>
            </a:endParaRPr>
          </a:p>
        </p:txBody>
      </p:sp>
      <p:sp>
        <p:nvSpPr>
          <p:cNvPr id="46" name="Google Shape;190;p5">
            <a:extLst>
              <a:ext uri="{FF2B5EF4-FFF2-40B4-BE49-F238E27FC236}">
                <a16:creationId xmlns:a16="http://schemas.microsoft.com/office/drawing/2014/main" id="{2901CBD4-EBA6-89DA-A181-3337C4C847E9}"/>
              </a:ext>
            </a:extLst>
          </p:cNvPr>
          <p:cNvSpPr/>
          <p:nvPr/>
        </p:nvSpPr>
        <p:spPr>
          <a:xfrm>
            <a:off x="7095362" y="3596878"/>
            <a:ext cx="1477138" cy="321469"/>
          </a:xfrm>
          <a:prstGeom prst="rect">
            <a:avLst/>
          </a:prstGeom>
          <a:noFill/>
          <a:ln>
            <a:noFill/>
          </a:ln>
        </p:spPr>
        <p:txBody>
          <a:bodyPr spcFirstLastPara="1" wrap="square" lIns="127500" tIns="85075" rIns="127500" bIns="85075" anchor="ctr" anchorCtr="0">
            <a:spAutoFit/>
          </a:bodyPr>
          <a:lstStyle/>
          <a:p>
            <a:pPr marL="0" marR="0" lvl="0" indent="0" algn="l" rtl="0">
              <a:lnSpc>
                <a:spcPct val="120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0</a:t>
            </a:r>
            <a:endParaRPr sz="850" b="0" i="0" u="none" strike="noStrike" cap="none">
              <a:solidFill>
                <a:schemeClr val="dk1"/>
              </a:solidFill>
              <a:latin typeface="Calibri"/>
              <a:ea typeface="Calibri"/>
              <a:cs typeface="Calibri"/>
              <a:sym typeface="Calibri"/>
            </a:endParaRPr>
          </a:p>
        </p:txBody>
      </p:sp>
      <p:sp>
        <p:nvSpPr>
          <p:cNvPr id="47" name="Google Shape;191;p5">
            <a:extLst>
              <a:ext uri="{FF2B5EF4-FFF2-40B4-BE49-F238E27FC236}">
                <a16:creationId xmlns:a16="http://schemas.microsoft.com/office/drawing/2014/main" id="{9F5C8CB8-4C91-4716-6457-B25BA346ED3E}"/>
              </a:ext>
            </a:extLst>
          </p:cNvPr>
          <p:cNvSpPr/>
          <p:nvPr/>
        </p:nvSpPr>
        <p:spPr>
          <a:xfrm>
            <a:off x="4822031" y="4009430"/>
            <a:ext cx="275034" cy="13751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00"/>
              <a:buFont typeface="Inter"/>
              <a:buNone/>
            </a:pPr>
            <a:r>
              <a:rPr lang="en-US" sz="800" b="1" i="0" u="none" strike="noStrike" cap="none">
                <a:solidFill>
                  <a:srgbClr val="2C3E50"/>
                </a:solidFill>
                <a:latin typeface="Inter"/>
                <a:ea typeface="Inter"/>
                <a:cs typeface="Inter"/>
                <a:sym typeface="Inter"/>
              </a:rPr>
              <a:t>Total</a:t>
            </a:r>
            <a:endParaRPr sz="800" b="0" i="0" u="none" strike="noStrike" cap="none">
              <a:solidFill>
                <a:schemeClr val="dk1"/>
              </a:solidFill>
              <a:latin typeface="Calibri"/>
              <a:ea typeface="Calibri"/>
              <a:cs typeface="Calibri"/>
              <a:sym typeface="Calibri"/>
            </a:endParaRPr>
          </a:p>
        </p:txBody>
      </p:sp>
      <p:sp>
        <p:nvSpPr>
          <p:cNvPr id="48" name="Google Shape;192;p5">
            <a:extLst>
              <a:ext uri="{FF2B5EF4-FFF2-40B4-BE49-F238E27FC236}">
                <a16:creationId xmlns:a16="http://schemas.microsoft.com/office/drawing/2014/main" id="{476C1BF2-4B5C-0189-47F5-6041DB6700D3}"/>
              </a:ext>
            </a:extLst>
          </p:cNvPr>
          <p:cNvSpPr/>
          <p:nvPr/>
        </p:nvSpPr>
        <p:spPr>
          <a:xfrm>
            <a:off x="6094679" y="4009430"/>
            <a:ext cx="223242" cy="13751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00"/>
              <a:buFont typeface="Inter"/>
              <a:buNone/>
            </a:pPr>
            <a:r>
              <a:rPr lang="en-US" sz="800" b="1" i="0" u="none" strike="noStrike" cap="none">
                <a:solidFill>
                  <a:srgbClr val="2C3E50"/>
                </a:solidFill>
                <a:latin typeface="Inter"/>
                <a:ea typeface="Inter"/>
                <a:cs typeface="Inter"/>
                <a:sym typeface="Inter"/>
              </a:rPr>
              <a:t>509</a:t>
            </a:r>
            <a:endParaRPr sz="800" b="0" i="0" u="none" strike="noStrike" cap="none">
              <a:solidFill>
                <a:schemeClr val="dk1"/>
              </a:solidFill>
              <a:latin typeface="Calibri"/>
              <a:ea typeface="Calibri"/>
              <a:cs typeface="Calibri"/>
              <a:sym typeface="Calibri"/>
            </a:endParaRPr>
          </a:p>
        </p:txBody>
      </p:sp>
      <p:sp>
        <p:nvSpPr>
          <p:cNvPr id="49" name="Google Shape;193;p5">
            <a:extLst>
              <a:ext uri="{FF2B5EF4-FFF2-40B4-BE49-F238E27FC236}">
                <a16:creationId xmlns:a16="http://schemas.microsoft.com/office/drawing/2014/main" id="{5D35F558-3132-CD46-3D3C-A452CFB0EEE9}"/>
              </a:ext>
            </a:extLst>
          </p:cNvPr>
          <p:cNvSpPr/>
          <p:nvPr/>
        </p:nvSpPr>
        <p:spPr>
          <a:xfrm>
            <a:off x="7202519" y="4009430"/>
            <a:ext cx="326827" cy="14773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00"/>
              <a:buFont typeface="Inter"/>
              <a:buNone/>
            </a:pPr>
            <a:r>
              <a:rPr lang="en-US" sz="800" b="1" i="0" u="none" strike="noStrike" cap="none" dirty="0">
                <a:solidFill>
                  <a:srgbClr val="2C3E50"/>
                </a:solidFill>
                <a:latin typeface="Inter"/>
                <a:ea typeface="Inter"/>
                <a:cs typeface="Inter"/>
                <a:sym typeface="Inter"/>
              </a:rPr>
              <a:t>2,124</a:t>
            </a:r>
            <a:endParaRPr sz="800" b="0" i="0" u="none" strike="noStrike" cap="none" dirty="0">
              <a:solidFill>
                <a:schemeClr val="dk1"/>
              </a:solidFill>
              <a:latin typeface="Calibri"/>
              <a:ea typeface="Calibri"/>
              <a:cs typeface="Calibri"/>
              <a:sym typeface="Calibri"/>
            </a:endParaRPr>
          </a:p>
        </p:txBody>
      </p:sp>
      <p:sp>
        <p:nvSpPr>
          <p:cNvPr id="9" name="Google Shape;151;p5">
            <a:extLst>
              <a:ext uri="{FF2B5EF4-FFF2-40B4-BE49-F238E27FC236}">
                <a16:creationId xmlns:a16="http://schemas.microsoft.com/office/drawing/2014/main" id="{E2161BDB-6EE8-E7CB-7E32-8C7AA257ABDD}"/>
              </a:ext>
            </a:extLst>
          </p:cNvPr>
          <p:cNvSpPr/>
          <p:nvPr/>
        </p:nvSpPr>
        <p:spPr>
          <a:xfrm>
            <a:off x="571500" y="1450181"/>
            <a:ext cx="3857625" cy="258532"/>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400"/>
              <a:buFont typeface="Inter"/>
              <a:buNone/>
            </a:pPr>
            <a:r>
              <a:rPr lang="en-US" sz="1400" b="1" i="0" u="none" strike="noStrike" cap="none" dirty="0">
                <a:solidFill>
                  <a:srgbClr val="2C3E50"/>
                </a:solidFill>
                <a:latin typeface="Inter"/>
                <a:ea typeface="Inter"/>
                <a:cs typeface="Inter"/>
                <a:sym typeface="Inter"/>
              </a:rPr>
              <a:t>Extracting data from </a:t>
            </a:r>
            <a:r>
              <a:rPr lang="en-US" sz="1400" b="1" i="0" u="none" strike="noStrike" cap="none" dirty="0" err="1">
                <a:solidFill>
                  <a:srgbClr val="2C3E50"/>
                </a:solidFill>
                <a:latin typeface="Inter"/>
                <a:ea typeface="Inter"/>
                <a:cs typeface="Inter"/>
                <a:sym typeface="Inter"/>
              </a:rPr>
              <a:t>xeno</a:t>
            </a:r>
            <a:r>
              <a:rPr lang="en-US" sz="1400" b="1" i="0" u="none" strike="noStrike" cap="none" dirty="0">
                <a:solidFill>
                  <a:srgbClr val="2C3E50"/>
                </a:solidFill>
                <a:latin typeface="Inter"/>
                <a:ea typeface="Inter"/>
                <a:cs typeface="Inter"/>
                <a:sym typeface="Inter"/>
              </a:rPr>
              <a:t>-canto </a:t>
            </a:r>
            <a:endParaRPr sz="1400" b="0" i="0" u="none" strike="noStrike" cap="none" dirty="0">
              <a:solidFill>
                <a:schemeClr val="dk1"/>
              </a:solidFill>
              <a:latin typeface="Calibri"/>
              <a:ea typeface="Calibri"/>
              <a:cs typeface="Calibri"/>
              <a:sym typeface="Calibri"/>
            </a:endParaRPr>
          </a:p>
        </p:txBody>
      </p:sp>
      <p:pic>
        <p:nvPicPr>
          <p:cNvPr id="51" name="Picture 50">
            <a:extLst>
              <a:ext uri="{FF2B5EF4-FFF2-40B4-BE49-F238E27FC236}">
                <a16:creationId xmlns:a16="http://schemas.microsoft.com/office/drawing/2014/main" id="{67AFF23E-5A5A-308C-1F63-27F103299C52}"/>
              </a:ext>
            </a:extLst>
          </p:cNvPr>
          <p:cNvPicPr>
            <a:picLocks noChangeAspect="1"/>
          </p:cNvPicPr>
          <p:nvPr/>
        </p:nvPicPr>
        <p:blipFill>
          <a:blip r:embed="rId10"/>
          <a:srcRect t="1045" b="1"/>
          <a:stretch>
            <a:fillRect/>
          </a:stretch>
        </p:blipFill>
        <p:spPr>
          <a:xfrm>
            <a:off x="574010" y="1780150"/>
            <a:ext cx="3250407" cy="2744896"/>
          </a:xfrm>
          <a:prstGeom prst="rect">
            <a:avLst/>
          </a:prstGeom>
        </p:spPr>
      </p:pic>
    </p:spTree>
    <p:extLst>
      <p:ext uri="{BB962C8B-B14F-4D97-AF65-F5344CB8AC3E}">
        <p14:creationId xmlns:p14="http://schemas.microsoft.com/office/powerpoint/2010/main" val="768611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982AA1-77F5-77E8-6A19-2E7BB4F5D627}"/>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147;p5">
            <a:extLst>
              <a:ext uri="{FF2B5EF4-FFF2-40B4-BE49-F238E27FC236}">
                <a16:creationId xmlns:a16="http://schemas.microsoft.com/office/drawing/2014/main" id="{212F8E47-3004-69C1-9EFB-5AB8F579B27B}"/>
              </a:ext>
            </a:extLst>
          </p:cNvPr>
          <p:cNvSpPr/>
          <p:nvPr/>
        </p:nvSpPr>
        <p:spPr>
          <a:xfrm>
            <a:off x="571500" y="428625"/>
            <a:ext cx="8001000" cy="550069"/>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48;p5">
            <a:extLst>
              <a:ext uri="{FF2B5EF4-FFF2-40B4-BE49-F238E27FC236}">
                <a16:creationId xmlns:a16="http://schemas.microsoft.com/office/drawing/2014/main" id="{2324614F-DAAA-BEB4-BB2B-A1D799D41AF9}"/>
              </a:ext>
            </a:extLst>
          </p:cNvPr>
          <p:cNvSpPr/>
          <p:nvPr/>
        </p:nvSpPr>
        <p:spPr>
          <a:xfrm>
            <a:off x="571500" y="950119"/>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49;p5">
            <a:extLst>
              <a:ext uri="{FF2B5EF4-FFF2-40B4-BE49-F238E27FC236}">
                <a16:creationId xmlns:a16="http://schemas.microsoft.com/office/drawing/2014/main" id="{93D4FF83-F9DD-1E72-5CAF-D2D5C8C65FF1}"/>
              </a:ext>
            </a:extLst>
          </p:cNvPr>
          <p:cNvSpPr/>
          <p:nvPr/>
        </p:nvSpPr>
        <p:spPr>
          <a:xfrm>
            <a:off x="571500" y="428625"/>
            <a:ext cx="8001000" cy="550069"/>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100"/>
              <a:buFont typeface="Inter"/>
              <a:buNone/>
            </a:pPr>
            <a:r>
              <a:rPr lang="en-US" sz="2100" b="1" i="0" u="none" strike="noStrike" cap="none">
                <a:solidFill>
                  <a:srgbClr val="2C3E50"/>
                </a:solidFill>
                <a:latin typeface="Inter"/>
                <a:ea typeface="Inter"/>
                <a:cs typeface="Inter"/>
                <a:sym typeface="Inter"/>
              </a:rPr>
              <a:t>Transfer Learning &amp; Data Strategy</a:t>
            </a:r>
            <a:endParaRPr sz="2100" b="0" i="0" u="none" strike="noStrike" cap="none">
              <a:solidFill>
                <a:schemeClr val="dk1"/>
              </a:solidFill>
              <a:latin typeface="Calibri"/>
              <a:ea typeface="Calibri"/>
              <a:cs typeface="Calibri"/>
              <a:sym typeface="Calibri"/>
            </a:endParaRPr>
          </a:p>
        </p:txBody>
      </p:sp>
      <p:sp>
        <p:nvSpPr>
          <p:cNvPr id="6" name="Google Shape;150;p5">
            <a:extLst>
              <a:ext uri="{FF2B5EF4-FFF2-40B4-BE49-F238E27FC236}">
                <a16:creationId xmlns:a16="http://schemas.microsoft.com/office/drawing/2014/main" id="{4CAB8791-DA4C-5DA5-7ED7-142D68F12A26}"/>
              </a:ext>
            </a:extLst>
          </p:cNvPr>
          <p:cNvSpPr/>
          <p:nvPr/>
        </p:nvSpPr>
        <p:spPr>
          <a:xfrm>
            <a:off x="571500" y="1164431"/>
            <a:ext cx="3857625"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1000"/>
              <a:buFont typeface="Inter"/>
              <a:buNone/>
            </a:pPr>
            <a:r>
              <a:rPr lang="en-US" sz="1000" b="1" i="0" u="none" strike="noStrike" cap="none">
                <a:solidFill>
                  <a:srgbClr val="E67E22"/>
                </a:solidFill>
                <a:latin typeface="Inter"/>
                <a:ea typeface="Inter"/>
                <a:cs typeface="Inter"/>
                <a:sym typeface="Inter"/>
              </a:rPr>
              <a:t>PHASE 1: CLASSIFICATION</a:t>
            </a:r>
            <a:endParaRPr sz="1000" b="0" i="0" u="none" strike="noStrike" cap="none">
              <a:solidFill>
                <a:schemeClr val="dk1"/>
              </a:solidFill>
              <a:latin typeface="Calibri"/>
              <a:ea typeface="Calibri"/>
              <a:cs typeface="Calibri"/>
              <a:sym typeface="Calibri"/>
            </a:endParaRPr>
          </a:p>
        </p:txBody>
      </p:sp>
      <p:sp>
        <p:nvSpPr>
          <p:cNvPr id="7" name="Google Shape;151;p5">
            <a:extLst>
              <a:ext uri="{FF2B5EF4-FFF2-40B4-BE49-F238E27FC236}">
                <a16:creationId xmlns:a16="http://schemas.microsoft.com/office/drawing/2014/main" id="{8BB92559-65EA-97C2-EC63-FCB8734C9411}"/>
              </a:ext>
            </a:extLst>
          </p:cNvPr>
          <p:cNvSpPr/>
          <p:nvPr/>
        </p:nvSpPr>
        <p:spPr>
          <a:xfrm>
            <a:off x="571500" y="1450181"/>
            <a:ext cx="3857625" cy="30003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400"/>
              <a:buFont typeface="Inter"/>
              <a:buNone/>
            </a:pPr>
            <a:r>
              <a:rPr lang="en-US" sz="1400" b="1" i="0" u="none" strike="noStrike" cap="none" dirty="0">
                <a:solidFill>
                  <a:srgbClr val="2C3E50"/>
                </a:solidFill>
                <a:latin typeface="Inter"/>
                <a:ea typeface="Inter"/>
                <a:cs typeface="Inter"/>
                <a:sym typeface="Inter"/>
              </a:rPr>
              <a:t>Adapting Global Embeddings</a:t>
            </a:r>
            <a:endParaRPr sz="1400" b="0" i="0" u="none" strike="noStrike" cap="none" dirty="0">
              <a:solidFill>
                <a:schemeClr val="dk1"/>
              </a:solidFill>
              <a:latin typeface="Calibri"/>
              <a:ea typeface="Calibri"/>
              <a:cs typeface="Calibri"/>
              <a:sym typeface="Calibri"/>
            </a:endParaRPr>
          </a:p>
        </p:txBody>
      </p:sp>
      <p:sp>
        <p:nvSpPr>
          <p:cNvPr id="8" name="Google Shape;152;p5">
            <a:extLst>
              <a:ext uri="{FF2B5EF4-FFF2-40B4-BE49-F238E27FC236}">
                <a16:creationId xmlns:a16="http://schemas.microsoft.com/office/drawing/2014/main" id="{73178AB2-5C3E-152C-D921-F7C960D51C2E}"/>
              </a:ext>
            </a:extLst>
          </p:cNvPr>
          <p:cNvSpPr/>
          <p:nvPr/>
        </p:nvSpPr>
        <p:spPr>
          <a:xfrm>
            <a:off x="571499" y="1750219"/>
            <a:ext cx="7025641" cy="3508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50"/>
              <a:buFont typeface="Inter"/>
              <a:buNone/>
            </a:pPr>
            <a:r>
              <a:rPr lang="en-US" sz="950" b="0" i="0" u="none" strike="noStrike" cap="none" dirty="0">
                <a:solidFill>
                  <a:srgbClr val="2C3E50"/>
                </a:solidFill>
                <a:latin typeface="Inter"/>
                <a:ea typeface="Inter"/>
                <a:cs typeface="Inter"/>
                <a:sym typeface="Inter"/>
              </a:rPr>
              <a:t>Leveraging </a:t>
            </a:r>
            <a:r>
              <a:rPr lang="en-US" sz="900" b="1" i="0" u="none" strike="noStrike" cap="none" dirty="0" err="1">
                <a:solidFill>
                  <a:srgbClr val="2C3E50"/>
                </a:solidFill>
                <a:latin typeface="Inter"/>
                <a:ea typeface="Inter"/>
                <a:cs typeface="Inter"/>
                <a:sym typeface="Inter"/>
              </a:rPr>
              <a:t>BirdNET</a:t>
            </a:r>
            <a:r>
              <a:rPr lang="en-US" sz="900" b="1" i="0" u="none" strike="noStrike" cap="none" dirty="0">
                <a:solidFill>
                  <a:srgbClr val="2C3E50"/>
                </a:solidFill>
                <a:latin typeface="Inter"/>
                <a:ea typeface="Inter"/>
                <a:cs typeface="Inter"/>
                <a:sym typeface="Inter"/>
              </a:rPr>
              <a:t> V2.4</a:t>
            </a:r>
            <a:r>
              <a:rPr lang="en-US" sz="950" b="0" i="0" u="none" strike="noStrike" cap="none" dirty="0">
                <a:solidFill>
                  <a:srgbClr val="2C3E50"/>
                </a:solidFill>
                <a:latin typeface="Inter"/>
                <a:ea typeface="Inter"/>
                <a:cs typeface="Inter"/>
                <a:sym typeface="Inter"/>
              </a:rPr>
              <a:t> as a frozen feature extractor to overcome regional data scarcity. This approach utilizes high-level acoustic patterns learned from 6,000+ global species.</a:t>
            </a:r>
            <a:endParaRPr sz="950" b="0" i="0" u="none" strike="noStrike" cap="none" dirty="0">
              <a:solidFill>
                <a:schemeClr val="dk1"/>
              </a:solidFill>
              <a:latin typeface="Calibri"/>
              <a:ea typeface="Calibri"/>
              <a:cs typeface="Calibri"/>
              <a:sym typeface="Calibri"/>
            </a:endParaRPr>
          </a:p>
        </p:txBody>
      </p:sp>
      <p:pic>
        <p:nvPicPr>
          <p:cNvPr id="61" name="Picture 60" descr="horizontal_pipeline.png">
            <a:extLst>
              <a:ext uri="{FF2B5EF4-FFF2-40B4-BE49-F238E27FC236}">
                <a16:creationId xmlns:a16="http://schemas.microsoft.com/office/drawing/2014/main" id="{E3D335B2-2D22-C040-5B97-F78ABA5A509A}"/>
              </a:ext>
            </a:extLst>
          </p:cNvPr>
          <p:cNvPicPr>
            <a:picLocks noChangeAspect="1"/>
          </p:cNvPicPr>
          <p:nvPr/>
        </p:nvPicPr>
        <p:blipFill>
          <a:blip r:embed="rId3"/>
          <a:stretch>
            <a:fillRect/>
          </a:stretch>
        </p:blipFill>
        <p:spPr>
          <a:xfrm>
            <a:off x="571499" y="2163803"/>
            <a:ext cx="7363491" cy="2613282"/>
          </a:xfrm>
          <a:prstGeom prst="rect">
            <a:avLst/>
          </a:prstGeom>
        </p:spPr>
      </p:pic>
    </p:spTree>
    <p:extLst>
      <p:ext uri="{BB962C8B-B14F-4D97-AF65-F5344CB8AC3E}">
        <p14:creationId xmlns:p14="http://schemas.microsoft.com/office/powerpoint/2010/main" val="2966232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0E886E8-E003-4BE3-7A23-ECA6FAE8C07B}"/>
              </a:ext>
            </a:extLst>
          </p:cNvPr>
          <p:cNvSpPr>
            <a:spLocks noGrp="1"/>
          </p:cNvSpPr>
          <p:nvPr>
            <p:ph type="ftr" sz="quarter" idx="11"/>
          </p:nvPr>
        </p:nvSpPr>
        <p:spPr/>
        <p:txBody>
          <a:bodyPr/>
          <a:lstStyle/>
          <a:p>
            <a:r>
              <a:rPr lang="en-US" sz="900"/>
              <a:t>College of Computing and Data Science</a:t>
            </a:r>
            <a:endParaRPr lang="en-US" sz="900" dirty="0"/>
          </a:p>
        </p:txBody>
      </p:sp>
      <p:pic>
        <p:nvPicPr>
          <p:cNvPr id="6" name="Picture 5">
            <a:extLst>
              <a:ext uri="{FF2B5EF4-FFF2-40B4-BE49-F238E27FC236}">
                <a16:creationId xmlns:a16="http://schemas.microsoft.com/office/drawing/2014/main" id="{EC7C5473-3A1D-A9E8-0FFC-B4BF9E8FC65D}"/>
              </a:ext>
            </a:extLst>
          </p:cNvPr>
          <p:cNvPicPr>
            <a:picLocks noChangeAspect="1"/>
          </p:cNvPicPr>
          <p:nvPr/>
        </p:nvPicPr>
        <p:blipFill>
          <a:blip r:embed="rId3"/>
          <a:stretch>
            <a:fillRect/>
          </a:stretch>
        </p:blipFill>
        <p:spPr>
          <a:xfrm>
            <a:off x="2690707" y="487012"/>
            <a:ext cx="3762585" cy="3747830"/>
          </a:xfrm>
          <a:prstGeom prst="rect">
            <a:avLst/>
          </a:prstGeom>
        </p:spPr>
      </p:pic>
    </p:spTree>
    <p:extLst>
      <p:ext uri="{BB962C8B-B14F-4D97-AF65-F5344CB8AC3E}">
        <p14:creationId xmlns:p14="http://schemas.microsoft.com/office/powerpoint/2010/main" val="2009328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DA12F84-4190-CF96-1DCB-F8FC807ACFB3}"/>
              </a:ext>
            </a:extLst>
          </p:cNvPr>
          <p:cNvSpPr>
            <a:spLocks noGrp="1"/>
          </p:cNvSpPr>
          <p:nvPr>
            <p:ph type="ftr" sz="quarter" idx="11"/>
          </p:nvPr>
        </p:nvSpPr>
        <p:spPr/>
        <p:txBody>
          <a:bodyPr/>
          <a:lstStyle/>
          <a:p>
            <a:r>
              <a:rPr lang="en-US" sz="900"/>
              <a:t>College of Computing and Data Science</a:t>
            </a:r>
            <a:endParaRPr lang="en-US" sz="900" dirty="0"/>
          </a:p>
        </p:txBody>
      </p:sp>
      <p:pic>
        <p:nvPicPr>
          <p:cNvPr id="4" name="Picture 3">
            <a:extLst>
              <a:ext uri="{FF2B5EF4-FFF2-40B4-BE49-F238E27FC236}">
                <a16:creationId xmlns:a16="http://schemas.microsoft.com/office/drawing/2014/main" id="{3A813AF4-A3B1-8AB5-AFD9-3A5921F37A20}"/>
              </a:ext>
            </a:extLst>
          </p:cNvPr>
          <p:cNvPicPr>
            <a:picLocks noChangeAspect="1"/>
          </p:cNvPicPr>
          <p:nvPr/>
        </p:nvPicPr>
        <p:blipFill>
          <a:blip r:embed="rId2"/>
          <a:stretch>
            <a:fillRect/>
          </a:stretch>
        </p:blipFill>
        <p:spPr>
          <a:xfrm>
            <a:off x="555171" y="547006"/>
            <a:ext cx="7772400" cy="3886200"/>
          </a:xfrm>
          <a:prstGeom prst="rect">
            <a:avLst/>
          </a:prstGeom>
        </p:spPr>
      </p:pic>
    </p:spTree>
    <p:extLst>
      <p:ext uri="{BB962C8B-B14F-4D97-AF65-F5344CB8AC3E}">
        <p14:creationId xmlns:p14="http://schemas.microsoft.com/office/powerpoint/2010/main" val="2037975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E8DDD31-6647-29E6-CB4D-0DDF4AAAC939}"/>
              </a:ext>
            </a:extLst>
          </p:cNvPr>
          <p:cNvSpPr>
            <a:spLocks noGrp="1"/>
          </p:cNvSpPr>
          <p:nvPr>
            <p:ph type="ftr" sz="quarter" idx="11"/>
          </p:nvPr>
        </p:nvSpPr>
        <p:spPr/>
        <p:txBody>
          <a:bodyPr/>
          <a:lstStyle/>
          <a:p>
            <a:r>
              <a:rPr lang="en-US" sz="900"/>
              <a:t>College of Computing and Data Science</a:t>
            </a:r>
            <a:endParaRPr lang="en-US" sz="900" dirty="0"/>
          </a:p>
        </p:txBody>
      </p:sp>
      <p:sp>
        <p:nvSpPr>
          <p:cNvPr id="7" name="Google Shape;200;p6">
            <a:extLst>
              <a:ext uri="{FF2B5EF4-FFF2-40B4-BE49-F238E27FC236}">
                <a16:creationId xmlns:a16="http://schemas.microsoft.com/office/drawing/2014/main" id="{C792FF04-5139-4F97-849C-B3C724CE2075}"/>
              </a:ext>
            </a:extLst>
          </p:cNvPr>
          <p:cNvSpPr/>
          <p:nvPr/>
        </p:nvSpPr>
        <p:spPr>
          <a:xfrm>
            <a:off x="571500" y="428625"/>
            <a:ext cx="8001000" cy="614363"/>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01;p6">
            <a:extLst>
              <a:ext uri="{FF2B5EF4-FFF2-40B4-BE49-F238E27FC236}">
                <a16:creationId xmlns:a16="http://schemas.microsoft.com/office/drawing/2014/main" id="{57B72939-33D6-8524-47DC-E0E7F163FB6B}"/>
              </a:ext>
            </a:extLst>
          </p:cNvPr>
          <p:cNvSpPr/>
          <p:nvPr/>
        </p:nvSpPr>
        <p:spPr>
          <a:xfrm>
            <a:off x="571500" y="1014413"/>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02;p6">
            <a:extLst>
              <a:ext uri="{FF2B5EF4-FFF2-40B4-BE49-F238E27FC236}">
                <a16:creationId xmlns:a16="http://schemas.microsoft.com/office/drawing/2014/main" id="{C518650D-A520-D672-9FC2-F84B90FF6EF0}"/>
              </a:ext>
            </a:extLst>
          </p:cNvPr>
          <p:cNvSpPr/>
          <p:nvPr/>
        </p:nvSpPr>
        <p:spPr>
          <a:xfrm>
            <a:off x="571500" y="428625"/>
            <a:ext cx="8001000" cy="614363"/>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Fine-Tuning Nearly Doubles Accuracy</a:t>
            </a:r>
            <a:endParaRPr sz="2450" b="0" i="0" u="none" strike="noStrike" cap="none">
              <a:solidFill>
                <a:schemeClr val="dk1"/>
              </a:solidFill>
              <a:latin typeface="Calibri"/>
              <a:ea typeface="Calibri"/>
              <a:cs typeface="Calibri"/>
              <a:sym typeface="Calibri"/>
            </a:endParaRPr>
          </a:p>
        </p:txBody>
      </p:sp>
      <p:sp>
        <p:nvSpPr>
          <p:cNvPr id="10" name="Google Shape;203;p6">
            <a:extLst>
              <a:ext uri="{FF2B5EF4-FFF2-40B4-BE49-F238E27FC236}">
                <a16:creationId xmlns:a16="http://schemas.microsoft.com/office/drawing/2014/main" id="{0A06D91C-1EC9-8164-F1E6-F5C27EFC9D46}"/>
              </a:ext>
            </a:extLst>
          </p:cNvPr>
          <p:cNvSpPr/>
          <p:nvPr/>
        </p:nvSpPr>
        <p:spPr>
          <a:xfrm>
            <a:off x="571500" y="1300163"/>
            <a:ext cx="3857625"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1000"/>
              <a:buFont typeface="Inter"/>
              <a:buNone/>
            </a:pPr>
            <a:r>
              <a:rPr lang="en-US" sz="1000" b="1" i="0" u="none" strike="noStrike" cap="none">
                <a:solidFill>
                  <a:srgbClr val="E67E22"/>
                </a:solidFill>
                <a:latin typeface="Inter"/>
                <a:ea typeface="Inter"/>
                <a:cs typeface="Inter"/>
                <a:sym typeface="Inter"/>
              </a:rPr>
              <a:t>PERFORMANCE GAIN</a:t>
            </a:r>
            <a:endParaRPr sz="1000" b="0" i="0" u="none" strike="noStrike" cap="none">
              <a:solidFill>
                <a:schemeClr val="dk1"/>
              </a:solidFill>
              <a:latin typeface="Calibri"/>
              <a:ea typeface="Calibri"/>
              <a:cs typeface="Calibri"/>
              <a:sym typeface="Calibri"/>
            </a:endParaRPr>
          </a:p>
        </p:txBody>
      </p:sp>
      <p:sp>
        <p:nvSpPr>
          <p:cNvPr id="11" name="Google Shape;204;p6">
            <a:extLst>
              <a:ext uri="{FF2B5EF4-FFF2-40B4-BE49-F238E27FC236}">
                <a16:creationId xmlns:a16="http://schemas.microsoft.com/office/drawing/2014/main" id="{B4A7129C-98BC-DFB7-B4A2-422825080C54}"/>
              </a:ext>
            </a:extLst>
          </p:cNvPr>
          <p:cNvSpPr/>
          <p:nvPr/>
        </p:nvSpPr>
        <p:spPr>
          <a:xfrm>
            <a:off x="571500" y="1550194"/>
            <a:ext cx="3857625" cy="342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600"/>
              <a:buFont typeface="Inter"/>
              <a:buNone/>
            </a:pPr>
            <a:r>
              <a:rPr lang="en-US" sz="1600" b="1" i="0" u="none" strike="noStrike" cap="none">
                <a:solidFill>
                  <a:srgbClr val="2C3E50"/>
                </a:solidFill>
                <a:latin typeface="Inter"/>
                <a:ea typeface="Inter"/>
                <a:cs typeface="Inter"/>
                <a:sym typeface="Inter"/>
              </a:rPr>
              <a:t>32.1% → 63.0%</a:t>
            </a:r>
            <a:endParaRPr sz="1600" b="0" i="0" u="none" strike="noStrike" cap="none">
              <a:solidFill>
                <a:schemeClr val="dk1"/>
              </a:solidFill>
              <a:latin typeface="Calibri"/>
              <a:ea typeface="Calibri"/>
              <a:cs typeface="Calibri"/>
              <a:sym typeface="Calibri"/>
            </a:endParaRPr>
          </a:p>
        </p:txBody>
      </p:sp>
      <p:sp>
        <p:nvSpPr>
          <p:cNvPr id="12" name="Google Shape;205;p6">
            <a:extLst>
              <a:ext uri="{FF2B5EF4-FFF2-40B4-BE49-F238E27FC236}">
                <a16:creationId xmlns:a16="http://schemas.microsoft.com/office/drawing/2014/main" id="{48C4F98A-DDA7-25E4-1421-7FE1D4DC4377}"/>
              </a:ext>
            </a:extLst>
          </p:cNvPr>
          <p:cNvSpPr/>
          <p:nvPr/>
        </p:nvSpPr>
        <p:spPr>
          <a:xfrm>
            <a:off x="571500" y="1978819"/>
            <a:ext cx="3857625" cy="5786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50"/>
              <a:buFont typeface="Inter"/>
              <a:buNone/>
            </a:pPr>
            <a:r>
              <a:rPr lang="en-US" sz="950" b="0" i="0" u="none" strike="noStrike" cap="none">
                <a:solidFill>
                  <a:srgbClr val="2C3E50"/>
                </a:solidFill>
                <a:latin typeface="Inter"/>
                <a:ea typeface="Inter"/>
                <a:cs typeface="Inter"/>
                <a:sym typeface="Inter"/>
              </a:rPr>
              <a:t>Regional adaptation through feature-based transfer learning demonstrates a substantial improvement in identifying Singapore's garden birds.</a:t>
            </a:r>
            <a:endParaRPr sz="950" b="0" i="0" u="none" strike="noStrike" cap="none">
              <a:solidFill>
                <a:schemeClr val="dk1"/>
              </a:solidFill>
              <a:latin typeface="Calibri"/>
              <a:ea typeface="Calibri"/>
              <a:cs typeface="Calibri"/>
              <a:sym typeface="Calibri"/>
            </a:endParaRPr>
          </a:p>
        </p:txBody>
      </p:sp>
      <p:pic>
        <p:nvPicPr>
          <p:cNvPr id="13" name="Google Shape;206;p6" descr="preencoded.png">
            <a:extLst>
              <a:ext uri="{FF2B5EF4-FFF2-40B4-BE49-F238E27FC236}">
                <a16:creationId xmlns:a16="http://schemas.microsoft.com/office/drawing/2014/main" id="{7A69D2E8-B9DC-1CB0-7BD2-42DD461B5510}"/>
              </a:ext>
            </a:extLst>
          </p:cNvPr>
          <p:cNvPicPr preferRelativeResize="0"/>
          <p:nvPr/>
        </p:nvPicPr>
        <p:blipFill rotWithShape="1">
          <a:blip r:embed="rId3">
            <a:alphaModFix/>
          </a:blip>
          <a:srcRect/>
          <a:stretch/>
        </p:blipFill>
        <p:spPr>
          <a:xfrm>
            <a:off x="571500" y="2755702"/>
            <a:ext cx="171450" cy="171450"/>
          </a:xfrm>
          <a:prstGeom prst="rect">
            <a:avLst/>
          </a:prstGeom>
          <a:noFill/>
          <a:ln>
            <a:noFill/>
          </a:ln>
        </p:spPr>
      </p:pic>
      <p:sp>
        <p:nvSpPr>
          <p:cNvPr id="14" name="Google Shape;207;p6">
            <a:extLst>
              <a:ext uri="{FF2B5EF4-FFF2-40B4-BE49-F238E27FC236}">
                <a16:creationId xmlns:a16="http://schemas.microsoft.com/office/drawing/2014/main" id="{5B37C5D6-037A-BC82-8496-47C213361352}"/>
              </a:ext>
            </a:extLst>
          </p:cNvPr>
          <p:cNvSpPr/>
          <p:nvPr/>
        </p:nvSpPr>
        <p:spPr>
          <a:xfrm>
            <a:off x="850106" y="2700338"/>
            <a:ext cx="3579019" cy="385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Absolute Gain:</a:t>
            </a:r>
            <a:r>
              <a:rPr lang="en-US" sz="950" b="0" i="0" u="none" strike="noStrike" cap="none">
                <a:solidFill>
                  <a:srgbClr val="2C3E50"/>
                </a:solidFill>
                <a:latin typeface="Inter"/>
                <a:ea typeface="Inter"/>
                <a:cs typeface="Inter"/>
                <a:sym typeface="Inter"/>
              </a:rPr>
              <a:t> 30.9 percentage point increase in overall classification accuracy.</a:t>
            </a:r>
            <a:endParaRPr sz="900" b="0" i="0" u="none" strike="noStrike" cap="none">
              <a:solidFill>
                <a:schemeClr val="dk1"/>
              </a:solidFill>
              <a:latin typeface="Calibri"/>
              <a:ea typeface="Calibri"/>
              <a:cs typeface="Calibri"/>
              <a:sym typeface="Calibri"/>
            </a:endParaRPr>
          </a:p>
        </p:txBody>
      </p:sp>
      <p:pic>
        <p:nvPicPr>
          <p:cNvPr id="15" name="Google Shape;208;p6" descr="preencoded.png">
            <a:extLst>
              <a:ext uri="{FF2B5EF4-FFF2-40B4-BE49-F238E27FC236}">
                <a16:creationId xmlns:a16="http://schemas.microsoft.com/office/drawing/2014/main" id="{1B43437F-5898-1934-5CA7-250D0B5AA236}"/>
              </a:ext>
            </a:extLst>
          </p:cNvPr>
          <p:cNvPicPr preferRelativeResize="0"/>
          <p:nvPr/>
        </p:nvPicPr>
        <p:blipFill rotWithShape="1">
          <a:blip r:embed="rId4">
            <a:alphaModFix/>
          </a:blip>
          <a:srcRect/>
          <a:stretch/>
        </p:blipFill>
        <p:spPr>
          <a:xfrm>
            <a:off x="571500" y="3227189"/>
            <a:ext cx="171450" cy="171450"/>
          </a:xfrm>
          <a:prstGeom prst="rect">
            <a:avLst/>
          </a:prstGeom>
          <a:noFill/>
          <a:ln>
            <a:noFill/>
          </a:ln>
        </p:spPr>
      </p:pic>
      <p:sp>
        <p:nvSpPr>
          <p:cNvPr id="16" name="Google Shape;209;p6">
            <a:extLst>
              <a:ext uri="{FF2B5EF4-FFF2-40B4-BE49-F238E27FC236}">
                <a16:creationId xmlns:a16="http://schemas.microsoft.com/office/drawing/2014/main" id="{0ECD9349-4E95-9100-CC85-B8019E4A7036}"/>
              </a:ext>
            </a:extLst>
          </p:cNvPr>
          <p:cNvSpPr/>
          <p:nvPr/>
        </p:nvSpPr>
        <p:spPr>
          <a:xfrm>
            <a:off x="850106" y="3171825"/>
            <a:ext cx="3579019" cy="385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Species Coverage:</a:t>
            </a:r>
            <a:r>
              <a:rPr lang="en-US" sz="950" b="0" i="0" u="none" strike="noStrike" cap="none">
                <a:solidFill>
                  <a:srgbClr val="2C3E50"/>
                </a:solidFill>
                <a:latin typeface="Inter"/>
                <a:ea typeface="Inter"/>
                <a:cs typeface="Inter"/>
                <a:sym typeface="Inter"/>
              </a:rPr>
              <a:t> 18 out of 27 species showed improved recognition; many rose from 0% to &gt;50%.</a:t>
            </a:r>
            <a:endParaRPr sz="900" b="0" i="0" u="none" strike="noStrike" cap="none">
              <a:solidFill>
                <a:schemeClr val="dk1"/>
              </a:solidFill>
              <a:latin typeface="Calibri"/>
              <a:ea typeface="Calibri"/>
              <a:cs typeface="Calibri"/>
              <a:sym typeface="Calibri"/>
            </a:endParaRPr>
          </a:p>
        </p:txBody>
      </p:sp>
      <p:pic>
        <p:nvPicPr>
          <p:cNvPr id="17" name="Google Shape;210;p6" descr="preencoded.png">
            <a:extLst>
              <a:ext uri="{FF2B5EF4-FFF2-40B4-BE49-F238E27FC236}">
                <a16:creationId xmlns:a16="http://schemas.microsoft.com/office/drawing/2014/main" id="{E58BD910-A1AE-0388-A179-ED7C0C941A7E}"/>
              </a:ext>
            </a:extLst>
          </p:cNvPr>
          <p:cNvPicPr preferRelativeResize="0"/>
          <p:nvPr/>
        </p:nvPicPr>
        <p:blipFill rotWithShape="1">
          <a:blip r:embed="rId5">
            <a:alphaModFix/>
          </a:blip>
          <a:srcRect/>
          <a:stretch/>
        </p:blipFill>
        <p:spPr>
          <a:xfrm>
            <a:off x="571500" y="3698677"/>
            <a:ext cx="171450" cy="171450"/>
          </a:xfrm>
          <a:prstGeom prst="rect">
            <a:avLst/>
          </a:prstGeom>
          <a:noFill/>
          <a:ln>
            <a:noFill/>
          </a:ln>
        </p:spPr>
      </p:pic>
      <p:sp>
        <p:nvSpPr>
          <p:cNvPr id="18" name="Google Shape;211;p6">
            <a:extLst>
              <a:ext uri="{FF2B5EF4-FFF2-40B4-BE49-F238E27FC236}">
                <a16:creationId xmlns:a16="http://schemas.microsoft.com/office/drawing/2014/main" id="{83B953E5-921C-9218-CB08-F93C7BDCB1EF}"/>
              </a:ext>
            </a:extLst>
          </p:cNvPr>
          <p:cNvSpPr/>
          <p:nvPr/>
        </p:nvSpPr>
        <p:spPr>
          <a:xfrm>
            <a:off x="850106" y="3643313"/>
            <a:ext cx="3579019" cy="385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Robustness:</a:t>
            </a:r>
            <a:r>
              <a:rPr lang="en-US" sz="950" b="0" i="0" u="none" strike="noStrike" cap="none">
                <a:solidFill>
                  <a:srgbClr val="2C3E50"/>
                </a:solidFill>
                <a:latin typeface="Inter"/>
                <a:ea typeface="Inter"/>
                <a:cs typeface="Inter"/>
                <a:sym typeface="Inter"/>
              </a:rPr>
              <a:t> 5-fold cross-validation confirmed stable performance (Mean: 62.7%, SD: 6.3%).</a:t>
            </a:r>
            <a:endParaRPr sz="900" b="0" i="0" u="none" strike="noStrike" cap="none">
              <a:solidFill>
                <a:schemeClr val="dk1"/>
              </a:solidFill>
              <a:latin typeface="Calibri"/>
              <a:ea typeface="Calibri"/>
              <a:cs typeface="Calibri"/>
              <a:sym typeface="Calibri"/>
            </a:endParaRPr>
          </a:p>
        </p:txBody>
      </p:sp>
      <p:sp>
        <p:nvSpPr>
          <p:cNvPr id="19" name="Google Shape;212;p6">
            <a:extLst>
              <a:ext uri="{FF2B5EF4-FFF2-40B4-BE49-F238E27FC236}">
                <a16:creationId xmlns:a16="http://schemas.microsoft.com/office/drawing/2014/main" id="{CD599069-E07D-BCD8-7264-22CBE8721E4D}"/>
              </a:ext>
            </a:extLst>
          </p:cNvPr>
          <p:cNvSpPr/>
          <p:nvPr/>
        </p:nvSpPr>
        <p:spPr>
          <a:xfrm>
            <a:off x="4714875" y="1300163"/>
            <a:ext cx="3857625" cy="2143125"/>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oogle Shape;213;p6" descr="preencoded.png">
            <a:extLst>
              <a:ext uri="{FF2B5EF4-FFF2-40B4-BE49-F238E27FC236}">
                <a16:creationId xmlns:a16="http://schemas.microsoft.com/office/drawing/2014/main" id="{590AA93E-8237-E05C-1E9F-3D510D3AC2DE}"/>
              </a:ext>
            </a:extLst>
          </p:cNvPr>
          <p:cNvPicPr preferRelativeResize="0"/>
          <p:nvPr/>
        </p:nvPicPr>
        <p:blipFill rotWithShape="1">
          <a:blip r:embed="rId6">
            <a:alphaModFix/>
          </a:blip>
          <a:srcRect/>
          <a:stretch/>
        </p:blipFill>
        <p:spPr>
          <a:xfrm>
            <a:off x="4857750" y="1443038"/>
            <a:ext cx="3571875" cy="1857375"/>
          </a:xfrm>
          <a:prstGeom prst="rect">
            <a:avLst/>
          </a:prstGeom>
          <a:noFill/>
          <a:ln>
            <a:noFill/>
          </a:ln>
        </p:spPr>
      </p:pic>
      <p:sp>
        <p:nvSpPr>
          <p:cNvPr id="22" name="Google Shape;215;p6">
            <a:extLst>
              <a:ext uri="{FF2B5EF4-FFF2-40B4-BE49-F238E27FC236}">
                <a16:creationId xmlns:a16="http://schemas.microsoft.com/office/drawing/2014/main" id="{5BF2DF14-8804-67A3-8882-BC44AAF1EAF5}"/>
              </a:ext>
            </a:extLst>
          </p:cNvPr>
          <p:cNvSpPr/>
          <p:nvPr/>
        </p:nvSpPr>
        <p:spPr>
          <a:xfrm>
            <a:off x="4800600" y="3614738"/>
            <a:ext cx="3686175" cy="2143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FFFFFF"/>
              </a:buClr>
              <a:buSzPts val="1000"/>
              <a:buFont typeface="Inter"/>
              <a:buNone/>
            </a:pPr>
            <a:r>
              <a:rPr lang="en-US" sz="1000" b="1" i="0" u="none" strike="noStrike" cap="none">
                <a:solidFill>
                  <a:srgbClr val="FFFFFF"/>
                </a:solidFill>
                <a:latin typeface="Inter"/>
                <a:ea typeface="Inter"/>
                <a:cs typeface="Inter"/>
                <a:sym typeface="Inter"/>
              </a:rPr>
              <a:t>Technical Interpretation</a:t>
            </a:r>
            <a:endParaRPr sz="10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13616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201117F-30CF-D137-43D6-D2A702E163E1}"/>
              </a:ext>
            </a:extLst>
          </p:cNvPr>
          <p:cNvSpPr>
            <a:spLocks noGrp="1"/>
          </p:cNvSpPr>
          <p:nvPr>
            <p:ph type="ftr" sz="quarter" idx="11"/>
          </p:nvPr>
        </p:nvSpPr>
        <p:spPr/>
        <p:txBody>
          <a:bodyPr/>
          <a:lstStyle/>
          <a:p>
            <a:r>
              <a:rPr lang="en-US" sz="900"/>
              <a:t>College of Computing and Data Science</a:t>
            </a:r>
            <a:endParaRPr lang="en-US" sz="900" dirty="0"/>
          </a:p>
        </p:txBody>
      </p:sp>
      <p:pic>
        <p:nvPicPr>
          <p:cNvPr id="4" name="Picture 3">
            <a:extLst>
              <a:ext uri="{FF2B5EF4-FFF2-40B4-BE49-F238E27FC236}">
                <a16:creationId xmlns:a16="http://schemas.microsoft.com/office/drawing/2014/main" id="{40DCE475-1051-5290-9731-27EE56CE9FD0}"/>
              </a:ext>
            </a:extLst>
          </p:cNvPr>
          <p:cNvPicPr>
            <a:picLocks noChangeAspect="1"/>
          </p:cNvPicPr>
          <p:nvPr/>
        </p:nvPicPr>
        <p:blipFill>
          <a:blip r:embed="rId3"/>
          <a:stretch>
            <a:fillRect/>
          </a:stretch>
        </p:blipFill>
        <p:spPr>
          <a:xfrm>
            <a:off x="1848144" y="309800"/>
            <a:ext cx="5447712" cy="4241355"/>
          </a:xfrm>
          <a:prstGeom prst="rect">
            <a:avLst/>
          </a:prstGeom>
        </p:spPr>
      </p:pic>
    </p:spTree>
    <p:extLst>
      <p:ext uri="{BB962C8B-B14F-4D97-AF65-F5344CB8AC3E}">
        <p14:creationId xmlns:p14="http://schemas.microsoft.com/office/powerpoint/2010/main" val="991415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C9701-E496-4534-214A-47BB9D953BB6}"/>
            </a:ext>
          </a:extLst>
        </p:cNvPr>
        <p:cNvGrpSpPr/>
        <p:nvPr/>
      </p:nvGrpSpPr>
      <p:grpSpPr>
        <a:xfrm>
          <a:off x="0" y="0"/>
          <a:ext cx="0" cy="0"/>
          <a:chOff x="0" y="0"/>
          <a:chExt cx="0" cy="0"/>
        </a:xfrm>
      </p:grpSpPr>
      <p:pic>
        <p:nvPicPr>
          <p:cNvPr id="17" name="Google Shape;23;p1">
            <a:extLst>
              <a:ext uri="{FF2B5EF4-FFF2-40B4-BE49-F238E27FC236}">
                <a16:creationId xmlns:a16="http://schemas.microsoft.com/office/drawing/2014/main" id="{AB4E5FFB-F319-FB4F-EB8E-2FE281460611}"/>
              </a:ext>
            </a:extLst>
          </p:cNvPr>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 name="Footer Placeholder 1">
            <a:extLst>
              <a:ext uri="{FF2B5EF4-FFF2-40B4-BE49-F238E27FC236}">
                <a16:creationId xmlns:a16="http://schemas.microsoft.com/office/drawing/2014/main" id="{AA919188-EE62-220D-4C1F-C480B7C3791E}"/>
              </a:ext>
            </a:extLst>
          </p:cNvPr>
          <p:cNvSpPr>
            <a:spLocks noGrp="1"/>
          </p:cNvSpPr>
          <p:nvPr>
            <p:ph type="ftr" sz="quarter" idx="11"/>
          </p:nvPr>
        </p:nvSpPr>
        <p:spPr/>
        <p:txBody>
          <a:bodyPr/>
          <a:lstStyle/>
          <a:p>
            <a:r>
              <a:rPr lang="en-US" sz="900"/>
              <a:t>College of Computing and Data Science</a:t>
            </a:r>
            <a:endParaRPr lang="en-US" sz="900" dirty="0"/>
          </a:p>
        </p:txBody>
      </p:sp>
      <p:sp>
        <p:nvSpPr>
          <p:cNvPr id="7" name="Google Shape;50;g3e7d7471223_0_25">
            <a:extLst>
              <a:ext uri="{FF2B5EF4-FFF2-40B4-BE49-F238E27FC236}">
                <a16:creationId xmlns:a16="http://schemas.microsoft.com/office/drawing/2014/main" id="{58644DA8-124C-1694-42FC-DE34B5ACFD8B}"/>
              </a:ext>
            </a:extLst>
          </p:cNvPr>
          <p:cNvSpPr/>
          <p:nvPr/>
        </p:nvSpPr>
        <p:spPr>
          <a:xfrm>
            <a:off x="1293813" y="1628701"/>
            <a:ext cx="6285337" cy="2500386"/>
          </a:xfrm>
          <a:prstGeom prst="rect">
            <a:avLst/>
          </a:prstGeom>
          <a:solidFill>
            <a:srgbClr val="20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dirty="0"/>
          </a:p>
        </p:txBody>
      </p:sp>
      <p:sp>
        <p:nvSpPr>
          <p:cNvPr id="8" name="Google Shape;51;g3e7d7471223_0_25">
            <a:extLst>
              <a:ext uri="{FF2B5EF4-FFF2-40B4-BE49-F238E27FC236}">
                <a16:creationId xmlns:a16="http://schemas.microsoft.com/office/drawing/2014/main" id="{C6774A31-94F4-C262-3105-A6A1E9FE8375}"/>
              </a:ext>
            </a:extLst>
          </p:cNvPr>
          <p:cNvSpPr/>
          <p:nvPr/>
        </p:nvSpPr>
        <p:spPr>
          <a:xfrm>
            <a:off x="1293813" y="1628701"/>
            <a:ext cx="78341" cy="2500386"/>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9" name="Google Shape;52;g3e7d7471223_0_25">
            <a:extLst>
              <a:ext uri="{FF2B5EF4-FFF2-40B4-BE49-F238E27FC236}">
                <a16:creationId xmlns:a16="http://schemas.microsoft.com/office/drawing/2014/main" id="{C79B1AEA-9D63-9452-B37B-56FEDC64BDA8}"/>
              </a:ext>
            </a:extLst>
          </p:cNvPr>
          <p:cNvSpPr/>
          <p:nvPr/>
        </p:nvSpPr>
        <p:spPr>
          <a:xfrm>
            <a:off x="1564850" y="1900317"/>
            <a:ext cx="5633411" cy="345214"/>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00"/>
              <a:buFont typeface="Inter"/>
              <a:buNone/>
            </a:pPr>
            <a:r>
              <a:rPr lang="en-US" sz="2000" b="1" i="0" u="none" strike="noStrike" cap="none" dirty="0">
                <a:solidFill>
                  <a:srgbClr val="FFFFFF"/>
                </a:solidFill>
                <a:latin typeface="Inter"/>
                <a:ea typeface="Inter"/>
                <a:cs typeface="Inter"/>
                <a:sym typeface="Inter"/>
              </a:rPr>
              <a:t>Technical Interpretation</a:t>
            </a:r>
            <a:endParaRPr sz="2000" b="0" i="0" u="none" strike="noStrike" cap="none" dirty="0">
              <a:solidFill>
                <a:schemeClr val="dk1"/>
              </a:solidFill>
              <a:latin typeface="Calibri"/>
              <a:ea typeface="Calibri"/>
              <a:cs typeface="Calibri"/>
              <a:sym typeface="Calibri"/>
            </a:endParaRPr>
          </a:p>
        </p:txBody>
      </p:sp>
      <p:sp>
        <p:nvSpPr>
          <p:cNvPr id="10" name="Google Shape;53;g3e7d7471223_0_25">
            <a:extLst>
              <a:ext uri="{FF2B5EF4-FFF2-40B4-BE49-F238E27FC236}">
                <a16:creationId xmlns:a16="http://schemas.microsoft.com/office/drawing/2014/main" id="{D7F9AE2A-20E3-F3E7-3302-C52B49C7FEAE}"/>
              </a:ext>
            </a:extLst>
          </p:cNvPr>
          <p:cNvSpPr/>
          <p:nvPr/>
        </p:nvSpPr>
        <p:spPr>
          <a:xfrm>
            <a:off x="1879653" y="2435284"/>
            <a:ext cx="5478921" cy="348231"/>
          </a:xfrm>
          <a:prstGeom prst="rect">
            <a:avLst/>
          </a:prstGeom>
          <a:noFill/>
          <a:ln>
            <a:noFill/>
          </a:ln>
        </p:spPr>
        <p:txBody>
          <a:bodyPr spcFirstLastPara="1" wrap="square" lIns="0" tIns="0" rIns="0" bIns="0" anchor="t" anchorCtr="0">
            <a:noAutofit/>
          </a:bodyPr>
          <a:lstStyle/>
          <a:p>
            <a:pPr lvl="0">
              <a:lnSpc>
                <a:spcPct val="120000"/>
              </a:lnSpc>
              <a:buClr>
                <a:srgbClr val="FFFFFF"/>
              </a:buClr>
              <a:buSzPts val="950"/>
            </a:pPr>
            <a:r>
              <a:rPr lang="en-US" dirty="0">
                <a:solidFill>
                  <a:srgbClr val="FFFFFF"/>
                </a:solidFill>
                <a:latin typeface="Inter"/>
                <a:ea typeface="Inter"/>
                <a:cs typeface="Inter"/>
                <a:sym typeface="Inter"/>
              </a:rPr>
              <a:t>Adapting pretrained acoustic representations to a regional context can recover discriminative features for previously </a:t>
            </a:r>
            <a:r>
              <a:rPr lang="en-US" dirty="0" err="1">
                <a:solidFill>
                  <a:srgbClr val="FFFFFF"/>
                </a:solidFill>
                <a:latin typeface="Inter"/>
                <a:ea typeface="Inter"/>
                <a:cs typeface="Inter"/>
                <a:sym typeface="Inter"/>
              </a:rPr>
              <a:t>unrecognised</a:t>
            </a:r>
            <a:r>
              <a:rPr lang="en-US" dirty="0">
                <a:solidFill>
                  <a:srgbClr val="FFFFFF"/>
                </a:solidFill>
                <a:latin typeface="Inter"/>
                <a:ea typeface="Inter"/>
                <a:cs typeface="Inter"/>
                <a:sym typeface="Inter"/>
              </a:rPr>
              <a:t> local </a:t>
            </a:r>
            <a:r>
              <a:rPr lang="en-US" dirty="0" err="1">
                <a:solidFill>
                  <a:srgbClr val="FFFFFF"/>
                </a:solidFill>
                <a:latin typeface="Inter"/>
                <a:ea typeface="Inter"/>
                <a:cs typeface="Inter"/>
                <a:sym typeface="Inter"/>
              </a:rPr>
              <a:t>vocalisations</a:t>
            </a:r>
            <a:r>
              <a:rPr lang="en-US" dirty="0">
                <a:solidFill>
                  <a:srgbClr val="FFFFFF"/>
                </a:solidFill>
                <a:latin typeface="Inter"/>
                <a:ea typeface="Inter"/>
                <a:cs typeface="Inter"/>
                <a:sym typeface="Inter"/>
              </a:rPr>
              <a:t>.</a:t>
            </a:r>
            <a:endParaRPr lang="en-US" dirty="0">
              <a:solidFill>
                <a:schemeClr val="dk1"/>
              </a:solidFill>
              <a:latin typeface="Calibri"/>
              <a:ea typeface="Calibri"/>
              <a:cs typeface="Calibri"/>
              <a:sym typeface="Calibri"/>
            </a:endParaRPr>
          </a:p>
        </p:txBody>
      </p:sp>
      <p:sp>
        <p:nvSpPr>
          <p:cNvPr id="11" name="Google Shape;54;g3e7d7471223_0_25">
            <a:extLst>
              <a:ext uri="{FF2B5EF4-FFF2-40B4-BE49-F238E27FC236}">
                <a16:creationId xmlns:a16="http://schemas.microsoft.com/office/drawing/2014/main" id="{5FF2F695-90DD-73B2-DB62-57B4CE8A1370}"/>
              </a:ext>
            </a:extLst>
          </p:cNvPr>
          <p:cNvSpPr/>
          <p:nvPr/>
        </p:nvSpPr>
        <p:spPr>
          <a:xfrm>
            <a:off x="1879653" y="2812604"/>
            <a:ext cx="5384693" cy="34823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050"/>
              <a:buFont typeface="Inter"/>
              <a:buNone/>
            </a:pPr>
            <a:endParaRPr sz="2000" b="0" i="0" u="none" strike="noStrike" cap="none" dirty="0">
              <a:solidFill>
                <a:schemeClr val="dk1"/>
              </a:solidFill>
              <a:latin typeface="Calibri"/>
              <a:ea typeface="Calibri"/>
              <a:cs typeface="Calibri"/>
              <a:sym typeface="Calibri"/>
            </a:endParaRPr>
          </a:p>
        </p:txBody>
      </p:sp>
      <p:sp>
        <p:nvSpPr>
          <p:cNvPr id="12" name="Google Shape;55;g3e7d7471223_0_25">
            <a:extLst>
              <a:ext uri="{FF2B5EF4-FFF2-40B4-BE49-F238E27FC236}">
                <a16:creationId xmlns:a16="http://schemas.microsoft.com/office/drawing/2014/main" id="{6FFD86D7-977F-E2F1-DC6B-AFDB3E6F878D}"/>
              </a:ext>
            </a:extLst>
          </p:cNvPr>
          <p:cNvSpPr/>
          <p:nvPr/>
        </p:nvSpPr>
        <p:spPr>
          <a:xfrm>
            <a:off x="2205688" y="3195128"/>
            <a:ext cx="4539927" cy="34823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050"/>
              <a:buFont typeface="Inter"/>
              <a:buNone/>
            </a:pPr>
            <a:endParaRPr sz="2000" b="0" i="0" u="none" strike="noStrike" cap="none" dirty="0">
              <a:solidFill>
                <a:schemeClr val="dk1"/>
              </a:solidFill>
              <a:latin typeface="Calibri"/>
              <a:ea typeface="Calibri"/>
              <a:cs typeface="Calibri"/>
              <a:sym typeface="Calibri"/>
            </a:endParaRPr>
          </a:p>
        </p:txBody>
      </p:sp>
      <p:sp>
        <p:nvSpPr>
          <p:cNvPr id="13" name="Google Shape;36;g3e7d7471223_0_25">
            <a:extLst>
              <a:ext uri="{FF2B5EF4-FFF2-40B4-BE49-F238E27FC236}">
                <a16:creationId xmlns:a16="http://schemas.microsoft.com/office/drawing/2014/main" id="{F10321FF-ED18-4CEF-A678-F065961E2AC6}"/>
              </a:ext>
            </a:extLst>
          </p:cNvPr>
          <p:cNvSpPr/>
          <p:nvPr/>
        </p:nvSpPr>
        <p:spPr>
          <a:xfrm>
            <a:off x="571500" y="428625"/>
            <a:ext cx="8001000" cy="6144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g3e7d7471223_0_25">
            <a:extLst>
              <a:ext uri="{FF2B5EF4-FFF2-40B4-BE49-F238E27FC236}">
                <a16:creationId xmlns:a16="http://schemas.microsoft.com/office/drawing/2014/main" id="{82633A45-9849-E472-C8F8-D53E023ABE0A}"/>
              </a:ext>
            </a:extLst>
          </p:cNvPr>
          <p:cNvSpPr/>
          <p:nvPr/>
        </p:nvSpPr>
        <p:spPr>
          <a:xfrm>
            <a:off x="571500" y="1014413"/>
            <a:ext cx="8001000" cy="28500"/>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8;g3e7d7471223_0_25">
            <a:extLst>
              <a:ext uri="{FF2B5EF4-FFF2-40B4-BE49-F238E27FC236}">
                <a16:creationId xmlns:a16="http://schemas.microsoft.com/office/drawing/2014/main" id="{FB0A3A49-C9F3-BBD6-1101-7B9D0F76E9C3}"/>
              </a:ext>
            </a:extLst>
          </p:cNvPr>
          <p:cNvSpPr/>
          <p:nvPr/>
        </p:nvSpPr>
        <p:spPr>
          <a:xfrm>
            <a:off x="571500" y="428625"/>
            <a:ext cx="8001000" cy="614400"/>
          </a:xfrm>
          <a:prstGeom prst="rect">
            <a:avLst/>
          </a:prstGeom>
          <a:noFill/>
          <a:ln>
            <a:noFill/>
          </a:ln>
        </p:spPr>
        <p:txBody>
          <a:bodyPr spcFirstLastPara="1" wrap="square" lIns="0" tIns="0" rIns="0" bIns="85075" anchor="t" anchorCtr="0">
            <a:no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Urban Biodiversity Monitoring Barriers</a:t>
            </a:r>
            <a:endParaRPr sz="24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27193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C141E80-12CE-C0D2-78EB-C63FDE733A7D}"/>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223;p7">
            <a:extLst>
              <a:ext uri="{FF2B5EF4-FFF2-40B4-BE49-F238E27FC236}">
                <a16:creationId xmlns:a16="http://schemas.microsoft.com/office/drawing/2014/main" id="{BBA89E53-5E72-B5BF-F6A1-8BBD018AE920}"/>
              </a:ext>
            </a:extLst>
          </p:cNvPr>
          <p:cNvSpPr/>
          <p:nvPr/>
        </p:nvSpPr>
        <p:spPr>
          <a:xfrm>
            <a:off x="571500" y="428625"/>
            <a:ext cx="8001000" cy="614363"/>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24;p7">
            <a:extLst>
              <a:ext uri="{FF2B5EF4-FFF2-40B4-BE49-F238E27FC236}">
                <a16:creationId xmlns:a16="http://schemas.microsoft.com/office/drawing/2014/main" id="{4109746A-71E1-2CA8-0782-380184D03AC6}"/>
              </a:ext>
            </a:extLst>
          </p:cNvPr>
          <p:cNvSpPr/>
          <p:nvPr/>
        </p:nvSpPr>
        <p:spPr>
          <a:xfrm>
            <a:off x="571500" y="1014413"/>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25;p7">
            <a:extLst>
              <a:ext uri="{FF2B5EF4-FFF2-40B4-BE49-F238E27FC236}">
                <a16:creationId xmlns:a16="http://schemas.microsoft.com/office/drawing/2014/main" id="{BF2A6FEC-262A-3DB3-3091-46598467C7B7}"/>
              </a:ext>
            </a:extLst>
          </p:cNvPr>
          <p:cNvSpPr/>
          <p:nvPr/>
        </p:nvSpPr>
        <p:spPr>
          <a:xfrm>
            <a:off x="571500" y="428625"/>
            <a:ext cx="8001000" cy="614363"/>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RAG Pipeline: Grounding Education</a:t>
            </a:r>
            <a:endParaRPr sz="2450" b="0" i="0" u="none" strike="noStrike" cap="none">
              <a:solidFill>
                <a:schemeClr val="dk1"/>
              </a:solidFill>
              <a:latin typeface="Calibri"/>
              <a:ea typeface="Calibri"/>
              <a:cs typeface="Calibri"/>
              <a:sym typeface="Calibri"/>
            </a:endParaRPr>
          </a:p>
        </p:txBody>
      </p:sp>
      <p:sp>
        <p:nvSpPr>
          <p:cNvPr id="6" name="Google Shape;226;p7">
            <a:extLst>
              <a:ext uri="{FF2B5EF4-FFF2-40B4-BE49-F238E27FC236}">
                <a16:creationId xmlns:a16="http://schemas.microsoft.com/office/drawing/2014/main" id="{8585998A-9A21-4865-6965-2D836BB3600B}"/>
              </a:ext>
            </a:extLst>
          </p:cNvPr>
          <p:cNvSpPr/>
          <p:nvPr/>
        </p:nvSpPr>
        <p:spPr>
          <a:xfrm>
            <a:off x="571500" y="1228725"/>
            <a:ext cx="3857625" cy="19288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E67E22"/>
              </a:buClr>
              <a:buSzPts val="900"/>
              <a:buFont typeface="Inter"/>
              <a:buNone/>
            </a:pPr>
            <a:r>
              <a:rPr lang="en-US" sz="900" b="1" i="0" u="none" strike="noStrike" cap="none">
                <a:solidFill>
                  <a:srgbClr val="E67E22"/>
                </a:solidFill>
                <a:latin typeface="Inter"/>
                <a:ea typeface="Inter"/>
                <a:cs typeface="Inter"/>
                <a:sym typeface="Inter"/>
              </a:rPr>
              <a:t>KNOWLEDGE BASE</a:t>
            </a:r>
            <a:endParaRPr sz="900" b="0" i="0" u="none" strike="noStrike" cap="none">
              <a:solidFill>
                <a:schemeClr val="dk1"/>
              </a:solidFill>
              <a:latin typeface="Calibri"/>
              <a:ea typeface="Calibri"/>
              <a:cs typeface="Calibri"/>
              <a:sym typeface="Calibri"/>
            </a:endParaRPr>
          </a:p>
        </p:txBody>
      </p:sp>
      <p:sp>
        <p:nvSpPr>
          <p:cNvPr id="7" name="Google Shape;227;p7">
            <a:extLst>
              <a:ext uri="{FF2B5EF4-FFF2-40B4-BE49-F238E27FC236}">
                <a16:creationId xmlns:a16="http://schemas.microsoft.com/office/drawing/2014/main" id="{E4831A59-EDE5-5A13-823F-1B16BF257260}"/>
              </a:ext>
            </a:extLst>
          </p:cNvPr>
          <p:cNvSpPr/>
          <p:nvPr/>
        </p:nvSpPr>
        <p:spPr>
          <a:xfrm>
            <a:off x="571500" y="1478756"/>
            <a:ext cx="3857625" cy="30003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400"/>
              <a:buFont typeface="Inter"/>
              <a:buNone/>
            </a:pPr>
            <a:r>
              <a:rPr lang="en-US" sz="1400" b="1" i="0" u="none" strike="noStrike" cap="none">
                <a:solidFill>
                  <a:srgbClr val="2C3E50"/>
                </a:solidFill>
                <a:latin typeface="Inter"/>
                <a:ea typeface="Inter"/>
                <a:cs typeface="Inter"/>
                <a:sym typeface="Inter"/>
              </a:rPr>
              <a:t>Curated Local Sources</a:t>
            </a:r>
            <a:endParaRPr sz="1400" b="0" i="0" u="none" strike="noStrike" cap="none">
              <a:solidFill>
                <a:schemeClr val="dk1"/>
              </a:solidFill>
              <a:latin typeface="Calibri"/>
              <a:ea typeface="Calibri"/>
              <a:cs typeface="Calibri"/>
              <a:sym typeface="Calibri"/>
            </a:endParaRPr>
          </a:p>
        </p:txBody>
      </p:sp>
      <p:sp>
        <p:nvSpPr>
          <p:cNvPr id="8" name="Google Shape;228;p7">
            <a:extLst>
              <a:ext uri="{FF2B5EF4-FFF2-40B4-BE49-F238E27FC236}">
                <a16:creationId xmlns:a16="http://schemas.microsoft.com/office/drawing/2014/main" id="{B3DA8BA5-503C-E68E-1D9A-482A7C5F8758}"/>
              </a:ext>
            </a:extLst>
          </p:cNvPr>
          <p:cNvSpPr/>
          <p:nvPr/>
        </p:nvSpPr>
        <p:spPr>
          <a:xfrm>
            <a:off x="571498" y="1778793"/>
            <a:ext cx="8366761" cy="17543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50"/>
              <a:buFont typeface="Inter"/>
              <a:buNone/>
            </a:pPr>
            <a:r>
              <a:rPr lang="en-US" sz="950" b="0" i="0" u="none" strike="noStrike" cap="none" dirty="0">
                <a:solidFill>
                  <a:srgbClr val="2C3E50"/>
                </a:solidFill>
                <a:latin typeface="Inter"/>
                <a:ea typeface="Inter"/>
                <a:cs typeface="Inter"/>
                <a:sym typeface="Inter"/>
              </a:rPr>
              <a:t>The RAG pipeline eliminates hallucinations by sourcing information from authoritative Singaporean ecological databases rather than relying on general LLM.</a:t>
            </a:r>
            <a:endParaRPr sz="950" b="0" i="0" u="none" strike="noStrike" cap="none" dirty="0">
              <a:solidFill>
                <a:schemeClr val="dk1"/>
              </a:solidFill>
              <a:latin typeface="Calibri"/>
              <a:ea typeface="Calibri"/>
              <a:cs typeface="Calibri"/>
              <a:sym typeface="Calibri"/>
            </a:endParaRPr>
          </a:p>
        </p:txBody>
      </p:sp>
      <p:pic>
        <p:nvPicPr>
          <p:cNvPr id="55" name="Picture 54">
            <a:extLst>
              <a:ext uri="{FF2B5EF4-FFF2-40B4-BE49-F238E27FC236}">
                <a16:creationId xmlns:a16="http://schemas.microsoft.com/office/drawing/2014/main" id="{C4DD6E2D-81E3-9E1F-BDC7-ED71D38CEA34}"/>
              </a:ext>
            </a:extLst>
          </p:cNvPr>
          <p:cNvPicPr>
            <a:picLocks noChangeAspect="1"/>
          </p:cNvPicPr>
          <p:nvPr/>
        </p:nvPicPr>
        <p:blipFill>
          <a:blip r:embed="rId3"/>
          <a:stretch>
            <a:fillRect/>
          </a:stretch>
        </p:blipFill>
        <p:spPr>
          <a:xfrm>
            <a:off x="1380468" y="1987932"/>
            <a:ext cx="1743732" cy="2513806"/>
          </a:xfrm>
          <a:prstGeom prst="rect">
            <a:avLst/>
          </a:prstGeom>
        </p:spPr>
      </p:pic>
      <p:pic>
        <p:nvPicPr>
          <p:cNvPr id="57" name="Picture 56">
            <a:extLst>
              <a:ext uri="{FF2B5EF4-FFF2-40B4-BE49-F238E27FC236}">
                <a16:creationId xmlns:a16="http://schemas.microsoft.com/office/drawing/2014/main" id="{B95123A9-E515-B0B5-9B40-115C27A85E3F}"/>
              </a:ext>
            </a:extLst>
          </p:cNvPr>
          <p:cNvPicPr>
            <a:picLocks noChangeAspect="1"/>
          </p:cNvPicPr>
          <p:nvPr/>
        </p:nvPicPr>
        <p:blipFill>
          <a:blip r:embed="rId4"/>
          <a:stretch>
            <a:fillRect/>
          </a:stretch>
        </p:blipFill>
        <p:spPr>
          <a:xfrm>
            <a:off x="4041533" y="2311413"/>
            <a:ext cx="3893457" cy="2276682"/>
          </a:xfrm>
          <a:prstGeom prst="rect">
            <a:avLst/>
          </a:prstGeom>
        </p:spPr>
      </p:pic>
    </p:spTree>
    <p:extLst>
      <p:ext uri="{BB962C8B-B14F-4D97-AF65-F5344CB8AC3E}">
        <p14:creationId xmlns:p14="http://schemas.microsoft.com/office/powerpoint/2010/main" val="2105603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1F1B8-8414-8C4F-AC09-1463629EA923}"/>
            </a:ext>
          </a:extLst>
        </p:cNvPr>
        <p:cNvGrpSpPr/>
        <p:nvPr/>
      </p:nvGrpSpPr>
      <p:grpSpPr>
        <a:xfrm>
          <a:off x="0" y="0"/>
          <a:ext cx="0" cy="0"/>
          <a:chOff x="0" y="0"/>
          <a:chExt cx="0" cy="0"/>
        </a:xfrm>
      </p:grpSpPr>
      <p:sp>
        <p:nvSpPr>
          <p:cNvPr id="15" name="Google Shape;75;g3e7d7471223_0_1">
            <a:extLst>
              <a:ext uri="{FF2B5EF4-FFF2-40B4-BE49-F238E27FC236}">
                <a16:creationId xmlns:a16="http://schemas.microsoft.com/office/drawing/2014/main" id="{4CE9E4A8-2A37-EA21-4571-0818131EEA29}"/>
              </a:ext>
            </a:extLst>
          </p:cNvPr>
          <p:cNvSpPr/>
          <p:nvPr/>
        </p:nvSpPr>
        <p:spPr>
          <a:xfrm>
            <a:off x="571500" y="1157945"/>
            <a:ext cx="3466490" cy="941661"/>
          </a:xfrm>
          <a:prstGeom prst="rect">
            <a:avLst/>
          </a:prstGeom>
          <a:solidFill>
            <a:srgbClr val="20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Footer Placeholder 1">
            <a:extLst>
              <a:ext uri="{FF2B5EF4-FFF2-40B4-BE49-F238E27FC236}">
                <a16:creationId xmlns:a16="http://schemas.microsoft.com/office/drawing/2014/main" id="{77F8E072-63F2-A011-04BE-BDB9E95A7B72}"/>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223;p7">
            <a:extLst>
              <a:ext uri="{FF2B5EF4-FFF2-40B4-BE49-F238E27FC236}">
                <a16:creationId xmlns:a16="http://schemas.microsoft.com/office/drawing/2014/main" id="{1E329E73-E230-48E8-40AA-84524CF768F1}"/>
              </a:ext>
            </a:extLst>
          </p:cNvPr>
          <p:cNvSpPr/>
          <p:nvPr/>
        </p:nvSpPr>
        <p:spPr>
          <a:xfrm>
            <a:off x="571500" y="428625"/>
            <a:ext cx="8001000" cy="614363"/>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24;p7">
            <a:extLst>
              <a:ext uri="{FF2B5EF4-FFF2-40B4-BE49-F238E27FC236}">
                <a16:creationId xmlns:a16="http://schemas.microsoft.com/office/drawing/2014/main" id="{91508C62-E64A-387D-8F70-570AEA2CA792}"/>
              </a:ext>
            </a:extLst>
          </p:cNvPr>
          <p:cNvSpPr/>
          <p:nvPr/>
        </p:nvSpPr>
        <p:spPr>
          <a:xfrm>
            <a:off x="571500" y="1014413"/>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25;p7">
            <a:extLst>
              <a:ext uri="{FF2B5EF4-FFF2-40B4-BE49-F238E27FC236}">
                <a16:creationId xmlns:a16="http://schemas.microsoft.com/office/drawing/2014/main" id="{EE394E9C-C36C-871D-5661-906CAD828A49}"/>
              </a:ext>
            </a:extLst>
          </p:cNvPr>
          <p:cNvSpPr/>
          <p:nvPr/>
        </p:nvSpPr>
        <p:spPr>
          <a:xfrm>
            <a:off x="571500" y="428625"/>
            <a:ext cx="8001000" cy="614363"/>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RAG Pipeline: Grounding Education</a:t>
            </a:r>
            <a:endParaRPr sz="2450" b="0" i="0" u="none" strike="noStrike" cap="none">
              <a:solidFill>
                <a:schemeClr val="dk1"/>
              </a:solidFill>
              <a:latin typeface="Calibri"/>
              <a:ea typeface="Calibri"/>
              <a:cs typeface="Calibri"/>
              <a:sym typeface="Calibri"/>
            </a:endParaRPr>
          </a:p>
        </p:txBody>
      </p:sp>
      <p:sp>
        <p:nvSpPr>
          <p:cNvPr id="45" name="Google Shape;265;p7">
            <a:extLst>
              <a:ext uri="{FF2B5EF4-FFF2-40B4-BE49-F238E27FC236}">
                <a16:creationId xmlns:a16="http://schemas.microsoft.com/office/drawing/2014/main" id="{A579700F-5701-A862-A940-3FA0A9E6FA52}"/>
              </a:ext>
            </a:extLst>
          </p:cNvPr>
          <p:cNvSpPr/>
          <p:nvPr/>
        </p:nvSpPr>
        <p:spPr>
          <a:xfrm>
            <a:off x="678656" y="1306317"/>
            <a:ext cx="3643313"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FFFFFF"/>
              </a:buClr>
              <a:buSzPts val="800"/>
              <a:buFont typeface="Inter"/>
              <a:buNone/>
            </a:pPr>
            <a:r>
              <a:rPr lang="en-US" sz="800" b="1" i="0" u="none" strike="noStrike" cap="none">
                <a:solidFill>
                  <a:srgbClr val="FFFFFF"/>
                </a:solidFill>
                <a:latin typeface="Inter"/>
                <a:ea typeface="Inter"/>
                <a:cs typeface="Inter"/>
                <a:sym typeface="Inter"/>
              </a:rPr>
              <a:t>Technical Stack</a:t>
            </a:r>
            <a:endParaRPr sz="800" b="0" i="0" u="none" strike="noStrike" cap="none">
              <a:solidFill>
                <a:schemeClr val="dk1"/>
              </a:solidFill>
              <a:latin typeface="Calibri"/>
              <a:ea typeface="Calibri"/>
              <a:cs typeface="Calibri"/>
              <a:sym typeface="Calibri"/>
            </a:endParaRPr>
          </a:p>
        </p:txBody>
      </p:sp>
      <p:sp>
        <p:nvSpPr>
          <p:cNvPr id="46" name="Google Shape;266;p7">
            <a:extLst>
              <a:ext uri="{FF2B5EF4-FFF2-40B4-BE49-F238E27FC236}">
                <a16:creationId xmlns:a16="http://schemas.microsoft.com/office/drawing/2014/main" id="{E38D3EB3-1A7F-8071-6B05-6D8CB337BAAB}"/>
              </a:ext>
            </a:extLst>
          </p:cNvPr>
          <p:cNvSpPr/>
          <p:nvPr/>
        </p:nvSpPr>
        <p:spPr>
          <a:xfrm>
            <a:off x="678656" y="1534917"/>
            <a:ext cx="1793081" cy="142875"/>
          </a:xfrm>
          <a:prstGeom prst="rect">
            <a:avLst/>
          </a:prstGeom>
          <a:noFill/>
          <a:ln>
            <a:noFill/>
          </a:ln>
        </p:spPr>
        <p:txBody>
          <a:bodyPr spcFirstLastPara="1" wrap="square" lIns="0" tIns="0" rIns="0" bIns="0" anchor="t" anchorCtr="0">
            <a:spAutoFit/>
          </a:bodyPr>
          <a:lstStyle/>
          <a:p>
            <a:pPr marL="0" marR="0" lvl="0" indent="0" algn="l" rtl="0">
              <a:lnSpc>
                <a:spcPct val="114286"/>
              </a:lnSpc>
              <a:spcBef>
                <a:spcPts val="0"/>
              </a:spcBef>
              <a:spcAft>
                <a:spcPts val="0"/>
              </a:spcAft>
              <a:buClr>
                <a:srgbClr val="FFFFFF"/>
              </a:buClr>
              <a:buSzPts val="700"/>
              <a:buFont typeface="Inter"/>
              <a:buNone/>
            </a:pPr>
            <a:r>
              <a:rPr lang="en-US" sz="700" b="1" i="0" u="none" strike="noStrike" cap="none">
                <a:solidFill>
                  <a:srgbClr val="FFFFFF"/>
                </a:solidFill>
                <a:latin typeface="Inter"/>
                <a:ea typeface="Inter"/>
                <a:cs typeface="Inter"/>
                <a:sym typeface="Inter"/>
              </a:rPr>
              <a:t>Embeddings:</a:t>
            </a:r>
            <a:r>
              <a:rPr lang="en-US" sz="750" b="0" i="0" u="none" strike="noStrike" cap="none">
                <a:solidFill>
                  <a:srgbClr val="FFFFFF"/>
                </a:solidFill>
                <a:latin typeface="Inter"/>
                <a:ea typeface="Inter"/>
                <a:cs typeface="Inter"/>
                <a:sym typeface="Inter"/>
              </a:rPr>
              <a:t> all-MiniLM-L6-v2</a:t>
            </a:r>
            <a:endParaRPr sz="700" b="0" i="0" u="none" strike="noStrike" cap="none">
              <a:solidFill>
                <a:schemeClr val="dk1"/>
              </a:solidFill>
              <a:latin typeface="Calibri"/>
              <a:ea typeface="Calibri"/>
              <a:cs typeface="Calibri"/>
              <a:sym typeface="Calibri"/>
            </a:endParaRPr>
          </a:p>
        </p:txBody>
      </p:sp>
      <p:sp>
        <p:nvSpPr>
          <p:cNvPr id="47" name="Google Shape;267;p7">
            <a:extLst>
              <a:ext uri="{FF2B5EF4-FFF2-40B4-BE49-F238E27FC236}">
                <a16:creationId xmlns:a16="http://schemas.microsoft.com/office/drawing/2014/main" id="{02F1C67C-46A7-8A7B-2D31-3F65EF91AB5F}"/>
              </a:ext>
            </a:extLst>
          </p:cNvPr>
          <p:cNvSpPr/>
          <p:nvPr/>
        </p:nvSpPr>
        <p:spPr>
          <a:xfrm>
            <a:off x="2528888" y="1534917"/>
            <a:ext cx="1793081" cy="142875"/>
          </a:xfrm>
          <a:prstGeom prst="rect">
            <a:avLst/>
          </a:prstGeom>
          <a:noFill/>
          <a:ln>
            <a:noFill/>
          </a:ln>
        </p:spPr>
        <p:txBody>
          <a:bodyPr spcFirstLastPara="1" wrap="square" lIns="0" tIns="0" rIns="0" bIns="0" anchor="t" anchorCtr="0">
            <a:spAutoFit/>
          </a:bodyPr>
          <a:lstStyle/>
          <a:p>
            <a:pPr marL="0" marR="0" lvl="0" indent="0" algn="l" rtl="0">
              <a:lnSpc>
                <a:spcPct val="114286"/>
              </a:lnSpc>
              <a:spcBef>
                <a:spcPts val="0"/>
              </a:spcBef>
              <a:spcAft>
                <a:spcPts val="0"/>
              </a:spcAft>
              <a:buClr>
                <a:srgbClr val="FFFFFF"/>
              </a:buClr>
              <a:buSzPts val="700"/>
              <a:buFont typeface="Inter"/>
              <a:buNone/>
            </a:pPr>
            <a:r>
              <a:rPr lang="en-US" sz="700" b="1" i="0" u="none" strike="noStrike" cap="none">
                <a:solidFill>
                  <a:srgbClr val="FFFFFF"/>
                </a:solidFill>
                <a:latin typeface="Inter"/>
                <a:ea typeface="Inter"/>
                <a:cs typeface="Inter"/>
                <a:sym typeface="Inter"/>
              </a:rPr>
              <a:t>Vector DB:</a:t>
            </a:r>
            <a:r>
              <a:rPr lang="en-US" sz="750" b="0" i="0" u="none" strike="noStrike" cap="none">
                <a:solidFill>
                  <a:srgbClr val="FFFFFF"/>
                </a:solidFill>
                <a:latin typeface="Inter"/>
                <a:ea typeface="Inter"/>
                <a:cs typeface="Inter"/>
                <a:sym typeface="Inter"/>
              </a:rPr>
              <a:t> ChromaDB</a:t>
            </a:r>
            <a:endParaRPr sz="700" b="0" i="0" u="none" strike="noStrike" cap="none">
              <a:solidFill>
                <a:schemeClr val="dk1"/>
              </a:solidFill>
              <a:latin typeface="Calibri"/>
              <a:ea typeface="Calibri"/>
              <a:cs typeface="Calibri"/>
              <a:sym typeface="Calibri"/>
            </a:endParaRPr>
          </a:p>
        </p:txBody>
      </p:sp>
      <p:sp>
        <p:nvSpPr>
          <p:cNvPr id="48" name="Google Shape;268;p7">
            <a:extLst>
              <a:ext uri="{FF2B5EF4-FFF2-40B4-BE49-F238E27FC236}">
                <a16:creationId xmlns:a16="http://schemas.microsoft.com/office/drawing/2014/main" id="{2C811AB3-4959-8E30-9F55-695839BC2712}"/>
              </a:ext>
            </a:extLst>
          </p:cNvPr>
          <p:cNvSpPr/>
          <p:nvPr/>
        </p:nvSpPr>
        <p:spPr>
          <a:xfrm>
            <a:off x="678656" y="1734942"/>
            <a:ext cx="1793081" cy="142875"/>
          </a:xfrm>
          <a:prstGeom prst="rect">
            <a:avLst/>
          </a:prstGeom>
          <a:noFill/>
          <a:ln>
            <a:noFill/>
          </a:ln>
        </p:spPr>
        <p:txBody>
          <a:bodyPr spcFirstLastPara="1" wrap="square" lIns="0" tIns="0" rIns="0" bIns="0" anchor="t" anchorCtr="0">
            <a:spAutoFit/>
          </a:bodyPr>
          <a:lstStyle/>
          <a:p>
            <a:pPr marL="0" marR="0" lvl="0" indent="0" algn="l" rtl="0">
              <a:lnSpc>
                <a:spcPct val="114286"/>
              </a:lnSpc>
              <a:spcBef>
                <a:spcPts val="0"/>
              </a:spcBef>
              <a:spcAft>
                <a:spcPts val="0"/>
              </a:spcAft>
              <a:buClr>
                <a:srgbClr val="FFFFFF"/>
              </a:buClr>
              <a:buSzPts val="700"/>
              <a:buFont typeface="Inter"/>
              <a:buNone/>
            </a:pPr>
            <a:r>
              <a:rPr lang="en-US" sz="700" b="1" i="0" u="none" strike="noStrike" cap="none">
                <a:solidFill>
                  <a:srgbClr val="FFFFFF"/>
                </a:solidFill>
                <a:latin typeface="Inter"/>
                <a:ea typeface="Inter"/>
                <a:cs typeface="Inter"/>
                <a:sym typeface="Inter"/>
              </a:rPr>
              <a:t>LLM:</a:t>
            </a:r>
            <a:r>
              <a:rPr lang="en-US" sz="750" b="0" i="0" u="none" strike="noStrike" cap="none">
                <a:solidFill>
                  <a:srgbClr val="FFFFFF"/>
                </a:solidFill>
                <a:latin typeface="Inter"/>
                <a:ea typeface="Inter"/>
                <a:cs typeface="Inter"/>
                <a:sym typeface="Inter"/>
              </a:rPr>
              <a:t> Claude 4 Sonnet</a:t>
            </a:r>
            <a:endParaRPr sz="700" b="0" i="0" u="none" strike="noStrike" cap="none">
              <a:solidFill>
                <a:schemeClr val="dk1"/>
              </a:solidFill>
              <a:latin typeface="Calibri"/>
              <a:ea typeface="Calibri"/>
              <a:cs typeface="Calibri"/>
              <a:sym typeface="Calibri"/>
            </a:endParaRPr>
          </a:p>
        </p:txBody>
      </p:sp>
      <p:sp>
        <p:nvSpPr>
          <p:cNvPr id="49" name="Google Shape;269;p7">
            <a:extLst>
              <a:ext uri="{FF2B5EF4-FFF2-40B4-BE49-F238E27FC236}">
                <a16:creationId xmlns:a16="http://schemas.microsoft.com/office/drawing/2014/main" id="{73EE53CA-A987-C9AA-A707-1BA97AE24C66}"/>
              </a:ext>
            </a:extLst>
          </p:cNvPr>
          <p:cNvSpPr/>
          <p:nvPr/>
        </p:nvSpPr>
        <p:spPr>
          <a:xfrm>
            <a:off x="2528888" y="1734942"/>
            <a:ext cx="1793081" cy="142875"/>
          </a:xfrm>
          <a:prstGeom prst="rect">
            <a:avLst/>
          </a:prstGeom>
          <a:noFill/>
          <a:ln>
            <a:noFill/>
          </a:ln>
        </p:spPr>
        <p:txBody>
          <a:bodyPr spcFirstLastPara="1" wrap="square" lIns="0" tIns="0" rIns="0" bIns="0" anchor="t" anchorCtr="0">
            <a:spAutoFit/>
          </a:bodyPr>
          <a:lstStyle/>
          <a:p>
            <a:pPr marL="0" marR="0" lvl="0" indent="0" algn="l" rtl="0">
              <a:lnSpc>
                <a:spcPct val="114286"/>
              </a:lnSpc>
              <a:spcBef>
                <a:spcPts val="0"/>
              </a:spcBef>
              <a:spcAft>
                <a:spcPts val="0"/>
              </a:spcAft>
              <a:buClr>
                <a:srgbClr val="FFFFFF"/>
              </a:buClr>
              <a:buSzPts val="700"/>
              <a:buFont typeface="Inter"/>
              <a:buNone/>
            </a:pPr>
            <a:r>
              <a:rPr lang="en-US" sz="700" b="1" i="0" u="none" strike="noStrike" cap="none">
                <a:solidFill>
                  <a:srgbClr val="FFFFFF"/>
                </a:solidFill>
                <a:latin typeface="Inter"/>
                <a:ea typeface="Inter"/>
                <a:cs typeface="Inter"/>
                <a:sym typeface="Inter"/>
              </a:rPr>
              <a:t>Routing:</a:t>
            </a:r>
            <a:r>
              <a:rPr lang="en-US" sz="750" b="0" i="0" u="none" strike="noStrike" cap="none">
                <a:solidFill>
                  <a:srgbClr val="FFFFFF"/>
                </a:solidFill>
                <a:latin typeface="Inter"/>
                <a:ea typeface="Inter"/>
                <a:cs typeface="Inter"/>
                <a:sym typeface="Inter"/>
              </a:rPr>
              <a:t> Hybrid Keyword/Semantic</a:t>
            </a:r>
            <a:endParaRPr sz="700" b="0" i="0" u="none" strike="noStrike" cap="none">
              <a:solidFill>
                <a:schemeClr val="dk1"/>
              </a:solidFill>
              <a:latin typeface="Calibri"/>
              <a:ea typeface="Calibri"/>
              <a:cs typeface="Calibri"/>
              <a:sym typeface="Calibri"/>
            </a:endParaRPr>
          </a:p>
        </p:txBody>
      </p:sp>
      <p:pic>
        <p:nvPicPr>
          <p:cNvPr id="51" name="Picture 50">
            <a:extLst>
              <a:ext uri="{FF2B5EF4-FFF2-40B4-BE49-F238E27FC236}">
                <a16:creationId xmlns:a16="http://schemas.microsoft.com/office/drawing/2014/main" id="{B3280519-A794-66A0-FC03-52BC2A5720DA}"/>
              </a:ext>
            </a:extLst>
          </p:cNvPr>
          <p:cNvPicPr>
            <a:picLocks noChangeAspect="1"/>
          </p:cNvPicPr>
          <p:nvPr/>
        </p:nvPicPr>
        <p:blipFill>
          <a:blip r:embed="rId3"/>
          <a:stretch>
            <a:fillRect/>
          </a:stretch>
        </p:blipFill>
        <p:spPr>
          <a:xfrm>
            <a:off x="571500" y="2354580"/>
            <a:ext cx="8170688" cy="1926819"/>
          </a:xfrm>
          <a:prstGeom prst="rect">
            <a:avLst/>
          </a:prstGeom>
        </p:spPr>
      </p:pic>
    </p:spTree>
    <p:extLst>
      <p:ext uri="{BB962C8B-B14F-4D97-AF65-F5344CB8AC3E}">
        <p14:creationId xmlns:p14="http://schemas.microsoft.com/office/powerpoint/2010/main" val="631232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8DFC56-4F6D-9B1D-6B05-F0F08CA33793}"/>
              </a:ext>
            </a:extLst>
          </p:cNvPr>
          <p:cNvSpPr>
            <a:spLocks noGrp="1"/>
          </p:cNvSpPr>
          <p:nvPr>
            <p:ph type="ftr" sz="quarter" idx="11"/>
          </p:nvPr>
        </p:nvSpPr>
        <p:spPr/>
        <p:txBody>
          <a:bodyPr/>
          <a:lstStyle/>
          <a:p>
            <a:r>
              <a:rPr lang="en-US" sz="900"/>
              <a:t>College of Computing and Data Science</a:t>
            </a:r>
            <a:endParaRPr lang="en-US" sz="900" dirty="0"/>
          </a:p>
        </p:txBody>
      </p:sp>
      <p:pic>
        <p:nvPicPr>
          <p:cNvPr id="4" name="Picture 3">
            <a:extLst>
              <a:ext uri="{FF2B5EF4-FFF2-40B4-BE49-F238E27FC236}">
                <a16:creationId xmlns:a16="http://schemas.microsoft.com/office/drawing/2014/main" id="{5DC2E3A2-65CA-9FE7-4EE5-35A33C70BF28}"/>
              </a:ext>
            </a:extLst>
          </p:cNvPr>
          <p:cNvPicPr>
            <a:picLocks noChangeAspect="1"/>
          </p:cNvPicPr>
          <p:nvPr/>
        </p:nvPicPr>
        <p:blipFill>
          <a:blip r:embed="rId3"/>
          <a:stretch>
            <a:fillRect/>
          </a:stretch>
        </p:blipFill>
        <p:spPr>
          <a:xfrm>
            <a:off x="156718" y="0"/>
            <a:ext cx="2293874" cy="2448170"/>
          </a:xfrm>
          <a:prstGeom prst="rect">
            <a:avLst/>
          </a:prstGeom>
        </p:spPr>
      </p:pic>
      <p:pic>
        <p:nvPicPr>
          <p:cNvPr id="6" name="Picture 5">
            <a:extLst>
              <a:ext uri="{FF2B5EF4-FFF2-40B4-BE49-F238E27FC236}">
                <a16:creationId xmlns:a16="http://schemas.microsoft.com/office/drawing/2014/main" id="{62768A0A-68C2-C1ED-638B-D3CB00007F5E}"/>
              </a:ext>
            </a:extLst>
          </p:cNvPr>
          <p:cNvPicPr>
            <a:picLocks noChangeAspect="1"/>
          </p:cNvPicPr>
          <p:nvPr/>
        </p:nvPicPr>
        <p:blipFill>
          <a:blip r:embed="rId4"/>
          <a:stretch>
            <a:fillRect/>
          </a:stretch>
        </p:blipFill>
        <p:spPr>
          <a:xfrm>
            <a:off x="156718" y="2375260"/>
            <a:ext cx="2367026" cy="2196430"/>
          </a:xfrm>
          <a:prstGeom prst="rect">
            <a:avLst/>
          </a:prstGeom>
        </p:spPr>
      </p:pic>
      <p:pic>
        <p:nvPicPr>
          <p:cNvPr id="8" name="Picture 7">
            <a:extLst>
              <a:ext uri="{FF2B5EF4-FFF2-40B4-BE49-F238E27FC236}">
                <a16:creationId xmlns:a16="http://schemas.microsoft.com/office/drawing/2014/main" id="{5DC11B8E-C88E-9769-7C78-4FDEBE096F9B}"/>
              </a:ext>
            </a:extLst>
          </p:cNvPr>
          <p:cNvPicPr>
            <a:picLocks noChangeAspect="1"/>
          </p:cNvPicPr>
          <p:nvPr/>
        </p:nvPicPr>
        <p:blipFill>
          <a:blip r:embed="rId5"/>
          <a:stretch>
            <a:fillRect/>
          </a:stretch>
        </p:blipFill>
        <p:spPr>
          <a:xfrm>
            <a:off x="3051048" y="834135"/>
            <a:ext cx="2689606" cy="3082249"/>
          </a:xfrm>
          <a:prstGeom prst="rect">
            <a:avLst/>
          </a:prstGeom>
        </p:spPr>
      </p:pic>
      <p:pic>
        <p:nvPicPr>
          <p:cNvPr id="10" name="Picture 9">
            <a:extLst>
              <a:ext uri="{FF2B5EF4-FFF2-40B4-BE49-F238E27FC236}">
                <a16:creationId xmlns:a16="http://schemas.microsoft.com/office/drawing/2014/main" id="{C393260D-BA5F-98CB-911B-940895B3CF05}"/>
              </a:ext>
            </a:extLst>
          </p:cNvPr>
          <p:cNvPicPr>
            <a:picLocks noChangeAspect="1"/>
          </p:cNvPicPr>
          <p:nvPr/>
        </p:nvPicPr>
        <p:blipFill>
          <a:blip r:embed="rId6"/>
          <a:stretch>
            <a:fillRect/>
          </a:stretch>
        </p:blipFill>
        <p:spPr>
          <a:xfrm>
            <a:off x="5866637" y="791942"/>
            <a:ext cx="3042939" cy="3166636"/>
          </a:xfrm>
          <a:prstGeom prst="rect">
            <a:avLst/>
          </a:prstGeom>
        </p:spPr>
      </p:pic>
    </p:spTree>
    <p:extLst>
      <p:ext uri="{BB962C8B-B14F-4D97-AF65-F5344CB8AC3E}">
        <p14:creationId xmlns:p14="http://schemas.microsoft.com/office/powerpoint/2010/main" val="897491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Google Shape;238;p7">
            <a:extLst>
              <a:ext uri="{FF2B5EF4-FFF2-40B4-BE49-F238E27FC236}">
                <a16:creationId xmlns:a16="http://schemas.microsoft.com/office/drawing/2014/main" id="{AE9EA303-3B61-D539-62C4-9CFB5441EE74}"/>
              </a:ext>
            </a:extLst>
          </p:cNvPr>
          <p:cNvSpPr/>
          <p:nvPr/>
        </p:nvSpPr>
        <p:spPr>
          <a:xfrm>
            <a:off x="497190" y="107405"/>
            <a:ext cx="3075029" cy="544841"/>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Footer Placeholder 1">
            <a:extLst>
              <a:ext uri="{FF2B5EF4-FFF2-40B4-BE49-F238E27FC236}">
                <a16:creationId xmlns:a16="http://schemas.microsoft.com/office/drawing/2014/main" id="{00D99C16-8F1F-B4CC-1F47-FAE1898795A9}"/>
              </a:ext>
            </a:extLst>
          </p:cNvPr>
          <p:cNvSpPr>
            <a:spLocks noGrp="1"/>
          </p:cNvSpPr>
          <p:nvPr>
            <p:ph type="ftr" sz="quarter" idx="11"/>
          </p:nvPr>
        </p:nvSpPr>
        <p:spPr/>
        <p:txBody>
          <a:bodyPr/>
          <a:lstStyle/>
          <a:p>
            <a:r>
              <a:rPr lang="en-US" sz="900"/>
              <a:t>College of Computing and Data Science</a:t>
            </a:r>
            <a:endParaRPr lang="en-US" sz="900" dirty="0"/>
          </a:p>
        </p:txBody>
      </p:sp>
      <p:sp>
        <p:nvSpPr>
          <p:cNvPr id="36" name="Google Shape;237;p7">
            <a:extLst>
              <a:ext uri="{FF2B5EF4-FFF2-40B4-BE49-F238E27FC236}">
                <a16:creationId xmlns:a16="http://schemas.microsoft.com/office/drawing/2014/main" id="{5FC439DB-8CF1-8DDF-FD5A-39206A3DABB1}"/>
              </a:ext>
            </a:extLst>
          </p:cNvPr>
          <p:cNvSpPr/>
          <p:nvPr/>
        </p:nvSpPr>
        <p:spPr>
          <a:xfrm>
            <a:off x="1216316" y="107404"/>
            <a:ext cx="1795789" cy="501660"/>
          </a:xfrm>
          <a:prstGeom prst="rect">
            <a:avLst/>
          </a:prstGeom>
          <a:noFill/>
          <a:ln>
            <a:noFill/>
          </a:ln>
        </p:spPr>
        <p:txBody>
          <a:bodyPr spcFirstLastPara="1" wrap="square" lIns="102100" tIns="102100" rIns="102100" bIns="102100" anchor="ctr" anchorCtr="0">
            <a:spAutoFit/>
          </a:bodyPr>
          <a:lstStyle/>
          <a:p>
            <a:pPr marL="0" marR="0" lvl="0" indent="0" algn="l" rtl="0">
              <a:lnSpc>
                <a:spcPct val="120000"/>
              </a:lnSpc>
              <a:spcBef>
                <a:spcPts val="0"/>
              </a:spcBef>
              <a:spcAft>
                <a:spcPts val="0"/>
              </a:spcAft>
              <a:buClr>
                <a:srgbClr val="FFFFFF"/>
              </a:buClr>
              <a:buSzPts val="800"/>
              <a:buFont typeface="Inter"/>
              <a:buNone/>
            </a:pPr>
            <a:r>
              <a:rPr lang="en-US" sz="1600" b="1" i="0" u="none" strike="noStrike" cap="none" dirty="0">
                <a:solidFill>
                  <a:srgbClr val="FFFFFF"/>
                </a:solidFill>
                <a:latin typeface="Inter"/>
                <a:ea typeface="Inter"/>
                <a:cs typeface="Inter"/>
                <a:sym typeface="Inter"/>
              </a:rPr>
              <a:t>Standalone LLM</a:t>
            </a:r>
            <a:endParaRPr sz="1600" b="0" i="0" u="none" strike="noStrike" cap="none" dirty="0">
              <a:solidFill>
                <a:schemeClr val="dk1"/>
              </a:solidFill>
              <a:latin typeface="Calibri"/>
              <a:ea typeface="Calibri"/>
              <a:cs typeface="Calibri"/>
              <a:sym typeface="Calibri"/>
            </a:endParaRPr>
          </a:p>
        </p:txBody>
      </p:sp>
      <p:sp>
        <p:nvSpPr>
          <p:cNvPr id="37" name="Google Shape;238;p7">
            <a:extLst>
              <a:ext uri="{FF2B5EF4-FFF2-40B4-BE49-F238E27FC236}">
                <a16:creationId xmlns:a16="http://schemas.microsoft.com/office/drawing/2014/main" id="{B671F49A-0CF3-B0EE-9230-8973FCBF48CE}"/>
              </a:ext>
            </a:extLst>
          </p:cNvPr>
          <p:cNvSpPr/>
          <p:nvPr/>
        </p:nvSpPr>
        <p:spPr>
          <a:xfrm>
            <a:off x="4859961" y="150587"/>
            <a:ext cx="3075029" cy="544841"/>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239;p7">
            <a:extLst>
              <a:ext uri="{FF2B5EF4-FFF2-40B4-BE49-F238E27FC236}">
                <a16:creationId xmlns:a16="http://schemas.microsoft.com/office/drawing/2014/main" id="{CCEB564B-667D-1973-137C-E80495123DA3}"/>
              </a:ext>
            </a:extLst>
          </p:cNvPr>
          <p:cNvSpPr/>
          <p:nvPr/>
        </p:nvSpPr>
        <p:spPr>
          <a:xfrm>
            <a:off x="5359506" y="150586"/>
            <a:ext cx="2476500" cy="501660"/>
          </a:xfrm>
          <a:prstGeom prst="rect">
            <a:avLst/>
          </a:prstGeom>
          <a:noFill/>
          <a:ln>
            <a:noFill/>
          </a:ln>
        </p:spPr>
        <p:txBody>
          <a:bodyPr spcFirstLastPara="1" wrap="square" lIns="102100" tIns="102100" rIns="102100" bIns="102100" anchor="ctr" anchorCtr="0">
            <a:spAutoFit/>
          </a:bodyPr>
          <a:lstStyle/>
          <a:p>
            <a:pPr marL="0" marR="0" lvl="0" indent="0" algn="l" rtl="0">
              <a:lnSpc>
                <a:spcPct val="120000"/>
              </a:lnSpc>
              <a:spcBef>
                <a:spcPts val="0"/>
              </a:spcBef>
              <a:spcAft>
                <a:spcPts val="0"/>
              </a:spcAft>
              <a:buClr>
                <a:srgbClr val="FFFFFF"/>
              </a:buClr>
              <a:buSzPts val="800"/>
              <a:buFont typeface="Inter"/>
              <a:buNone/>
            </a:pPr>
            <a:r>
              <a:rPr lang="en-US" sz="1600" b="1" i="0" u="none" strike="noStrike" cap="none" dirty="0">
                <a:solidFill>
                  <a:srgbClr val="FFFFFF"/>
                </a:solidFill>
                <a:latin typeface="Inter"/>
                <a:ea typeface="Inter"/>
                <a:cs typeface="Inter"/>
                <a:sym typeface="Inter"/>
              </a:rPr>
              <a:t>RAG-Based Assistant</a:t>
            </a:r>
            <a:endParaRPr sz="1600" b="0" i="0" u="none" strike="noStrike" cap="none" dirty="0">
              <a:solidFill>
                <a:schemeClr val="dk1"/>
              </a:solidFill>
              <a:latin typeface="Calibri"/>
              <a:ea typeface="Calibri"/>
              <a:cs typeface="Calibri"/>
              <a:sym typeface="Calibri"/>
            </a:endParaRPr>
          </a:p>
        </p:txBody>
      </p:sp>
      <p:pic>
        <p:nvPicPr>
          <p:cNvPr id="44" name="Picture 43">
            <a:extLst>
              <a:ext uri="{FF2B5EF4-FFF2-40B4-BE49-F238E27FC236}">
                <a16:creationId xmlns:a16="http://schemas.microsoft.com/office/drawing/2014/main" id="{2360B732-EBE9-602E-3229-9B8ABFD6A69B}"/>
              </a:ext>
            </a:extLst>
          </p:cNvPr>
          <p:cNvPicPr>
            <a:picLocks noChangeAspect="1"/>
          </p:cNvPicPr>
          <p:nvPr/>
        </p:nvPicPr>
        <p:blipFill>
          <a:blip r:embed="rId3"/>
          <a:stretch>
            <a:fillRect/>
          </a:stretch>
        </p:blipFill>
        <p:spPr>
          <a:xfrm>
            <a:off x="4349500" y="695428"/>
            <a:ext cx="4076700" cy="3390900"/>
          </a:xfrm>
          <a:prstGeom prst="rect">
            <a:avLst/>
          </a:prstGeom>
        </p:spPr>
      </p:pic>
      <p:pic>
        <p:nvPicPr>
          <p:cNvPr id="46" name="Picture 45">
            <a:extLst>
              <a:ext uri="{FF2B5EF4-FFF2-40B4-BE49-F238E27FC236}">
                <a16:creationId xmlns:a16="http://schemas.microsoft.com/office/drawing/2014/main" id="{395F5366-A33D-6406-25CB-2D2103CB5CDE}"/>
              </a:ext>
            </a:extLst>
          </p:cNvPr>
          <p:cNvPicPr>
            <a:picLocks noChangeAspect="1"/>
          </p:cNvPicPr>
          <p:nvPr/>
        </p:nvPicPr>
        <p:blipFill>
          <a:blip r:embed="rId4"/>
          <a:stretch>
            <a:fillRect/>
          </a:stretch>
        </p:blipFill>
        <p:spPr>
          <a:xfrm>
            <a:off x="4606975" y="4030381"/>
            <a:ext cx="3848100" cy="571500"/>
          </a:xfrm>
          <a:prstGeom prst="rect">
            <a:avLst/>
          </a:prstGeom>
        </p:spPr>
      </p:pic>
      <p:pic>
        <p:nvPicPr>
          <p:cNvPr id="48" name="Picture 47">
            <a:extLst>
              <a:ext uri="{FF2B5EF4-FFF2-40B4-BE49-F238E27FC236}">
                <a16:creationId xmlns:a16="http://schemas.microsoft.com/office/drawing/2014/main" id="{D37C4F42-A1F4-C6AE-0465-945FDF2D4A15}"/>
              </a:ext>
            </a:extLst>
          </p:cNvPr>
          <p:cNvPicPr>
            <a:picLocks noChangeAspect="1"/>
          </p:cNvPicPr>
          <p:nvPr/>
        </p:nvPicPr>
        <p:blipFill>
          <a:blip r:embed="rId5"/>
          <a:stretch>
            <a:fillRect/>
          </a:stretch>
        </p:blipFill>
        <p:spPr>
          <a:xfrm>
            <a:off x="381351" y="671576"/>
            <a:ext cx="3893687" cy="3930305"/>
          </a:xfrm>
          <a:prstGeom prst="rect">
            <a:avLst/>
          </a:prstGeom>
        </p:spPr>
      </p:pic>
      <p:cxnSp>
        <p:nvCxnSpPr>
          <p:cNvPr id="50" name="Straight Connector 49">
            <a:extLst>
              <a:ext uri="{FF2B5EF4-FFF2-40B4-BE49-F238E27FC236}">
                <a16:creationId xmlns:a16="http://schemas.microsoft.com/office/drawing/2014/main" id="{999E6FB8-8532-F717-6904-7F1EEDD2B997}"/>
              </a:ext>
            </a:extLst>
          </p:cNvPr>
          <p:cNvCxnSpPr>
            <a:cxnSpLocks/>
          </p:cNvCxnSpPr>
          <p:nvPr/>
        </p:nvCxnSpPr>
        <p:spPr>
          <a:xfrm>
            <a:off x="5999737" y="3421119"/>
            <a:ext cx="1836269"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5BC73820-D111-AF3D-3C11-8EE4BAD35544}"/>
              </a:ext>
            </a:extLst>
          </p:cNvPr>
          <p:cNvCxnSpPr>
            <a:cxnSpLocks/>
          </p:cNvCxnSpPr>
          <p:nvPr/>
        </p:nvCxnSpPr>
        <p:spPr>
          <a:xfrm>
            <a:off x="4696497" y="3605491"/>
            <a:ext cx="183858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F188FA5A-D9A4-8A58-07F6-F8E70F8F94FE}"/>
              </a:ext>
            </a:extLst>
          </p:cNvPr>
          <p:cNvCxnSpPr>
            <a:cxnSpLocks/>
          </p:cNvCxnSpPr>
          <p:nvPr/>
        </p:nvCxnSpPr>
        <p:spPr>
          <a:xfrm>
            <a:off x="6485864" y="4030381"/>
            <a:ext cx="183858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EE8936AC-84E3-E947-C7BA-80F8D6BFFC1C}"/>
              </a:ext>
            </a:extLst>
          </p:cNvPr>
          <p:cNvCxnSpPr>
            <a:cxnSpLocks/>
          </p:cNvCxnSpPr>
          <p:nvPr/>
        </p:nvCxnSpPr>
        <p:spPr>
          <a:xfrm>
            <a:off x="5001296" y="4201964"/>
            <a:ext cx="183858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4E0EAA6-E64C-0015-72D2-157370D73026}"/>
              </a:ext>
            </a:extLst>
          </p:cNvPr>
          <p:cNvCxnSpPr>
            <a:cxnSpLocks/>
          </p:cNvCxnSpPr>
          <p:nvPr/>
        </p:nvCxnSpPr>
        <p:spPr>
          <a:xfrm>
            <a:off x="1630059" y="3097066"/>
            <a:ext cx="967589"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0CB802B7-07D1-7AFB-243A-CB0E26B28997}"/>
              </a:ext>
            </a:extLst>
          </p:cNvPr>
          <p:cNvCxnSpPr>
            <a:cxnSpLocks/>
          </p:cNvCxnSpPr>
          <p:nvPr/>
        </p:nvCxnSpPr>
        <p:spPr>
          <a:xfrm>
            <a:off x="7367329" y="4397907"/>
            <a:ext cx="100081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6641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EF1FE1-DB61-CC1C-5355-4303F40CA2A8}"/>
              </a:ext>
            </a:extLst>
          </p:cNvPr>
          <p:cNvSpPr>
            <a:spLocks noGrp="1"/>
          </p:cNvSpPr>
          <p:nvPr>
            <p:ph type="ftr" sz="quarter" idx="11"/>
          </p:nvPr>
        </p:nvSpPr>
        <p:spPr/>
        <p:txBody>
          <a:bodyPr/>
          <a:lstStyle/>
          <a:p>
            <a:r>
              <a:rPr lang="en-US" sz="900"/>
              <a:t>College of Computing and Data Science</a:t>
            </a:r>
            <a:endParaRPr lang="en-US" sz="900" dirty="0"/>
          </a:p>
        </p:txBody>
      </p:sp>
      <p:pic>
        <p:nvPicPr>
          <p:cNvPr id="4" name="Picture 3">
            <a:extLst>
              <a:ext uri="{FF2B5EF4-FFF2-40B4-BE49-F238E27FC236}">
                <a16:creationId xmlns:a16="http://schemas.microsoft.com/office/drawing/2014/main" id="{0E87441F-2D23-39C1-6258-25811B443AC2}"/>
              </a:ext>
            </a:extLst>
          </p:cNvPr>
          <p:cNvPicPr>
            <a:picLocks noChangeAspect="1"/>
          </p:cNvPicPr>
          <p:nvPr/>
        </p:nvPicPr>
        <p:blipFill>
          <a:blip r:embed="rId2"/>
          <a:srcRect l="881"/>
          <a:stretch>
            <a:fillRect/>
          </a:stretch>
        </p:blipFill>
        <p:spPr>
          <a:xfrm>
            <a:off x="1226464" y="129647"/>
            <a:ext cx="6234652" cy="3856598"/>
          </a:xfrm>
          <a:prstGeom prst="rect">
            <a:avLst/>
          </a:prstGeom>
        </p:spPr>
      </p:pic>
      <p:pic>
        <p:nvPicPr>
          <p:cNvPr id="5" name="Picture 4">
            <a:extLst>
              <a:ext uri="{FF2B5EF4-FFF2-40B4-BE49-F238E27FC236}">
                <a16:creationId xmlns:a16="http://schemas.microsoft.com/office/drawing/2014/main" id="{16800292-6A1A-7D7F-88D7-0A71CFB430EB}"/>
              </a:ext>
            </a:extLst>
          </p:cNvPr>
          <p:cNvPicPr>
            <a:picLocks noChangeAspect="1"/>
          </p:cNvPicPr>
          <p:nvPr/>
        </p:nvPicPr>
        <p:blipFill>
          <a:blip r:embed="rId3"/>
          <a:stretch>
            <a:fillRect/>
          </a:stretch>
        </p:blipFill>
        <p:spPr>
          <a:xfrm>
            <a:off x="938719" y="3441512"/>
            <a:ext cx="7266561" cy="1111675"/>
          </a:xfrm>
          <a:prstGeom prst="rect">
            <a:avLst/>
          </a:prstGeom>
        </p:spPr>
      </p:pic>
      <p:cxnSp>
        <p:nvCxnSpPr>
          <p:cNvPr id="6" name="Straight Connector 5">
            <a:extLst>
              <a:ext uri="{FF2B5EF4-FFF2-40B4-BE49-F238E27FC236}">
                <a16:creationId xmlns:a16="http://schemas.microsoft.com/office/drawing/2014/main" id="{F2541C13-F00E-A3D4-C62F-70C16A67EDE1}"/>
              </a:ext>
            </a:extLst>
          </p:cNvPr>
          <p:cNvCxnSpPr>
            <a:cxnSpLocks/>
          </p:cNvCxnSpPr>
          <p:nvPr/>
        </p:nvCxnSpPr>
        <p:spPr>
          <a:xfrm>
            <a:off x="7627995" y="4439283"/>
            <a:ext cx="49402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89ECE5A-CC2C-5423-0F8F-AA6D156B5B38}"/>
              </a:ext>
            </a:extLst>
          </p:cNvPr>
          <p:cNvCxnSpPr>
            <a:cxnSpLocks/>
          </p:cNvCxnSpPr>
          <p:nvPr/>
        </p:nvCxnSpPr>
        <p:spPr>
          <a:xfrm>
            <a:off x="3351408" y="2940389"/>
            <a:ext cx="72135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3547DA9-4D4B-C26B-F8BD-652E6D4D73B3}"/>
              </a:ext>
            </a:extLst>
          </p:cNvPr>
          <p:cNvCxnSpPr>
            <a:cxnSpLocks/>
          </p:cNvCxnSpPr>
          <p:nvPr/>
        </p:nvCxnSpPr>
        <p:spPr>
          <a:xfrm>
            <a:off x="2763524" y="3019217"/>
            <a:ext cx="36067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AAE441F-C879-E4AA-96E6-28F86C6894D3}"/>
              </a:ext>
            </a:extLst>
          </p:cNvPr>
          <p:cNvCxnSpPr>
            <a:cxnSpLocks/>
          </p:cNvCxnSpPr>
          <p:nvPr/>
        </p:nvCxnSpPr>
        <p:spPr>
          <a:xfrm>
            <a:off x="3579042" y="2257216"/>
            <a:ext cx="36067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618FB5B-7D5A-70B4-F32F-3E8ADD511989}"/>
              </a:ext>
            </a:extLst>
          </p:cNvPr>
          <p:cNvCxnSpPr>
            <a:cxnSpLocks/>
          </p:cNvCxnSpPr>
          <p:nvPr/>
        </p:nvCxnSpPr>
        <p:spPr>
          <a:xfrm>
            <a:off x="2781221" y="2330789"/>
            <a:ext cx="570187"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624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580E8-888C-95CB-9B08-12A979E943C8}"/>
            </a:ext>
          </a:extLst>
        </p:cNvPr>
        <p:cNvGrpSpPr/>
        <p:nvPr/>
      </p:nvGrpSpPr>
      <p:grpSpPr>
        <a:xfrm>
          <a:off x="0" y="0"/>
          <a:ext cx="0" cy="0"/>
          <a:chOff x="0" y="0"/>
          <a:chExt cx="0" cy="0"/>
        </a:xfrm>
      </p:grpSpPr>
      <p:sp>
        <p:nvSpPr>
          <p:cNvPr id="39" name="Google Shape;238;p7">
            <a:extLst>
              <a:ext uri="{FF2B5EF4-FFF2-40B4-BE49-F238E27FC236}">
                <a16:creationId xmlns:a16="http://schemas.microsoft.com/office/drawing/2014/main" id="{0E88F82E-C58A-106F-2FDE-0D1AD67ACFD9}"/>
              </a:ext>
            </a:extLst>
          </p:cNvPr>
          <p:cNvSpPr/>
          <p:nvPr/>
        </p:nvSpPr>
        <p:spPr>
          <a:xfrm>
            <a:off x="497190" y="107405"/>
            <a:ext cx="3075029" cy="544841"/>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Footer Placeholder 1">
            <a:extLst>
              <a:ext uri="{FF2B5EF4-FFF2-40B4-BE49-F238E27FC236}">
                <a16:creationId xmlns:a16="http://schemas.microsoft.com/office/drawing/2014/main" id="{25C7C2EA-AC2D-9BB8-3790-9C2210800F94}"/>
              </a:ext>
            </a:extLst>
          </p:cNvPr>
          <p:cNvSpPr>
            <a:spLocks noGrp="1"/>
          </p:cNvSpPr>
          <p:nvPr>
            <p:ph type="ftr" sz="quarter" idx="11"/>
          </p:nvPr>
        </p:nvSpPr>
        <p:spPr/>
        <p:txBody>
          <a:bodyPr/>
          <a:lstStyle/>
          <a:p>
            <a:r>
              <a:rPr lang="en-US" sz="900"/>
              <a:t>College of Computing and Data Science</a:t>
            </a:r>
            <a:endParaRPr lang="en-US" sz="900" dirty="0"/>
          </a:p>
        </p:txBody>
      </p:sp>
      <p:sp>
        <p:nvSpPr>
          <p:cNvPr id="36" name="Google Shape;237;p7">
            <a:extLst>
              <a:ext uri="{FF2B5EF4-FFF2-40B4-BE49-F238E27FC236}">
                <a16:creationId xmlns:a16="http://schemas.microsoft.com/office/drawing/2014/main" id="{F9C5F0D6-15A9-5043-0DB9-71F5C670DB22}"/>
              </a:ext>
            </a:extLst>
          </p:cNvPr>
          <p:cNvSpPr/>
          <p:nvPr/>
        </p:nvSpPr>
        <p:spPr>
          <a:xfrm>
            <a:off x="1216316" y="107404"/>
            <a:ext cx="1795789" cy="501660"/>
          </a:xfrm>
          <a:prstGeom prst="rect">
            <a:avLst/>
          </a:prstGeom>
          <a:noFill/>
          <a:ln>
            <a:noFill/>
          </a:ln>
        </p:spPr>
        <p:txBody>
          <a:bodyPr spcFirstLastPara="1" wrap="square" lIns="102100" tIns="102100" rIns="102100" bIns="102100" anchor="ctr" anchorCtr="0">
            <a:spAutoFit/>
          </a:bodyPr>
          <a:lstStyle/>
          <a:p>
            <a:pPr marL="0" marR="0" lvl="0" indent="0" algn="l" rtl="0">
              <a:lnSpc>
                <a:spcPct val="120000"/>
              </a:lnSpc>
              <a:spcBef>
                <a:spcPts val="0"/>
              </a:spcBef>
              <a:spcAft>
                <a:spcPts val="0"/>
              </a:spcAft>
              <a:buClr>
                <a:srgbClr val="FFFFFF"/>
              </a:buClr>
              <a:buSzPts val="800"/>
              <a:buFont typeface="Inter"/>
              <a:buNone/>
            </a:pPr>
            <a:r>
              <a:rPr lang="en-US" sz="1600" b="1" i="0" u="none" strike="noStrike" cap="none" dirty="0">
                <a:solidFill>
                  <a:srgbClr val="FFFFFF"/>
                </a:solidFill>
                <a:latin typeface="Inter"/>
                <a:ea typeface="Inter"/>
                <a:cs typeface="Inter"/>
                <a:sym typeface="Inter"/>
              </a:rPr>
              <a:t>Standalone LLM</a:t>
            </a:r>
            <a:endParaRPr sz="1600" b="0" i="0" u="none" strike="noStrike" cap="none" dirty="0">
              <a:solidFill>
                <a:schemeClr val="dk1"/>
              </a:solidFill>
              <a:latin typeface="Calibri"/>
              <a:ea typeface="Calibri"/>
              <a:cs typeface="Calibri"/>
              <a:sym typeface="Calibri"/>
            </a:endParaRPr>
          </a:p>
        </p:txBody>
      </p:sp>
      <p:sp>
        <p:nvSpPr>
          <p:cNvPr id="37" name="Google Shape;238;p7">
            <a:extLst>
              <a:ext uri="{FF2B5EF4-FFF2-40B4-BE49-F238E27FC236}">
                <a16:creationId xmlns:a16="http://schemas.microsoft.com/office/drawing/2014/main" id="{2085A9A3-8E9D-D16E-2E2B-801649B74342}"/>
              </a:ext>
            </a:extLst>
          </p:cNvPr>
          <p:cNvSpPr/>
          <p:nvPr/>
        </p:nvSpPr>
        <p:spPr>
          <a:xfrm>
            <a:off x="4859961" y="150587"/>
            <a:ext cx="3075029" cy="544841"/>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239;p7">
            <a:extLst>
              <a:ext uri="{FF2B5EF4-FFF2-40B4-BE49-F238E27FC236}">
                <a16:creationId xmlns:a16="http://schemas.microsoft.com/office/drawing/2014/main" id="{4FEDF793-D0E6-09EB-4ED8-FDF2A5DA755D}"/>
              </a:ext>
            </a:extLst>
          </p:cNvPr>
          <p:cNvSpPr/>
          <p:nvPr/>
        </p:nvSpPr>
        <p:spPr>
          <a:xfrm>
            <a:off x="5359506" y="150586"/>
            <a:ext cx="2476500" cy="501660"/>
          </a:xfrm>
          <a:prstGeom prst="rect">
            <a:avLst/>
          </a:prstGeom>
          <a:noFill/>
          <a:ln>
            <a:noFill/>
          </a:ln>
        </p:spPr>
        <p:txBody>
          <a:bodyPr spcFirstLastPara="1" wrap="square" lIns="102100" tIns="102100" rIns="102100" bIns="102100" anchor="ctr" anchorCtr="0">
            <a:spAutoFit/>
          </a:bodyPr>
          <a:lstStyle/>
          <a:p>
            <a:pPr marL="0" marR="0" lvl="0" indent="0" algn="l" rtl="0">
              <a:lnSpc>
                <a:spcPct val="120000"/>
              </a:lnSpc>
              <a:spcBef>
                <a:spcPts val="0"/>
              </a:spcBef>
              <a:spcAft>
                <a:spcPts val="0"/>
              </a:spcAft>
              <a:buClr>
                <a:srgbClr val="FFFFFF"/>
              </a:buClr>
              <a:buSzPts val="800"/>
              <a:buFont typeface="Inter"/>
              <a:buNone/>
            </a:pPr>
            <a:r>
              <a:rPr lang="en-US" sz="1600" b="1" i="0" u="none" strike="noStrike" cap="none" dirty="0">
                <a:solidFill>
                  <a:srgbClr val="FFFFFF"/>
                </a:solidFill>
                <a:latin typeface="Inter"/>
                <a:ea typeface="Inter"/>
                <a:cs typeface="Inter"/>
                <a:sym typeface="Inter"/>
              </a:rPr>
              <a:t>RAG-Based Assistant</a:t>
            </a:r>
            <a:endParaRPr sz="1600" b="0"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94C9D286-EDDC-70ED-1886-F0A4AA35FCF4}"/>
              </a:ext>
            </a:extLst>
          </p:cNvPr>
          <p:cNvPicPr>
            <a:picLocks noChangeAspect="1"/>
          </p:cNvPicPr>
          <p:nvPr/>
        </p:nvPicPr>
        <p:blipFill>
          <a:blip r:embed="rId3"/>
          <a:stretch>
            <a:fillRect/>
          </a:stretch>
        </p:blipFill>
        <p:spPr>
          <a:xfrm>
            <a:off x="4409925" y="790618"/>
            <a:ext cx="3975100" cy="4000500"/>
          </a:xfrm>
          <a:prstGeom prst="rect">
            <a:avLst/>
          </a:prstGeom>
        </p:spPr>
      </p:pic>
      <p:pic>
        <p:nvPicPr>
          <p:cNvPr id="8" name="Picture 7">
            <a:extLst>
              <a:ext uri="{FF2B5EF4-FFF2-40B4-BE49-F238E27FC236}">
                <a16:creationId xmlns:a16="http://schemas.microsoft.com/office/drawing/2014/main" id="{FCD34645-615A-61D4-ED1C-2843F2D198DD}"/>
              </a:ext>
            </a:extLst>
          </p:cNvPr>
          <p:cNvPicPr>
            <a:picLocks noChangeAspect="1"/>
          </p:cNvPicPr>
          <p:nvPr/>
        </p:nvPicPr>
        <p:blipFill>
          <a:blip r:embed="rId4"/>
          <a:stretch>
            <a:fillRect/>
          </a:stretch>
        </p:blipFill>
        <p:spPr>
          <a:xfrm>
            <a:off x="244325" y="695428"/>
            <a:ext cx="4165600" cy="1422400"/>
          </a:xfrm>
          <a:prstGeom prst="rect">
            <a:avLst/>
          </a:prstGeom>
        </p:spPr>
      </p:pic>
      <p:pic>
        <p:nvPicPr>
          <p:cNvPr id="10" name="Picture 9">
            <a:extLst>
              <a:ext uri="{FF2B5EF4-FFF2-40B4-BE49-F238E27FC236}">
                <a16:creationId xmlns:a16="http://schemas.microsoft.com/office/drawing/2014/main" id="{4B4701F7-2DEA-7A48-2291-64A5BCE8835F}"/>
              </a:ext>
            </a:extLst>
          </p:cNvPr>
          <p:cNvPicPr>
            <a:picLocks noChangeAspect="1"/>
          </p:cNvPicPr>
          <p:nvPr/>
        </p:nvPicPr>
        <p:blipFill>
          <a:blip r:embed="rId5"/>
          <a:srcRect t="4831"/>
          <a:stretch>
            <a:fillRect/>
          </a:stretch>
        </p:blipFill>
        <p:spPr>
          <a:xfrm>
            <a:off x="257025" y="1968742"/>
            <a:ext cx="4152900" cy="2401558"/>
          </a:xfrm>
          <a:prstGeom prst="rect">
            <a:avLst/>
          </a:prstGeom>
        </p:spPr>
      </p:pic>
      <p:cxnSp>
        <p:nvCxnSpPr>
          <p:cNvPr id="11" name="Straight Connector 10">
            <a:extLst>
              <a:ext uri="{FF2B5EF4-FFF2-40B4-BE49-F238E27FC236}">
                <a16:creationId xmlns:a16="http://schemas.microsoft.com/office/drawing/2014/main" id="{B99B39E9-FDF7-2B58-6FD7-87AE0EF552D3}"/>
              </a:ext>
            </a:extLst>
          </p:cNvPr>
          <p:cNvCxnSpPr>
            <a:cxnSpLocks/>
          </p:cNvCxnSpPr>
          <p:nvPr/>
        </p:nvCxnSpPr>
        <p:spPr>
          <a:xfrm>
            <a:off x="4868113" y="2963919"/>
            <a:ext cx="98278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699244B-5E84-2AE7-657C-7409C761AFBC}"/>
              </a:ext>
            </a:extLst>
          </p:cNvPr>
          <p:cNvCxnSpPr>
            <a:cxnSpLocks/>
          </p:cNvCxnSpPr>
          <p:nvPr/>
        </p:nvCxnSpPr>
        <p:spPr>
          <a:xfrm>
            <a:off x="6853220" y="3741607"/>
            <a:ext cx="128897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40C63D-8C12-B23E-1C80-01C2E35F471F}"/>
              </a:ext>
            </a:extLst>
          </p:cNvPr>
          <p:cNvCxnSpPr>
            <a:cxnSpLocks/>
          </p:cNvCxnSpPr>
          <p:nvPr/>
        </p:nvCxnSpPr>
        <p:spPr>
          <a:xfrm>
            <a:off x="6279479" y="3920901"/>
            <a:ext cx="1556527"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3FB1E83-5ECA-9DD2-E468-A1A69B336236}"/>
              </a:ext>
            </a:extLst>
          </p:cNvPr>
          <p:cNvCxnSpPr>
            <a:cxnSpLocks/>
          </p:cNvCxnSpPr>
          <p:nvPr/>
        </p:nvCxnSpPr>
        <p:spPr>
          <a:xfrm>
            <a:off x="5296693" y="4086748"/>
            <a:ext cx="2638297"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78C8C66-F3DC-F58F-E7C5-C26298888649}"/>
              </a:ext>
            </a:extLst>
          </p:cNvPr>
          <p:cNvCxnSpPr>
            <a:cxnSpLocks/>
          </p:cNvCxnSpPr>
          <p:nvPr/>
        </p:nvCxnSpPr>
        <p:spPr>
          <a:xfrm>
            <a:off x="5850899" y="1811953"/>
            <a:ext cx="229129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9C20352-4F1D-4AF5-2BDD-69DDBB67434C}"/>
              </a:ext>
            </a:extLst>
          </p:cNvPr>
          <p:cNvCxnSpPr>
            <a:cxnSpLocks/>
          </p:cNvCxnSpPr>
          <p:nvPr/>
        </p:nvCxnSpPr>
        <p:spPr>
          <a:xfrm>
            <a:off x="4752722" y="2018142"/>
            <a:ext cx="308328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4200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16A9572-8EC8-90ED-D85A-BCB7E03AD60C}"/>
              </a:ext>
            </a:extLst>
          </p:cNvPr>
          <p:cNvSpPr>
            <a:spLocks noGrp="1"/>
          </p:cNvSpPr>
          <p:nvPr>
            <p:ph type="ftr" sz="quarter" idx="11"/>
          </p:nvPr>
        </p:nvSpPr>
        <p:spPr/>
        <p:txBody>
          <a:bodyPr/>
          <a:lstStyle/>
          <a:p>
            <a:r>
              <a:rPr lang="en-US" sz="900"/>
              <a:t>College of Computing and Data Science</a:t>
            </a:r>
            <a:endParaRPr lang="en-US" sz="900" dirty="0"/>
          </a:p>
        </p:txBody>
      </p:sp>
      <p:pic>
        <p:nvPicPr>
          <p:cNvPr id="4" name="Picture 3">
            <a:extLst>
              <a:ext uri="{FF2B5EF4-FFF2-40B4-BE49-F238E27FC236}">
                <a16:creationId xmlns:a16="http://schemas.microsoft.com/office/drawing/2014/main" id="{0BB3ED52-A38E-5FC9-FAB0-78FAFE0C96FD}"/>
              </a:ext>
            </a:extLst>
          </p:cNvPr>
          <p:cNvPicPr>
            <a:picLocks noChangeAspect="1"/>
          </p:cNvPicPr>
          <p:nvPr/>
        </p:nvPicPr>
        <p:blipFill>
          <a:blip r:embed="rId2"/>
          <a:stretch>
            <a:fillRect/>
          </a:stretch>
        </p:blipFill>
        <p:spPr>
          <a:xfrm>
            <a:off x="348815" y="102124"/>
            <a:ext cx="6121824" cy="4048074"/>
          </a:xfrm>
          <a:prstGeom prst="rect">
            <a:avLst/>
          </a:prstGeom>
        </p:spPr>
      </p:pic>
      <p:cxnSp>
        <p:nvCxnSpPr>
          <p:cNvPr id="5" name="Straight Connector 4">
            <a:extLst>
              <a:ext uri="{FF2B5EF4-FFF2-40B4-BE49-F238E27FC236}">
                <a16:creationId xmlns:a16="http://schemas.microsoft.com/office/drawing/2014/main" id="{06143FA4-DBF8-893D-A190-0B8534771830}"/>
              </a:ext>
            </a:extLst>
          </p:cNvPr>
          <p:cNvCxnSpPr>
            <a:cxnSpLocks/>
          </p:cNvCxnSpPr>
          <p:nvPr/>
        </p:nvCxnSpPr>
        <p:spPr>
          <a:xfrm>
            <a:off x="525835" y="3769882"/>
            <a:ext cx="98278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25BE20E-0292-C666-6BEC-EEEE15C5F12D}"/>
              </a:ext>
            </a:extLst>
          </p:cNvPr>
          <p:cNvCxnSpPr>
            <a:cxnSpLocks/>
          </p:cNvCxnSpPr>
          <p:nvPr/>
        </p:nvCxnSpPr>
        <p:spPr>
          <a:xfrm>
            <a:off x="1241540" y="3681206"/>
            <a:ext cx="57188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D143454-A65D-F600-9154-07F69EC18AF5}"/>
              </a:ext>
            </a:extLst>
          </p:cNvPr>
          <p:cNvCxnSpPr>
            <a:cxnSpLocks/>
          </p:cNvCxnSpPr>
          <p:nvPr/>
        </p:nvCxnSpPr>
        <p:spPr>
          <a:xfrm>
            <a:off x="2023226" y="3380415"/>
            <a:ext cx="1123423"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44F2EFC-E4B7-C10F-B1A0-41A35715A172}"/>
              </a:ext>
            </a:extLst>
          </p:cNvPr>
          <p:cNvCxnSpPr>
            <a:cxnSpLocks/>
          </p:cNvCxnSpPr>
          <p:nvPr/>
        </p:nvCxnSpPr>
        <p:spPr>
          <a:xfrm>
            <a:off x="1861150" y="3460244"/>
            <a:ext cx="530757"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8BB339AB-C27E-8709-C2FC-6D43A43A0C6C}"/>
              </a:ext>
            </a:extLst>
          </p:cNvPr>
          <p:cNvPicPr>
            <a:picLocks noChangeAspect="1"/>
          </p:cNvPicPr>
          <p:nvPr/>
        </p:nvPicPr>
        <p:blipFill>
          <a:blip r:embed="rId3"/>
          <a:stretch>
            <a:fillRect/>
          </a:stretch>
        </p:blipFill>
        <p:spPr>
          <a:xfrm>
            <a:off x="5752472" y="1531357"/>
            <a:ext cx="3162862" cy="1849058"/>
          </a:xfrm>
          <a:prstGeom prst="rect">
            <a:avLst/>
          </a:prstGeom>
        </p:spPr>
      </p:pic>
      <p:cxnSp>
        <p:nvCxnSpPr>
          <p:cNvPr id="14" name="Straight Connector 13">
            <a:extLst>
              <a:ext uri="{FF2B5EF4-FFF2-40B4-BE49-F238E27FC236}">
                <a16:creationId xmlns:a16="http://schemas.microsoft.com/office/drawing/2014/main" id="{3FFA26C3-05C8-A8B3-BD9D-0CFF1ECDE8E6}"/>
              </a:ext>
            </a:extLst>
          </p:cNvPr>
          <p:cNvCxnSpPr>
            <a:cxnSpLocks/>
          </p:cNvCxnSpPr>
          <p:nvPr/>
        </p:nvCxnSpPr>
        <p:spPr>
          <a:xfrm>
            <a:off x="3635593" y="3767011"/>
            <a:ext cx="227417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1A7AF994-8883-AE73-876A-5CD075315192}"/>
              </a:ext>
            </a:extLst>
          </p:cNvPr>
          <p:cNvPicPr>
            <a:picLocks noChangeAspect="1"/>
          </p:cNvPicPr>
          <p:nvPr/>
        </p:nvPicPr>
        <p:blipFill>
          <a:blip r:embed="rId4"/>
          <a:stretch>
            <a:fillRect/>
          </a:stretch>
        </p:blipFill>
        <p:spPr>
          <a:xfrm>
            <a:off x="2391907" y="3656507"/>
            <a:ext cx="6635534" cy="1067210"/>
          </a:xfrm>
          <a:prstGeom prst="rect">
            <a:avLst/>
          </a:prstGeom>
        </p:spPr>
      </p:pic>
      <p:cxnSp>
        <p:nvCxnSpPr>
          <p:cNvPr id="18" name="Straight Connector 17">
            <a:extLst>
              <a:ext uri="{FF2B5EF4-FFF2-40B4-BE49-F238E27FC236}">
                <a16:creationId xmlns:a16="http://schemas.microsoft.com/office/drawing/2014/main" id="{C24527FF-D03C-F9DE-EB84-3FDD64B8D610}"/>
              </a:ext>
            </a:extLst>
          </p:cNvPr>
          <p:cNvCxnSpPr>
            <a:cxnSpLocks/>
          </p:cNvCxnSpPr>
          <p:nvPr/>
        </p:nvCxnSpPr>
        <p:spPr>
          <a:xfrm>
            <a:off x="7957292" y="4667960"/>
            <a:ext cx="530757"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822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F3D94-5AED-DB33-F809-C9C377627AF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E1E7DB-D59F-ADC6-F61D-2D53E18F58F1}"/>
              </a:ext>
            </a:extLst>
          </p:cNvPr>
          <p:cNvSpPr>
            <a:spLocks noGrp="1"/>
          </p:cNvSpPr>
          <p:nvPr>
            <p:ph type="ftr" sz="quarter" idx="11"/>
          </p:nvPr>
        </p:nvSpPr>
        <p:spPr/>
        <p:txBody>
          <a:bodyPr/>
          <a:lstStyle/>
          <a:p>
            <a:r>
              <a:rPr lang="en-US" sz="900"/>
              <a:t>College of Computing and Data Science</a:t>
            </a:r>
            <a:endParaRPr lang="en-US" sz="900" dirty="0"/>
          </a:p>
        </p:txBody>
      </p:sp>
      <p:sp>
        <p:nvSpPr>
          <p:cNvPr id="9" name="Google Shape;276;p8">
            <a:extLst>
              <a:ext uri="{FF2B5EF4-FFF2-40B4-BE49-F238E27FC236}">
                <a16:creationId xmlns:a16="http://schemas.microsoft.com/office/drawing/2014/main" id="{9D25F38D-1D7F-4D16-D504-F11D066418E0}"/>
              </a:ext>
            </a:extLst>
          </p:cNvPr>
          <p:cNvSpPr/>
          <p:nvPr/>
        </p:nvSpPr>
        <p:spPr>
          <a:xfrm>
            <a:off x="285750" y="357188"/>
            <a:ext cx="8572500" cy="550069"/>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77;p8">
            <a:extLst>
              <a:ext uri="{FF2B5EF4-FFF2-40B4-BE49-F238E27FC236}">
                <a16:creationId xmlns:a16="http://schemas.microsoft.com/office/drawing/2014/main" id="{DC185B9F-5065-1645-72CD-1D269DC475EB}"/>
              </a:ext>
            </a:extLst>
          </p:cNvPr>
          <p:cNvSpPr/>
          <p:nvPr/>
        </p:nvSpPr>
        <p:spPr>
          <a:xfrm>
            <a:off x="285750" y="878681"/>
            <a:ext cx="85725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78;p8">
            <a:extLst>
              <a:ext uri="{FF2B5EF4-FFF2-40B4-BE49-F238E27FC236}">
                <a16:creationId xmlns:a16="http://schemas.microsoft.com/office/drawing/2014/main" id="{62E4CB83-FC39-9815-6241-AC336134BCC9}"/>
              </a:ext>
            </a:extLst>
          </p:cNvPr>
          <p:cNvSpPr/>
          <p:nvPr/>
        </p:nvSpPr>
        <p:spPr>
          <a:xfrm>
            <a:off x="285750" y="357188"/>
            <a:ext cx="8572500" cy="550069"/>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100"/>
              <a:buFont typeface="Inter"/>
              <a:buNone/>
            </a:pPr>
            <a:r>
              <a:rPr lang="en-US" sz="2100" b="1" i="0" u="none" strike="noStrike" cap="none">
                <a:solidFill>
                  <a:srgbClr val="2C3E50"/>
                </a:solidFill>
                <a:latin typeface="Inter"/>
                <a:ea typeface="Inter"/>
                <a:cs typeface="Inter"/>
                <a:sym typeface="Inter"/>
              </a:rPr>
              <a:t>Evaluation: Factuality &amp; Local Relevance</a:t>
            </a:r>
            <a:endParaRPr sz="2100" b="0" i="0" u="none" strike="noStrike" cap="none">
              <a:solidFill>
                <a:schemeClr val="dk1"/>
              </a:solidFill>
              <a:latin typeface="Calibri"/>
              <a:ea typeface="Calibri"/>
              <a:cs typeface="Calibri"/>
              <a:sym typeface="Calibri"/>
            </a:endParaRPr>
          </a:p>
        </p:txBody>
      </p:sp>
      <p:sp>
        <p:nvSpPr>
          <p:cNvPr id="12" name="Google Shape;279;p8">
            <a:extLst>
              <a:ext uri="{FF2B5EF4-FFF2-40B4-BE49-F238E27FC236}">
                <a16:creationId xmlns:a16="http://schemas.microsoft.com/office/drawing/2014/main" id="{F8A3D6C8-B57D-D606-6F3B-5A931F042D4A}"/>
              </a:ext>
            </a:extLst>
          </p:cNvPr>
          <p:cNvSpPr/>
          <p:nvPr/>
        </p:nvSpPr>
        <p:spPr>
          <a:xfrm>
            <a:off x="285750" y="1021556"/>
            <a:ext cx="8572500" cy="4286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1050"/>
              <a:buFont typeface="Inter"/>
              <a:buNone/>
            </a:pPr>
            <a:r>
              <a:rPr lang="en-US" sz="1050" b="0" i="0" u="none" strike="noStrike" cap="none" dirty="0">
                <a:solidFill>
                  <a:srgbClr val="2C3E50"/>
                </a:solidFill>
                <a:latin typeface="Inter"/>
                <a:ea typeface="Inter"/>
                <a:cs typeface="Inter"/>
                <a:sym typeface="Inter"/>
              </a:rPr>
              <a:t>The RAG pipeline was evaluated using an </a:t>
            </a:r>
            <a:r>
              <a:rPr lang="en-US" sz="1000" b="1" i="0" u="none" strike="noStrike" cap="none" dirty="0">
                <a:solidFill>
                  <a:srgbClr val="2C3E50"/>
                </a:solidFill>
                <a:latin typeface="Inter"/>
                <a:ea typeface="Inter"/>
                <a:cs typeface="Inter"/>
                <a:sym typeface="Inter"/>
              </a:rPr>
              <a:t>LLM-as-a-Judge</a:t>
            </a:r>
            <a:r>
              <a:rPr lang="en-US" sz="1050" b="0" i="0" u="none" strike="noStrike" cap="none" dirty="0">
                <a:solidFill>
                  <a:srgbClr val="2C3E50"/>
                </a:solidFill>
                <a:latin typeface="Inter"/>
                <a:ea typeface="Inter"/>
                <a:cs typeface="Inter"/>
                <a:sym typeface="Inter"/>
              </a:rPr>
              <a:t> framework (Claude 4.6 Opus) to assess </a:t>
            </a:r>
            <a:r>
              <a:rPr lang="en-US" sz="1050" b="0" i="0" u="none" strike="noStrike" cap="none" dirty="0" err="1">
                <a:solidFill>
                  <a:srgbClr val="2C3E50"/>
                </a:solidFill>
                <a:latin typeface="Inter"/>
                <a:ea typeface="Inter"/>
                <a:cs typeface="Inter"/>
                <a:sym typeface="Inter"/>
              </a:rPr>
              <a:t>groundedness</a:t>
            </a:r>
            <a:r>
              <a:rPr lang="en-US" sz="1050" b="0" i="0" u="none" strike="noStrike" cap="none" dirty="0">
                <a:solidFill>
                  <a:srgbClr val="2C3E50"/>
                </a:solidFill>
                <a:latin typeface="Inter"/>
                <a:ea typeface="Inter"/>
                <a:cs typeface="Inter"/>
                <a:sym typeface="Inter"/>
              </a:rPr>
              <a:t> and educational value.</a:t>
            </a:r>
            <a:endParaRPr sz="1050" b="0" i="0" u="none" strike="noStrike" cap="none" dirty="0">
              <a:solidFill>
                <a:schemeClr val="dk1"/>
              </a:solidFill>
              <a:latin typeface="Calibri"/>
              <a:ea typeface="Calibri"/>
              <a:cs typeface="Calibri"/>
              <a:sym typeface="Calibri"/>
            </a:endParaRPr>
          </a:p>
        </p:txBody>
      </p:sp>
      <p:sp>
        <p:nvSpPr>
          <p:cNvPr id="13" name="Google Shape;280;p8">
            <a:extLst>
              <a:ext uri="{FF2B5EF4-FFF2-40B4-BE49-F238E27FC236}">
                <a16:creationId xmlns:a16="http://schemas.microsoft.com/office/drawing/2014/main" id="{DDEAE741-93E9-6F34-77C1-48874D0FEDD4}"/>
              </a:ext>
            </a:extLst>
          </p:cNvPr>
          <p:cNvSpPr/>
          <p:nvPr/>
        </p:nvSpPr>
        <p:spPr>
          <a:xfrm>
            <a:off x="285750" y="1557338"/>
            <a:ext cx="4221956" cy="378619"/>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 name="Google Shape;281;p8" descr="preencoded.png">
            <a:extLst>
              <a:ext uri="{FF2B5EF4-FFF2-40B4-BE49-F238E27FC236}">
                <a16:creationId xmlns:a16="http://schemas.microsoft.com/office/drawing/2014/main" id="{B8B1ED65-DDAF-EDE7-7403-F94BF8F4EEDC}"/>
              </a:ext>
            </a:extLst>
          </p:cNvPr>
          <p:cNvPicPr preferRelativeResize="0"/>
          <p:nvPr/>
        </p:nvPicPr>
        <p:blipFill rotWithShape="1">
          <a:blip r:embed="rId3">
            <a:alphaModFix/>
          </a:blip>
          <a:srcRect/>
          <a:stretch/>
        </p:blipFill>
        <p:spPr>
          <a:xfrm>
            <a:off x="1518047" y="1666280"/>
            <a:ext cx="157163" cy="157163"/>
          </a:xfrm>
          <a:prstGeom prst="rect">
            <a:avLst/>
          </a:prstGeom>
          <a:noFill/>
          <a:ln>
            <a:noFill/>
          </a:ln>
        </p:spPr>
      </p:pic>
      <p:sp>
        <p:nvSpPr>
          <p:cNvPr id="51" name="Google Shape;282;p8">
            <a:extLst>
              <a:ext uri="{FF2B5EF4-FFF2-40B4-BE49-F238E27FC236}">
                <a16:creationId xmlns:a16="http://schemas.microsoft.com/office/drawing/2014/main" id="{566E8E13-8801-39EC-9CA3-BA805ACA17F6}"/>
              </a:ext>
            </a:extLst>
          </p:cNvPr>
          <p:cNvSpPr/>
          <p:nvPr/>
        </p:nvSpPr>
        <p:spPr>
          <a:xfrm>
            <a:off x="1675209" y="1651992"/>
            <a:ext cx="1600200" cy="189309"/>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FFFFFF"/>
              </a:buClr>
              <a:buSzPts val="1100"/>
              <a:buFont typeface="Inter"/>
              <a:buNone/>
            </a:pPr>
            <a:r>
              <a:rPr lang="en-US" sz="1100" b="1" i="0" u="none" strike="noStrike" cap="none">
                <a:solidFill>
                  <a:srgbClr val="FFFFFF"/>
                </a:solidFill>
                <a:latin typeface="Inter"/>
                <a:ea typeface="Inter"/>
                <a:cs typeface="Inter"/>
                <a:sym typeface="Inter"/>
              </a:rPr>
              <a:t>Quantitative Metrics</a:t>
            </a:r>
            <a:endParaRPr sz="1100" b="0" i="0" u="none" strike="noStrike" cap="none">
              <a:solidFill>
                <a:schemeClr val="dk1"/>
              </a:solidFill>
              <a:latin typeface="Calibri"/>
              <a:ea typeface="Calibri"/>
              <a:cs typeface="Calibri"/>
              <a:sym typeface="Calibri"/>
            </a:endParaRPr>
          </a:p>
        </p:txBody>
      </p:sp>
      <p:sp>
        <p:nvSpPr>
          <p:cNvPr id="52" name="Google Shape;283;p8">
            <a:extLst>
              <a:ext uri="{FF2B5EF4-FFF2-40B4-BE49-F238E27FC236}">
                <a16:creationId xmlns:a16="http://schemas.microsoft.com/office/drawing/2014/main" id="{AFF33ECB-FF06-2A9A-B2FB-2A669486BFDE}"/>
              </a:ext>
            </a:extLst>
          </p:cNvPr>
          <p:cNvSpPr/>
          <p:nvPr/>
        </p:nvSpPr>
        <p:spPr>
          <a:xfrm>
            <a:off x="285750" y="1935956"/>
            <a:ext cx="4221956" cy="2483123"/>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285;p8">
            <a:extLst>
              <a:ext uri="{FF2B5EF4-FFF2-40B4-BE49-F238E27FC236}">
                <a16:creationId xmlns:a16="http://schemas.microsoft.com/office/drawing/2014/main" id="{8550E1D3-1C82-E1A6-F8CB-A5B5534A1EC2}"/>
              </a:ext>
            </a:extLst>
          </p:cNvPr>
          <p:cNvSpPr/>
          <p:nvPr/>
        </p:nvSpPr>
        <p:spPr>
          <a:xfrm>
            <a:off x="476717" y="3628700"/>
            <a:ext cx="3936206" cy="16619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dirty="0">
                <a:solidFill>
                  <a:srgbClr val="2C3E50"/>
                </a:solidFill>
                <a:latin typeface="Inter"/>
                <a:ea typeface="Inter"/>
                <a:cs typeface="Inter"/>
                <a:sym typeface="Inter"/>
              </a:rPr>
              <a:t>No H</a:t>
            </a:r>
            <a:r>
              <a:rPr lang="en-US" sz="900" b="1" i="0" u="none" strike="noStrike" cap="none" dirty="0">
                <a:solidFill>
                  <a:srgbClr val="2C3E50"/>
                </a:solidFill>
                <a:latin typeface="Inter"/>
                <a:ea typeface="Inter"/>
                <a:cs typeface="Inter"/>
                <a:sym typeface="Inter"/>
              </a:rPr>
              <a:t>allucination (Faithfulness)</a:t>
            </a:r>
            <a:endParaRPr sz="900" b="0" i="0" u="none" strike="noStrike" cap="none" dirty="0">
              <a:solidFill>
                <a:schemeClr val="dk1"/>
              </a:solidFill>
              <a:latin typeface="Calibri"/>
              <a:ea typeface="Calibri"/>
              <a:cs typeface="Calibri"/>
              <a:sym typeface="Calibri"/>
            </a:endParaRPr>
          </a:p>
        </p:txBody>
      </p:sp>
      <p:sp>
        <p:nvSpPr>
          <p:cNvPr id="55" name="Google Shape;286;p8">
            <a:extLst>
              <a:ext uri="{FF2B5EF4-FFF2-40B4-BE49-F238E27FC236}">
                <a16:creationId xmlns:a16="http://schemas.microsoft.com/office/drawing/2014/main" id="{BA3D03C6-4DEE-6250-2AD4-A7022393D57D}"/>
              </a:ext>
            </a:extLst>
          </p:cNvPr>
          <p:cNvSpPr/>
          <p:nvPr/>
        </p:nvSpPr>
        <p:spPr>
          <a:xfrm>
            <a:off x="483711" y="3810540"/>
            <a:ext cx="3936206"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850"/>
              <a:buFont typeface="Inter"/>
              <a:buNone/>
            </a:pPr>
            <a:r>
              <a:rPr lang="en-US" sz="850" b="0" i="0" u="none" strike="noStrike" cap="none" dirty="0">
                <a:solidFill>
                  <a:srgbClr val="2C3E50"/>
                </a:solidFill>
                <a:latin typeface="Inter"/>
                <a:ea typeface="Inter"/>
                <a:cs typeface="Inter"/>
                <a:sym typeface="Inter"/>
              </a:rPr>
              <a:t>High adherence to retrieved </a:t>
            </a:r>
            <a:r>
              <a:rPr lang="en-US" sz="850" b="0" i="0" u="none" strike="noStrike" cap="none" dirty="0" err="1">
                <a:solidFill>
                  <a:srgbClr val="2C3E50"/>
                </a:solidFill>
                <a:latin typeface="Inter"/>
                <a:ea typeface="Inter"/>
                <a:cs typeface="Inter"/>
                <a:sym typeface="Inter"/>
              </a:rPr>
              <a:t>NParks</a:t>
            </a:r>
            <a:r>
              <a:rPr lang="en-US" sz="850" b="0" i="0" u="none" strike="noStrike" cap="none" dirty="0">
                <a:solidFill>
                  <a:srgbClr val="2C3E50"/>
                </a:solidFill>
                <a:latin typeface="Inter"/>
                <a:ea typeface="Inter"/>
                <a:cs typeface="Inter"/>
                <a:sym typeface="Inter"/>
              </a:rPr>
              <a:t> documents; minimal hallucination of species traits.</a:t>
            </a:r>
            <a:endParaRPr sz="850" b="0" i="0" u="none" strike="noStrike" cap="none" dirty="0">
              <a:solidFill>
                <a:schemeClr val="dk1"/>
              </a:solidFill>
              <a:latin typeface="Calibri"/>
              <a:ea typeface="Calibri"/>
              <a:cs typeface="Calibri"/>
              <a:sym typeface="Calibri"/>
            </a:endParaRPr>
          </a:p>
        </p:txBody>
      </p:sp>
      <p:sp>
        <p:nvSpPr>
          <p:cNvPr id="56" name="Google Shape;287;p8">
            <a:extLst>
              <a:ext uri="{FF2B5EF4-FFF2-40B4-BE49-F238E27FC236}">
                <a16:creationId xmlns:a16="http://schemas.microsoft.com/office/drawing/2014/main" id="{F5CFED2A-0230-ED4A-62BC-DFD00F40621A}"/>
              </a:ext>
            </a:extLst>
          </p:cNvPr>
          <p:cNvSpPr/>
          <p:nvPr/>
        </p:nvSpPr>
        <p:spPr>
          <a:xfrm>
            <a:off x="483711" y="4025503"/>
            <a:ext cx="3936206" cy="16619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dirty="0">
                <a:solidFill>
                  <a:srgbClr val="2C3E50"/>
                </a:solidFill>
                <a:latin typeface="Inter"/>
                <a:ea typeface="Inter"/>
                <a:cs typeface="Inter"/>
                <a:sym typeface="Inter"/>
              </a:rPr>
              <a:t>Singapore-Specificity (Relevance)</a:t>
            </a:r>
            <a:endParaRPr sz="900" b="0" i="0" u="none" strike="noStrike" cap="none" dirty="0">
              <a:solidFill>
                <a:schemeClr val="dk1"/>
              </a:solidFill>
              <a:latin typeface="Calibri"/>
              <a:ea typeface="Calibri"/>
              <a:cs typeface="Calibri"/>
              <a:sym typeface="Calibri"/>
            </a:endParaRPr>
          </a:p>
        </p:txBody>
      </p:sp>
      <p:sp>
        <p:nvSpPr>
          <p:cNvPr id="57" name="Google Shape;288;p8">
            <a:extLst>
              <a:ext uri="{FF2B5EF4-FFF2-40B4-BE49-F238E27FC236}">
                <a16:creationId xmlns:a16="http://schemas.microsoft.com/office/drawing/2014/main" id="{016C87DB-234B-628E-6AF6-C0395D109E71}"/>
              </a:ext>
            </a:extLst>
          </p:cNvPr>
          <p:cNvSpPr/>
          <p:nvPr/>
        </p:nvSpPr>
        <p:spPr>
          <a:xfrm>
            <a:off x="483711" y="4243427"/>
            <a:ext cx="3936206"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850"/>
              <a:buFont typeface="Inter"/>
              <a:buNone/>
            </a:pPr>
            <a:r>
              <a:rPr lang="en-US" sz="850" b="0" i="0" u="none" strike="noStrike" cap="none" dirty="0">
                <a:solidFill>
                  <a:srgbClr val="2C3E50"/>
                </a:solidFill>
                <a:latin typeface="Inter"/>
                <a:ea typeface="Inter"/>
                <a:cs typeface="Inter"/>
                <a:sym typeface="Inter"/>
              </a:rPr>
              <a:t>Responses directly address user queries with Singapore-specific context.</a:t>
            </a:r>
            <a:endParaRPr sz="850" b="0" i="0" u="none" strike="noStrike" cap="none" dirty="0">
              <a:solidFill>
                <a:schemeClr val="dk1"/>
              </a:solidFill>
              <a:latin typeface="Calibri"/>
              <a:ea typeface="Calibri"/>
              <a:cs typeface="Calibri"/>
              <a:sym typeface="Calibri"/>
            </a:endParaRPr>
          </a:p>
        </p:txBody>
      </p:sp>
      <p:sp>
        <p:nvSpPr>
          <p:cNvPr id="58" name="Google Shape;289;p8">
            <a:extLst>
              <a:ext uri="{FF2B5EF4-FFF2-40B4-BE49-F238E27FC236}">
                <a16:creationId xmlns:a16="http://schemas.microsoft.com/office/drawing/2014/main" id="{7967B83B-97FF-567B-DC98-837F0C6A0888}"/>
              </a:ext>
            </a:extLst>
          </p:cNvPr>
          <p:cNvSpPr/>
          <p:nvPr/>
        </p:nvSpPr>
        <p:spPr>
          <a:xfrm>
            <a:off x="4636294" y="1557338"/>
            <a:ext cx="4221956" cy="378619"/>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9" name="Google Shape;290;p8" descr="preencoded.png">
            <a:extLst>
              <a:ext uri="{FF2B5EF4-FFF2-40B4-BE49-F238E27FC236}">
                <a16:creationId xmlns:a16="http://schemas.microsoft.com/office/drawing/2014/main" id="{E0B1315F-FA12-4603-A70C-6A9EAAEB3B49}"/>
              </a:ext>
            </a:extLst>
          </p:cNvPr>
          <p:cNvPicPr preferRelativeResize="0"/>
          <p:nvPr/>
        </p:nvPicPr>
        <p:blipFill rotWithShape="1">
          <a:blip r:embed="rId4">
            <a:alphaModFix/>
          </a:blip>
          <a:srcRect/>
          <a:stretch/>
        </p:blipFill>
        <p:spPr>
          <a:xfrm>
            <a:off x="5909667" y="1666280"/>
            <a:ext cx="157163" cy="157163"/>
          </a:xfrm>
          <a:prstGeom prst="rect">
            <a:avLst/>
          </a:prstGeom>
          <a:noFill/>
          <a:ln>
            <a:noFill/>
          </a:ln>
        </p:spPr>
      </p:pic>
      <p:sp>
        <p:nvSpPr>
          <p:cNvPr id="60" name="Google Shape;291;p8">
            <a:extLst>
              <a:ext uri="{FF2B5EF4-FFF2-40B4-BE49-F238E27FC236}">
                <a16:creationId xmlns:a16="http://schemas.microsoft.com/office/drawing/2014/main" id="{01E3097D-5496-8651-A319-FC48E075332D}"/>
              </a:ext>
            </a:extLst>
          </p:cNvPr>
          <p:cNvSpPr/>
          <p:nvPr/>
        </p:nvSpPr>
        <p:spPr>
          <a:xfrm>
            <a:off x="6066830" y="1651992"/>
            <a:ext cx="1518047" cy="189309"/>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FFFFFF"/>
              </a:buClr>
              <a:buSzPts val="1100"/>
              <a:buFont typeface="Inter"/>
              <a:buNone/>
            </a:pPr>
            <a:r>
              <a:rPr lang="en-US" sz="1100" b="1" i="0" u="none" strike="noStrike" cap="none">
                <a:solidFill>
                  <a:srgbClr val="FFFFFF"/>
                </a:solidFill>
                <a:latin typeface="Inter"/>
                <a:ea typeface="Inter"/>
                <a:cs typeface="Inter"/>
                <a:sym typeface="Inter"/>
              </a:rPr>
              <a:t>Qualitative Insights</a:t>
            </a:r>
            <a:endParaRPr sz="1100" b="0" i="0" u="none" strike="noStrike" cap="none">
              <a:solidFill>
                <a:schemeClr val="dk1"/>
              </a:solidFill>
              <a:latin typeface="Calibri"/>
              <a:ea typeface="Calibri"/>
              <a:cs typeface="Calibri"/>
              <a:sym typeface="Calibri"/>
            </a:endParaRPr>
          </a:p>
        </p:txBody>
      </p:sp>
      <p:sp>
        <p:nvSpPr>
          <p:cNvPr id="61" name="Google Shape;292;p8">
            <a:extLst>
              <a:ext uri="{FF2B5EF4-FFF2-40B4-BE49-F238E27FC236}">
                <a16:creationId xmlns:a16="http://schemas.microsoft.com/office/drawing/2014/main" id="{44C100D3-A205-7CFA-40E3-528F34D698B4}"/>
              </a:ext>
            </a:extLst>
          </p:cNvPr>
          <p:cNvSpPr/>
          <p:nvPr/>
        </p:nvSpPr>
        <p:spPr>
          <a:xfrm>
            <a:off x="4636294" y="1935956"/>
            <a:ext cx="4221956" cy="2483123"/>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93;p8">
            <a:extLst>
              <a:ext uri="{FF2B5EF4-FFF2-40B4-BE49-F238E27FC236}">
                <a16:creationId xmlns:a16="http://schemas.microsoft.com/office/drawing/2014/main" id="{E3282063-AFD1-4773-0EAF-A3F96C7EC68F}"/>
              </a:ext>
            </a:extLst>
          </p:cNvPr>
          <p:cNvSpPr/>
          <p:nvPr/>
        </p:nvSpPr>
        <p:spPr>
          <a:xfrm>
            <a:off x="4836319" y="2021681"/>
            <a:ext cx="3936206" cy="19288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Local Context Retrieval</a:t>
            </a:r>
            <a:endParaRPr sz="900" b="0" i="0" u="none" strike="noStrike" cap="none">
              <a:solidFill>
                <a:schemeClr val="dk1"/>
              </a:solidFill>
              <a:latin typeface="Calibri"/>
              <a:ea typeface="Calibri"/>
              <a:cs typeface="Calibri"/>
              <a:sym typeface="Calibri"/>
            </a:endParaRPr>
          </a:p>
        </p:txBody>
      </p:sp>
      <p:sp>
        <p:nvSpPr>
          <p:cNvPr id="63" name="Google Shape;294;p8">
            <a:extLst>
              <a:ext uri="{FF2B5EF4-FFF2-40B4-BE49-F238E27FC236}">
                <a16:creationId xmlns:a16="http://schemas.microsoft.com/office/drawing/2014/main" id="{1B1D7A88-7E01-A220-9BC1-66028FD21E47}"/>
              </a:ext>
            </a:extLst>
          </p:cNvPr>
          <p:cNvSpPr/>
          <p:nvPr/>
        </p:nvSpPr>
        <p:spPr>
          <a:xfrm>
            <a:off x="4836319" y="2250281"/>
            <a:ext cx="3936206"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Successfully identifies specific Singaporean habitats like "Central Catchment Nature Reserve" or "Jurong Lake Gardens."</a:t>
            </a:r>
            <a:endParaRPr sz="850" b="0" i="0" u="none" strike="noStrike" cap="none">
              <a:solidFill>
                <a:schemeClr val="dk1"/>
              </a:solidFill>
              <a:latin typeface="Calibri"/>
              <a:ea typeface="Calibri"/>
              <a:cs typeface="Calibri"/>
              <a:sym typeface="Calibri"/>
            </a:endParaRPr>
          </a:p>
        </p:txBody>
      </p:sp>
      <p:sp>
        <p:nvSpPr>
          <p:cNvPr id="64" name="Google Shape;295;p8">
            <a:extLst>
              <a:ext uri="{FF2B5EF4-FFF2-40B4-BE49-F238E27FC236}">
                <a16:creationId xmlns:a16="http://schemas.microsoft.com/office/drawing/2014/main" id="{A021BE2E-2E30-2A2C-95ED-22E68C834CA5}"/>
              </a:ext>
            </a:extLst>
          </p:cNvPr>
          <p:cNvSpPr/>
          <p:nvPr/>
        </p:nvSpPr>
        <p:spPr>
          <a:xfrm>
            <a:off x="4836319" y="2641736"/>
            <a:ext cx="3936206" cy="19288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Source Attribution</a:t>
            </a:r>
            <a:endParaRPr sz="900" b="0" i="0" u="none" strike="noStrike" cap="none">
              <a:solidFill>
                <a:schemeClr val="dk1"/>
              </a:solidFill>
              <a:latin typeface="Calibri"/>
              <a:ea typeface="Calibri"/>
              <a:cs typeface="Calibri"/>
              <a:sym typeface="Calibri"/>
            </a:endParaRPr>
          </a:p>
        </p:txBody>
      </p:sp>
      <p:sp>
        <p:nvSpPr>
          <p:cNvPr id="65" name="Google Shape;296;p8">
            <a:extLst>
              <a:ext uri="{FF2B5EF4-FFF2-40B4-BE49-F238E27FC236}">
                <a16:creationId xmlns:a16="http://schemas.microsoft.com/office/drawing/2014/main" id="{6600C676-5E80-8CC9-56AB-15C3017092E9}"/>
              </a:ext>
            </a:extLst>
          </p:cNvPr>
          <p:cNvSpPr/>
          <p:nvPr/>
        </p:nvSpPr>
        <p:spPr>
          <a:xfrm>
            <a:off x="4836319" y="2870336"/>
            <a:ext cx="3936206"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850"/>
              <a:buFont typeface="Inter"/>
              <a:buNone/>
            </a:pPr>
            <a:r>
              <a:rPr lang="en-US" sz="850" b="0" i="0" u="none" strike="noStrike" cap="none">
                <a:solidFill>
                  <a:srgbClr val="2C3E50"/>
                </a:solidFill>
                <a:latin typeface="Inter"/>
                <a:ea typeface="Inter"/>
                <a:cs typeface="Inter"/>
                <a:sym typeface="Inter"/>
              </a:rPr>
              <a:t>All claims are traceable to authoritative sources (NParks, Bird Society of SG), enhancing educational trust.</a:t>
            </a:r>
            <a:endParaRPr sz="850" b="0" i="0" u="none" strike="noStrike" cap="none">
              <a:solidFill>
                <a:schemeClr val="dk1"/>
              </a:solidFill>
              <a:latin typeface="Calibri"/>
              <a:ea typeface="Calibri"/>
              <a:cs typeface="Calibri"/>
              <a:sym typeface="Calibri"/>
            </a:endParaRPr>
          </a:p>
        </p:txBody>
      </p:sp>
      <p:sp>
        <p:nvSpPr>
          <p:cNvPr id="66" name="Google Shape;297;p8">
            <a:extLst>
              <a:ext uri="{FF2B5EF4-FFF2-40B4-BE49-F238E27FC236}">
                <a16:creationId xmlns:a16="http://schemas.microsoft.com/office/drawing/2014/main" id="{2665EC77-95CB-B5FA-D8D4-2CD734F0D949}"/>
              </a:ext>
            </a:extLst>
          </p:cNvPr>
          <p:cNvSpPr/>
          <p:nvPr/>
        </p:nvSpPr>
        <p:spPr>
          <a:xfrm>
            <a:off x="4722019" y="3276079"/>
            <a:ext cx="4050506" cy="850106"/>
          </a:xfrm>
          <a:prstGeom prst="rect">
            <a:avLst/>
          </a:prstGeom>
          <a:solidFill>
            <a:srgbClr val="F5F5DC"/>
          </a:solidFill>
          <a:ln w="18275" cap="flat" cmpd="sng">
            <a:solidFill>
              <a:srgbClr val="E67E2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98;p8">
            <a:extLst>
              <a:ext uri="{FF2B5EF4-FFF2-40B4-BE49-F238E27FC236}">
                <a16:creationId xmlns:a16="http://schemas.microsoft.com/office/drawing/2014/main" id="{EF3EF87B-2268-18AE-8668-B43905CA2C27}"/>
              </a:ext>
            </a:extLst>
          </p:cNvPr>
          <p:cNvSpPr/>
          <p:nvPr/>
        </p:nvSpPr>
        <p:spPr>
          <a:xfrm>
            <a:off x="4793456" y="3347517"/>
            <a:ext cx="3907631" cy="171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800"/>
              <a:buFont typeface="Inter"/>
              <a:buNone/>
            </a:pPr>
            <a:r>
              <a:rPr lang="en-US" sz="800" b="1" i="0" u="none" strike="noStrike" cap="none" dirty="0">
                <a:solidFill>
                  <a:srgbClr val="2C3E50"/>
                </a:solidFill>
                <a:latin typeface="Inter"/>
                <a:ea typeface="Inter"/>
                <a:cs typeface="Inter"/>
                <a:sym typeface="Inter"/>
              </a:rPr>
              <a:t>KEY OBSERVATION</a:t>
            </a:r>
            <a:endParaRPr sz="800" b="0" i="0" u="none" strike="noStrike" cap="none" dirty="0">
              <a:solidFill>
                <a:schemeClr val="dk1"/>
              </a:solidFill>
              <a:latin typeface="Calibri"/>
              <a:ea typeface="Calibri"/>
              <a:cs typeface="Calibri"/>
              <a:sym typeface="Calibri"/>
            </a:endParaRPr>
          </a:p>
        </p:txBody>
      </p:sp>
      <p:sp>
        <p:nvSpPr>
          <p:cNvPr id="68" name="Google Shape;299;p8">
            <a:extLst>
              <a:ext uri="{FF2B5EF4-FFF2-40B4-BE49-F238E27FC236}">
                <a16:creationId xmlns:a16="http://schemas.microsoft.com/office/drawing/2014/main" id="{C4E79F4C-48CA-BA24-34E1-0053F591DBDA}"/>
              </a:ext>
            </a:extLst>
          </p:cNvPr>
          <p:cNvSpPr/>
          <p:nvPr/>
        </p:nvSpPr>
        <p:spPr>
          <a:xfrm>
            <a:off x="4793456" y="3576117"/>
            <a:ext cx="3907631" cy="27571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C3E50"/>
              </a:buClr>
              <a:buSzPts val="800"/>
              <a:buFont typeface="Inter"/>
              <a:buNone/>
            </a:pPr>
            <a:r>
              <a:rPr lang="en-US" sz="800" b="0" i="1" u="none" strike="noStrike" cap="none" dirty="0">
                <a:solidFill>
                  <a:srgbClr val="2C3E50"/>
                </a:solidFill>
                <a:latin typeface="Inter"/>
                <a:ea typeface="Inter"/>
                <a:cs typeface="Inter"/>
                <a:sym typeface="Inter"/>
              </a:rPr>
              <a:t>Unlike standalone LLMs, the RAG system distinguishes between similar local subspecies and provides accurate conservation status within the Singapore Red Data Book.</a:t>
            </a:r>
            <a:endParaRPr sz="800" b="0" i="0" u="none" strike="noStrike" cap="none" dirty="0">
              <a:solidFill>
                <a:schemeClr val="dk1"/>
              </a:solidFill>
              <a:latin typeface="Calibri"/>
              <a:ea typeface="Calibri"/>
              <a:cs typeface="Calibri"/>
              <a:sym typeface="Calibri"/>
            </a:endParaRPr>
          </a:p>
        </p:txBody>
      </p:sp>
      <p:pic>
        <p:nvPicPr>
          <p:cNvPr id="70" name="Picture 69">
            <a:extLst>
              <a:ext uri="{FF2B5EF4-FFF2-40B4-BE49-F238E27FC236}">
                <a16:creationId xmlns:a16="http://schemas.microsoft.com/office/drawing/2014/main" id="{9A71D0A8-B1FB-74F8-D665-597CC94C3603}"/>
              </a:ext>
            </a:extLst>
          </p:cNvPr>
          <p:cNvPicPr>
            <a:picLocks noChangeAspect="1"/>
          </p:cNvPicPr>
          <p:nvPr/>
        </p:nvPicPr>
        <p:blipFill>
          <a:blip r:embed="rId5"/>
          <a:stretch>
            <a:fillRect/>
          </a:stretch>
        </p:blipFill>
        <p:spPr>
          <a:xfrm>
            <a:off x="424259" y="1982526"/>
            <a:ext cx="4102100" cy="1511300"/>
          </a:xfrm>
          <a:prstGeom prst="rect">
            <a:avLst/>
          </a:prstGeom>
        </p:spPr>
      </p:pic>
    </p:spTree>
    <p:extLst>
      <p:ext uri="{BB962C8B-B14F-4D97-AF65-F5344CB8AC3E}">
        <p14:creationId xmlns:p14="http://schemas.microsoft.com/office/powerpoint/2010/main" val="3193892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CCD8C-D4DD-D0BC-EEB4-0D03572499E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269105-B080-D109-ADED-1DD8737D3490}"/>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306;p9">
            <a:extLst>
              <a:ext uri="{FF2B5EF4-FFF2-40B4-BE49-F238E27FC236}">
                <a16:creationId xmlns:a16="http://schemas.microsoft.com/office/drawing/2014/main" id="{AA7A5668-502B-5F48-C686-9B1B0F656188}"/>
              </a:ext>
            </a:extLst>
          </p:cNvPr>
          <p:cNvSpPr/>
          <p:nvPr/>
        </p:nvSpPr>
        <p:spPr>
          <a:xfrm>
            <a:off x="571500" y="428625"/>
            <a:ext cx="8001000" cy="550069"/>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07;p9">
            <a:extLst>
              <a:ext uri="{FF2B5EF4-FFF2-40B4-BE49-F238E27FC236}">
                <a16:creationId xmlns:a16="http://schemas.microsoft.com/office/drawing/2014/main" id="{4F4A06E4-3EB7-63CC-2AF2-4FD4121D46F8}"/>
              </a:ext>
            </a:extLst>
          </p:cNvPr>
          <p:cNvSpPr/>
          <p:nvPr/>
        </p:nvSpPr>
        <p:spPr>
          <a:xfrm>
            <a:off x="571500" y="950119"/>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08;p9">
            <a:extLst>
              <a:ext uri="{FF2B5EF4-FFF2-40B4-BE49-F238E27FC236}">
                <a16:creationId xmlns:a16="http://schemas.microsoft.com/office/drawing/2014/main" id="{361C6B78-F321-7C48-82EA-36E05FCD84D9}"/>
              </a:ext>
            </a:extLst>
          </p:cNvPr>
          <p:cNvSpPr/>
          <p:nvPr/>
        </p:nvSpPr>
        <p:spPr>
          <a:xfrm>
            <a:off x="571500" y="428625"/>
            <a:ext cx="8001000" cy="550069"/>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100"/>
              <a:buFont typeface="Inter"/>
              <a:buNone/>
            </a:pPr>
            <a:r>
              <a:rPr lang="en-US" sz="2100" b="1" i="0" u="none" strike="noStrike" cap="none">
                <a:solidFill>
                  <a:srgbClr val="2C3E50"/>
                </a:solidFill>
                <a:latin typeface="Inter"/>
                <a:ea typeface="Inter"/>
                <a:cs typeface="Inter"/>
                <a:sym typeface="Inter"/>
              </a:rPr>
              <a:t>Limitations &amp; Future Directions</a:t>
            </a:r>
            <a:endParaRPr sz="2100" b="0" i="0" u="none" strike="noStrike" cap="none">
              <a:solidFill>
                <a:schemeClr val="dk1"/>
              </a:solidFill>
              <a:latin typeface="Calibri"/>
              <a:ea typeface="Calibri"/>
              <a:cs typeface="Calibri"/>
              <a:sym typeface="Calibri"/>
            </a:endParaRPr>
          </a:p>
        </p:txBody>
      </p:sp>
      <p:sp>
        <p:nvSpPr>
          <p:cNvPr id="6" name="Google Shape;309;p9">
            <a:extLst>
              <a:ext uri="{FF2B5EF4-FFF2-40B4-BE49-F238E27FC236}">
                <a16:creationId xmlns:a16="http://schemas.microsoft.com/office/drawing/2014/main" id="{8D80C57B-94FE-84A2-F541-9A463EAA5A77}"/>
              </a:ext>
            </a:extLst>
          </p:cNvPr>
          <p:cNvSpPr/>
          <p:nvPr/>
        </p:nvSpPr>
        <p:spPr>
          <a:xfrm>
            <a:off x="971550" y="1164431"/>
            <a:ext cx="7200900" cy="502909"/>
          </a:xfrm>
          <a:prstGeom prst="rect">
            <a:avLst/>
          </a:prstGeom>
          <a:noFill/>
          <a:ln>
            <a:noFill/>
          </a:ln>
        </p:spPr>
        <p:txBody>
          <a:bodyPr spcFirstLastPara="1" wrap="square" lIns="0" tIns="0" rIns="0" bIns="0" anchor="t" anchorCtr="0">
            <a:spAutoFit/>
          </a:bodyPr>
          <a:lstStyle/>
          <a:p>
            <a:pPr marL="0" marR="0" lvl="0" indent="0" algn="ctr" rtl="0">
              <a:lnSpc>
                <a:spcPct val="128000"/>
              </a:lnSpc>
              <a:spcBef>
                <a:spcPts val="0"/>
              </a:spcBef>
              <a:spcAft>
                <a:spcPts val="0"/>
              </a:spcAft>
              <a:buClr>
                <a:srgbClr val="2C3E50"/>
              </a:buClr>
              <a:buSzPts val="1150"/>
              <a:buFont typeface="Inter"/>
              <a:buNone/>
            </a:pPr>
            <a:r>
              <a:rPr lang="en-US" sz="1150" b="0" i="0" u="none" strike="noStrike" cap="none">
                <a:solidFill>
                  <a:srgbClr val="2C3E50"/>
                </a:solidFill>
                <a:latin typeface="Inter"/>
                <a:ea typeface="Inter"/>
                <a:cs typeface="Inter"/>
                <a:sym typeface="Inter"/>
              </a:rPr>
              <a:t>While the system demonstrates significant gains in regional adaptation, urban bioacoustics in Singapore faces ongoing technical and data-driven challenges.</a:t>
            </a:r>
            <a:endParaRPr sz="1150" b="0" i="0" u="none" strike="noStrike" cap="none">
              <a:solidFill>
                <a:schemeClr val="dk1"/>
              </a:solidFill>
              <a:latin typeface="Calibri"/>
              <a:ea typeface="Calibri"/>
              <a:cs typeface="Calibri"/>
              <a:sym typeface="Calibri"/>
            </a:endParaRPr>
          </a:p>
        </p:txBody>
      </p:sp>
      <p:sp>
        <p:nvSpPr>
          <p:cNvPr id="7" name="Google Shape;310;p9">
            <a:extLst>
              <a:ext uri="{FF2B5EF4-FFF2-40B4-BE49-F238E27FC236}">
                <a16:creationId xmlns:a16="http://schemas.microsoft.com/office/drawing/2014/main" id="{AFEE64DA-818A-B9F4-3137-AC41F6FACC78}"/>
              </a:ext>
            </a:extLst>
          </p:cNvPr>
          <p:cNvSpPr/>
          <p:nvPr/>
        </p:nvSpPr>
        <p:spPr>
          <a:xfrm>
            <a:off x="571500" y="1810215"/>
            <a:ext cx="3936206" cy="750094"/>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Google Shape;311;p9" descr="preencoded.png">
            <a:extLst>
              <a:ext uri="{FF2B5EF4-FFF2-40B4-BE49-F238E27FC236}">
                <a16:creationId xmlns:a16="http://schemas.microsoft.com/office/drawing/2014/main" id="{3ACD430D-0011-7E99-3D33-C8299F2D77B9}"/>
              </a:ext>
            </a:extLst>
          </p:cNvPr>
          <p:cNvPicPr preferRelativeResize="0"/>
          <p:nvPr/>
        </p:nvPicPr>
        <p:blipFill rotWithShape="1">
          <a:blip r:embed="rId3">
            <a:alphaModFix/>
          </a:blip>
          <a:srcRect/>
          <a:stretch/>
        </p:blipFill>
        <p:spPr>
          <a:xfrm>
            <a:off x="657225" y="1937017"/>
            <a:ext cx="171450" cy="171450"/>
          </a:xfrm>
          <a:prstGeom prst="rect">
            <a:avLst/>
          </a:prstGeom>
          <a:noFill/>
          <a:ln>
            <a:noFill/>
          </a:ln>
        </p:spPr>
      </p:pic>
      <p:sp>
        <p:nvSpPr>
          <p:cNvPr id="9" name="Google Shape;312;p9">
            <a:extLst>
              <a:ext uri="{FF2B5EF4-FFF2-40B4-BE49-F238E27FC236}">
                <a16:creationId xmlns:a16="http://schemas.microsoft.com/office/drawing/2014/main" id="{5E1AA1ED-5E47-4B1E-8CB8-C93F0FDE1ACA}"/>
              </a:ext>
            </a:extLst>
          </p:cNvPr>
          <p:cNvSpPr/>
          <p:nvPr/>
        </p:nvSpPr>
        <p:spPr>
          <a:xfrm>
            <a:off x="914400" y="1895940"/>
            <a:ext cx="3507581" cy="5786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Urban Noise:</a:t>
            </a:r>
            <a:r>
              <a:rPr lang="en-US" sz="950" b="0" i="0" u="none" strike="noStrike" cap="none">
                <a:solidFill>
                  <a:srgbClr val="2C3E50"/>
                </a:solidFill>
                <a:latin typeface="Inter"/>
                <a:ea typeface="Inter"/>
                <a:cs typeface="Inter"/>
                <a:sym typeface="Inter"/>
              </a:rPr>
              <a:t> Sensitivity to high background noise in Singapore's dense urban environment remains a challenge for clean feature extraction.</a:t>
            </a:r>
            <a:endParaRPr sz="900" b="0" i="0" u="none" strike="noStrike" cap="none">
              <a:solidFill>
                <a:schemeClr val="dk1"/>
              </a:solidFill>
              <a:latin typeface="Calibri"/>
              <a:ea typeface="Calibri"/>
              <a:cs typeface="Calibri"/>
              <a:sym typeface="Calibri"/>
            </a:endParaRPr>
          </a:p>
        </p:txBody>
      </p:sp>
      <p:sp>
        <p:nvSpPr>
          <p:cNvPr id="10" name="Google Shape;313;p9">
            <a:extLst>
              <a:ext uri="{FF2B5EF4-FFF2-40B4-BE49-F238E27FC236}">
                <a16:creationId xmlns:a16="http://schemas.microsoft.com/office/drawing/2014/main" id="{41561D21-4141-1BDA-A1A9-EED28131416A}"/>
              </a:ext>
            </a:extLst>
          </p:cNvPr>
          <p:cNvSpPr/>
          <p:nvPr/>
        </p:nvSpPr>
        <p:spPr>
          <a:xfrm>
            <a:off x="4636294" y="1810215"/>
            <a:ext cx="3936206" cy="750094"/>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314;p9" descr="preencoded.png">
            <a:extLst>
              <a:ext uri="{FF2B5EF4-FFF2-40B4-BE49-F238E27FC236}">
                <a16:creationId xmlns:a16="http://schemas.microsoft.com/office/drawing/2014/main" id="{36DA7FDF-667D-D3D8-636D-FBB82384B704}"/>
              </a:ext>
            </a:extLst>
          </p:cNvPr>
          <p:cNvPicPr preferRelativeResize="0"/>
          <p:nvPr/>
        </p:nvPicPr>
        <p:blipFill rotWithShape="1">
          <a:blip r:embed="rId4">
            <a:alphaModFix/>
          </a:blip>
          <a:srcRect/>
          <a:stretch/>
        </p:blipFill>
        <p:spPr>
          <a:xfrm>
            <a:off x="4722019" y="1937017"/>
            <a:ext cx="150019" cy="171450"/>
          </a:xfrm>
          <a:prstGeom prst="rect">
            <a:avLst/>
          </a:prstGeom>
          <a:noFill/>
          <a:ln>
            <a:noFill/>
          </a:ln>
        </p:spPr>
      </p:pic>
      <p:sp>
        <p:nvSpPr>
          <p:cNvPr id="12" name="Google Shape;315;p9">
            <a:extLst>
              <a:ext uri="{FF2B5EF4-FFF2-40B4-BE49-F238E27FC236}">
                <a16:creationId xmlns:a16="http://schemas.microsoft.com/office/drawing/2014/main" id="{34B016F2-4DDB-3F4E-9E61-7C0AED118514}"/>
              </a:ext>
            </a:extLst>
          </p:cNvPr>
          <p:cNvSpPr/>
          <p:nvPr/>
        </p:nvSpPr>
        <p:spPr>
          <a:xfrm>
            <a:off x="4957763" y="1895940"/>
            <a:ext cx="3529013" cy="5786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Data Scarcity:</a:t>
            </a:r>
            <a:r>
              <a:rPr lang="en-US" sz="950" b="0" i="0" u="none" strike="noStrike" cap="none">
                <a:solidFill>
                  <a:srgbClr val="2C3E50"/>
                </a:solidFill>
                <a:latin typeface="Inter"/>
                <a:ea typeface="Inter"/>
                <a:cs typeface="Inter"/>
                <a:sym typeface="Inter"/>
              </a:rPr>
              <a:t> Limited high-quality local recordings for rare or shy species restricts the classifier's breadth across all 400+ SG species.</a:t>
            </a:r>
            <a:endParaRPr sz="900" b="0" i="0" u="none" strike="noStrike" cap="none">
              <a:solidFill>
                <a:schemeClr val="dk1"/>
              </a:solidFill>
              <a:latin typeface="Calibri"/>
              <a:ea typeface="Calibri"/>
              <a:cs typeface="Calibri"/>
              <a:sym typeface="Calibri"/>
            </a:endParaRPr>
          </a:p>
        </p:txBody>
      </p:sp>
      <p:sp>
        <p:nvSpPr>
          <p:cNvPr id="13" name="Google Shape;316;p9">
            <a:extLst>
              <a:ext uri="{FF2B5EF4-FFF2-40B4-BE49-F238E27FC236}">
                <a16:creationId xmlns:a16="http://schemas.microsoft.com/office/drawing/2014/main" id="{D066CCA1-6E86-A07A-EBB3-FF4BD61A3B2C}"/>
              </a:ext>
            </a:extLst>
          </p:cNvPr>
          <p:cNvSpPr/>
          <p:nvPr/>
        </p:nvSpPr>
        <p:spPr>
          <a:xfrm>
            <a:off x="571500" y="2688896"/>
            <a:ext cx="3936206" cy="750094"/>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317;p9" descr="preencoded.png">
            <a:extLst>
              <a:ext uri="{FF2B5EF4-FFF2-40B4-BE49-F238E27FC236}">
                <a16:creationId xmlns:a16="http://schemas.microsoft.com/office/drawing/2014/main" id="{C307D6FE-90D6-9E22-9E77-F3BA58573BC6}"/>
              </a:ext>
            </a:extLst>
          </p:cNvPr>
          <p:cNvPicPr preferRelativeResize="0"/>
          <p:nvPr/>
        </p:nvPicPr>
        <p:blipFill rotWithShape="1">
          <a:blip r:embed="rId5">
            <a:alphaModFix/>
          </a:blip>
          <a:srcRect/>
          <a:stretch/>
        </p:blipFill>
        <p:spPr>
          <a:xfrm>
            <a:off x="657225" y="2815698"/>
            <a:ext cx="192881" cy="171450"/>
          </a:xfrm>
          <a:prstGeom prst="rect">
            <a:avLst/>
          </a:prstGeom>
          <a:noFill/>
          <a:ln>
            <a:noFill/>
          </a:ln>
        </p:spPr>
      </p:pic>
      <p:sp>
        <p:nvSpPr>
          <p:cNvPr id="15" name="Google Shape;318;p9">
            <a:extLst>
              <a:ext uri="{FF2B5EF4-FFF2-40B4-BE49-F238E27FC236}">
                <a16:creationId xmlns:a16="http://schemas.microsoft.com/office/drawing/2014/main" id="{61EF8D71-7AD2-19C8-863C-1F896A6504C4}"/>
              </a:ext>
            </a:extLst>
          </p:cNvPr>
          <p:cNvSpPr/>
          <p:nvPr/>
        </p:nvSpPr>
        <p:spPr>
          <a:xfrm>
            <a:off x="935831" y="2774621"/>
            <a:ext cx="3486150" cy="5786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Multi-label Detection:</a:t>
            </a:r>
            <a:r>
              <a:rPr lang="en-US" sz="950" b="0" i="0" u="none" strike="noStrike" cap="none">
                <a:solidFill>
                  <a:srgbClr val="2C3E50"/>
                </a:solidFill>
                <a:latin typeface="Inter"/>
                <a:ea typeface="Inter"/>
                <a:cs typeface="Inter"/>
                <a:sym typeface="Inter"/>
              </a:rPr>
              <a:t> Future work will transition from single-species classification to identifying multiple birds in complex, overlapping soundscapes.</a:t>
            </a:r>
            <a:endParaRPr sz="900" b="0" i="0" u="none" strike="noStrike" cap="none">
              <a:solidFill>
                <a:schemeClr val="dk1"/>
              </a:solidFill>
              <a:latin typeface="Calibri"/>
              <a:ea typeface="Calibri"/>
              <a:cs typeface="Calibri"/>
              <a:sym typeface="Calibri"/>
            </a:endParaRPr>
          </a:p>
        </p:txBody>
      </p:sp>
      <p:sp>
        <p:nvSpPr>
          <p:cNvPr id="16" name="Google Shape;319;p9">
            <a:extLst>
              <a:ext uri="{FF2B5EF4-FFF2-40B4-BE49-F238E27FC236}">
                <a16:creationId xmlns:a16="http://schemas.microsoft.com/office/drawing/2014/main" id="{3658FF51-928D-7571-4E35-720FA1853CB3}"/>
              </a:ext>
            </a:extLst>
          </p:cNvPr>
          <p:cNvSpPr/>
          <p:nvPr/>
        </p:nvSpPr>
        <p:spPr>
          <a:xfrm>
            <a:off x="4636294" y="2688896"/>
            <a:ext cx="3936206" cy="750094"/>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320;p9" descr="preencoded.png">
            <a:extLst>
              <a:ext uri="{FF2B5EF4-FFF2-40B4-BE49-F238E27FC236}">
                <a16:creationId xmlns:a16="http://schemas.microsoft.com/office/drawing/2014/main" id="{7A196B64-80C9-2FE4-E27F-447D713F78FC}"/>
              </a:ext>
            </a:extLst>
          </p:cNvPr>
          <p:cNvPicPr preferRelativeResize="0"/>
          <p:nvPr/>
        </p:nvPicPr>
        <p:blipFill rotWithShape="1">
          <a:blip r:embed="rId6">
            <a:alphaModFix/>
          </a:blip>
          <a:srcRect/>
          <a:stretch/>
        </p:blipFill>
        <p:spPr>
          <a:xfrm>
            <a:off x="4722019" y="2815698"/>
            <a:ext cx="128588" cy="171450"/>
          </a:xfrm>
          <a:prstGeom prst="rect">
            <a:avLst/>
          </a:prstGeom>
          <a:noFill/>
          <a:ln>
            <a:noFill/>
          </a:ln>
        </p:spPr>
      </p:pic>
      <p:sp>
        <p:nvSpPr>
          <p:cNvPr id="18" name="Google Shape;321;p9">
            <a:extLst>
              <a:ext uri="{FF2B5EF4-FFF2-40B4-BE49-F238E27FC236}">
                <a16:creationId xmlns:a16="http://schemas.microsoft.com/office/drawing/2014/main" id="{5D228F09-A31E-80F9-D1C4-BD983F6F766A}"/>
              </a:ext>
            </a:extLst>
          </p:cNvPr>
          <p:cNvSpPr/>
          <p:nvPr/>
        </p:nvSpPr>
        <p:spPr>
          <a:xfrm>
            <a:off x="4936331" y="2774621"/>
            <a:ext cx="3550444" cy="57864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900" b="1" i="0" u="none" strike="noStrike" cap="none">
                <a:solidFill>
                  <a:srgbClr val="2C3E50"/>
                </a:solidFill>
                <a:latin typeface="Inter"/>
                <a:ea typeface="Inter"/>
                <a:cs typeface="Inter"/>
                <a:sym typeface="Inter"/>
              </a:rPr>
              <a:t>Edge Deployment:</a:t>
            </a:r>
            <a:r>
              <a:rPr lang="en-US" sz="950" b="0" i="0" u="none" strike="noStrike" cap="none">
                <a:solidFill>
                  <a:srgbClr val="2C3E50"/>
                </a:solidFill>
                <a:latin typeface="Inter"/>
                <a:ea typeface="Inter"/>
                <a:cs typeface="Inter"/>
                <a:sym typeface="Inter"/>
              </a:rPr>
              <a:t> Exploring lightweight models for real-time, on-device inference to support immediate feedback for citizen scientists.</a:t>
            </a:r>
            <a:endParaRPr sz="900" b="0" i="0" u="none" strike="noStrike" cap="none">
              <a:solidFill>
                <a:schemeClr val="dk1"/>
              </a:solidFill>
              <a:latin typeface="Calibri"/>
              <a:ea typeface="Calibri"/>
              <a:cs typeface="Calibri"/>
              <a:sym typeface="Calibri"/>
            </a:endParaRPr>
          </a:p>
        </p:txBody>
      </p:sp>
      <p:sp>
        <p:nvSpPr>
          <p:cNvPr id="19" name="Google Shape;322;p9">
            <a:extLst>
              <a:ext uri="{FF2B5EF4-FFF2-40B4-BE49-F238E27FC236}">
                <a16:creationId xmlns:a16="http://schemas.microsoft.com/office/drawing/2014/main" id="{0DF582D8-F3A5-4C3F-34A2-AAB78FD88B31}"/>
              </a:ext>
            </a:extLst>
          </p:cNvPr>
          <p:cNvSpPr/>
          <p:nvPr/>
        </p:nvSpPr>
        <p:spPr>
          <a:xfrm>
            <a:off x="971550" y="3581865"/>
            <a:ext cx="7200900" cy="842963"/>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323;p9">
            <a:extLst>
              <a:ext uri="{FF2B5EF4-FFF2-40B4-BE49-F238E27FC236}">
                <a16:creationId xmlns:a16="http://schemas.microsoft.com/office/drawing/2014/main" id="{445D51CE-C3E5-B340-D29D-537B0124D900}"/>
              </a:ext>
            </a:extLst>
          </p:cNvPr>
          <p:cNvSpPr/>
          <p:nvPr/>
        </p:nvSpPr>
        <p:spPr>
          <a:xfrm>
            <a:off x="1071562" y="3789033"/>
            <a:ext cx="7000875" cy="3877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FFFFFF"/>
              </a:buClr>
              <a:buSzPts val="1050"/>
              <a:buFont typeface="Inter"/>
              <a:buNone/>
            </a:pPr>
            <a:r>
              <a:rPr lang="en-US" sz="1050" b="0" i="1" u="none" strike="noStrike" cap="none" dirty="0">
                <a:solidFill>
                  <a:srgbClr val="FFFFFF"/>
                </a:solidFill>
                <a:latin typeface="Inter"/>
                <a:ea typeface="Inter"/>
                <a:cs typeface="Inter"/>
                <a:sym typeface="Inter"/>
              </a:rPr>
              <a:t>The roadmap focuses on moving from laboratory validation to real-world,</a:t>
            </a:r>
          </a:p>
          <a:p>
            <a:pPr marL="0" marR="0" lvl="0" indent="0" algn="ctr" rtl="0">
              <a:lnSpc>
                <a:spcPct val="120000"/>
              </a:lnSpc>
              <a:spcBef>
                <a:spcPts val="0"/>
              </a:spcBef>
              <a:spcAft>
                <a:spcPts val="0"/>
              </a:spcAft>
              <a:buClr>
                <a:srgbClr val="FFFFFF"/>
              </a:buClr>
              <a:buSzPts val="1050"/>
              <a:buFont typeface="Inter"/>
              <a:buNone/>
            </a:pPr>
            <a:r>
              <a:rPr lang="en-US" sz="1050" b="0" i="1" u="none" strike="noStrike" cap="none" dirty="0">
                <a:solidFill>
                  <a:srgbClr val="FFFFFF"/>
                </a:solidFill>
                <a:latin typeface="Inter"/>
                <a:ea typeface="Inter"/>
                <a:cs typeface="Inter"/>
                <a:sym typeface="Inter"/>
              </a:rPr>
              <a:t> real-time ecological monitoring tools for Singapore's 'City in Nature' vision.</a:t>
            </a:r>
            <a:endParaRPr sz="105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046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5243-6127-40CA-D8ED-CC489C46B2F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0FA48B7-694F-18F1-113D-DC08F7D14C76}"/>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331;p10">
            <a:extLst>
              <a:ext uri="{FF2B5EF4-FFF2-40B4-BE49-F238E27FC236}">
                <a16:creationId xmlns:a16="http://schemas.microsoft.com/office/drawing/2014/main" id="{9113E0C8-B329-4F51-4780-F63152C5AADF}"/>
              </a:ext>
            </a:extLst>
          </p:cNvPr>
          <p:cNvSpPr/>
          <p:nvPr/>
        </p:nvSpPr>
        <p:spPr>
          <a:xfrm>
            <a:off x="571500" y="428625"/>
            <a:ext cx="8001000" cy="614363"/>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32;p10">
            <a:extLst>
              <a:ext uri="{FF2B5EF4-FFF2-40B4-BE49-F238E27FC236}">
                <a16:creationId xmlns:a16="http://schemas.microsoft.com/office/drawing/2014/main" id="{4586D616-F8EE-DCE9-5A5C-E034A668134D}"/>
              </a:ext>
            </a:extLst>
          </p:cNvPr>
          <p:cNvSpPr/>
          <p:nvPr/>
        </p:nvSpPr>
        <p:spPr>
          <a:xfrm>
            <a:off x="571500" y="1014413"/>
            <a:ext cx="8001000" cy="28575"/>
          </a:xfrm>
          <a:prstGeom prst="rect">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33;p10">
            <a:extLst>
              <a:ext uri="{FF2B5EF4-FFF2-40B4-BE49-F238E27FC236}">
                <a16:creationId xmlns:a16="http://schemas.microsoft.com/office/drawing/2014/main" id="{D41465AB-63EC-8D06-4C2D-34AF275D6553}"/>
              </a:ext>
            </a:extLst>
          </p:cNvPr>
          <p:cNvSpPr/>
          <p:nvPr/>
        </p:nvSpPr>
        <p:spPr>
          <a:xfrm>
            <a:off x="571500" y="428625"/>
            <a:ext cx="8001000" cy="614363"/>
          </a:xfrm>
          <a:prstGeom prst="rect">
            <a:avLst/>
          </a:prstGeom>
          <a:noFill/>
          <a:ln>
            <a:noFill/>
          </a:ln>
        </p:spPr>
        <p:txBody>
          <a:bodyPr spcFirstLastPara="1" wrap="square" lIns="0" tIns="0" rIns="0" bIns="85075" anchor="t" anchorCtr="0">
            <a:spAutoFit/>
          </a:bodyPr>
          <a:lstStyle/>
          <a:p>
            <a:pPr marL="0" marR="0" lvl="0" indent="0" algn="l" rtl="0">
              <a:lnSpc>
                <a:spcPct val="120000"/>
              </a:lnSpc>
              <a:spcBef>
                <a:spcPts val="0"/>
              </a:spcBef>
              <a:spcAft>
                <a:spcPts val="0"/>
              </a:spcAft>
              <a:buClr>
                <a:srgbClr val="2C3E50"/>
              </a:buClr>
              <a:buSzPts val="2450"/>
              <a:buFont typeface="Inter"/>
              <a:buNone/>
            </a:pPr>
            <a:r>
              <a:rPr lang="en-US" sz="2450" b="1" i="0" u="none" strike="noStrike" cap="none">
                <a:solidFill>
                  <a:srgbClr val="2C3E50"/>
                </a:solidFill>
                <a:latin typeface="Inter"/>
                <a:ea typeface="Inter"/>
                <a:cs typeface="Inter"/>
                <a:sym typeface="Inter"/>
              </a:rPr>
              <a:t>Contributions to Singapore's Digital Ecology</a:t>
            </a:r>
            <a:endParaRPr sz="2450" b="0" i="0" u="none" strike="noStrike" cap="none">
              <a:solidFill>
                <a:schemeClr val="dk1"/>
              </a:solidFill>
              <a:latin typeface="Calibri"/>
              <a:ea typeface="Calibri"/>
              <a:cs typeface="Calibri"/>
              <a:sym typeface="Calibri"/>
            </a:endParaRPr>
          </a:p>
        </p:txBody>
      </p:sp>
      <p:sp>
        <p:nvSpPr>
          <p:cNvPr id="7" name="Google Shape;335;p10">
            <a:extLst>
              <a:ext uri="{FF2B5EF4-FFF2-40B4-BE49-F238E27FC236}">
                <a16:creationId xmlns:a16="http://schemas.microsoft.com/office/drawing/2014/main" id="{99CF6767-F381-C8F4-FBEA-57AA08E6B163}"/>
              </a:ext>
            </a:extLst>
          </p:cNvPr>
          <p:cNvSpPr/>
          <p:nvPr/>
        </p:nvSpPr>
        <p:spPr>
          <a:xfrm>
            <a:off x="657224" y="1539263"/>
            <a:ext cx="3957638" cy="557213"/>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8" name="Google Shape;336;p10" descr="preencoded.png">
            <a:extLst>
              <a:ext uri="{FF2B5EF4-FFF2-40B4-BE49-F238E27FC236}">
                <a16:creationId xmlns:a16="http://schemas.microsoft.com/office/drawing/2014/main" id="{C2B56AD8-8DE4-5024-D01F-F2ED3A638240}"/>
              </a:ext>
            </a:extLst>
          </p:cNvPr>
          <p:cNvPicPr preferRelativeResize="0"/>
          <p:nvPr/>
        </p:nvPicPr>
        <p:blipFill rotWithShape="1">
          <a:blip r:embed="rId3">
            <a:alphaModFix/>
          </a:blip>
          <a:srcRect/>
          <a:stretch/>
        </p:blipFill>
        <p:spPr>
          <a:xfrm>
            <a:off x="571498" y="1682137"/>
            <a:ext cx="342901" cy="318407"/>
          </a:xfrm>
          <a:prstGeom prst="rect">
            <a:avLst/>
          </a:prstGeom>
          <a:noFill/>
          <a:ln>
            <a:noFill/>
          </a:ln>
        </p:spPr>
      </p:pic>
      <p:sp>
        <p:nvSpPr>
          <p:cNvPr id="9" name="Google Shape;337;p10">
            <a:extLst>
              <a:ext uri="{FF2B5EF4-FFF2-40B4-BE49-F238E27FC236}">
                <a16:creationId xmlns:a16="http://schemas.microsoft.com/office/drawing/2014/main" id="{397D39BA-B43C-E83D-5CBD-D91EFDFD57E8}"/>
              </a:ext>
            </a:extLst>
          </p:cNvPr>
          <p:cNvSpPr/>
          <p:nvPr/>
        </p:nvSpPr>
        <p:spPr>
          <a:xfrm>
            <a:off x="1021555" y="1624988"/>
            <a:ext cx="3507581" cy="7755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1400" b="1" i="0" u="none" strike="noStrike" cap="none">
                <a:solidFill>
                  <a:srgbClr val="2C3E50"/>
                </a:solidFill>
                <a:latin typeface="Inter"/>
                <a:ea typeface="Inter"/>
                <a:cs typeface="Inter"/>
                <a:sym typeface="Inter"/>
              </a:rPr>
              <a:t>Technical:</a:t>
            </a:r>
            <a:r>
              <a:rPr lang="en-US" sz="1400" b="0" i="0" u="none" strike="noStrike" cap="none">
                <a:solidFill>
                  <a:srgbClr val="2C3E50"/>
                </a:solidFill>
                <a:latin typeface="Inter"/>
                <a:ea typeface="Inter"/>
                <a:cs typeface="Inter"/>
                <a:sym typeface="Inter"/>
              </a:rPr>
              <a:t> A proven methodology for adapting global bioacoustic models to regional contexts with limited data.</a:t>
            </a:r>
            <a:endParaRPr sz="1400" b="0" i="0" u="none" strike="noStrike" cap="none">
              <a:solidFill>
                <a:schemeClr val="dk1"/>
              </a:solidFill>
              <a:latin typeface="Calibri"/>
              <a:ea typeface="Calibri"/>
              <a:cs typeface="Calibri"/>
              <a:sym typeface="Calibri"/>
            </a:endParaRPr>
          </a:p>
        </p:txBody>
      </p:sp>
      <p:sp>
        <p:nvSpPr>
          <p:cNvPr id="10" name="Google Shape;338;p10">
            <a:extLst>
              <a:ext uri="{FF2B5EF4-FFF2-40B4-BE49-F238E27FC236}">
                <a16:creationId xmlns:a16="http://schemas.microsoft.com/office/drawing/2014/main" id="{78466D06-0B54-74C9-D128-6156087F19C3}"/>
              </a:ext>
            </a:extLst>
          </p:cNvPr>
          <p:cNvSpPr/>
          <p:nvPr/>
        </p:nvSpPr>
        <p:spPr>
          <a:xfrm>
            <a:off x="4700587" y="1539263"/>
            <a:ext cx="3957638" cy="557213"/>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1" name="Google Shape;339;p10" descr="preencoded.png">
            <a:extLst>
              <a:ext uri="{FF2B5EF4-FFF2-40B4-BE49-F238E27FC236}">
                <a16:creationId xmlns:a16="http://schemas.microsoft.com/office/drawing/2014/main" id="{3D14317D-E831-DA53-A71D-7F0666C762E4}"/>
              </a:ext>
            </a:extLst>
          </p:cNvPr>
          <p:cNvPicPr preferRelativeResize="0"/>
          <p:nvPr/>
        </p:nvPicPr>
        <p:blipFill rotWithShape="1">
          <a:blip r:embed="rId4">
            <a:alphaModFix/>
          </a:blip>
          <a:srcRect/>
          <a:stretch/>
        </p:blipFill>
        <p:spPr>
          <a:xfrm>
            <a:off x="4636292" y="1682137"/>
            <a:ext cx="364333" cy="273843"/>
          </a:xfrm>
          <a:prstGeom prst="rect">
            <a:avLst/>
          </a:prstGeom>
          <a:noFill/>
          <a:ln>
            <a:noFill/>
          </a:ln>
        </p:spPr>
      </p:pic>
      <p:sp>
        <p:nvSpPr>
          <p:cNvPr id="12" name="Google Shape;340;p10">
            <a:extLst>
              <a:ext uri="{FF2B5EF4-FFF2-40B4-BE49-F238E27FC236}">
                <a16:creationId xmlns:a16="http://schemas.microsoft.com/office/drawing/2014/main" id="{4AB8104A-E176-43A1-669A-DA3D709C04FD}"/>
              </a:ext>
            </a:extLst>
          </p:cNvPr>
          <p:cNvSpPr/>
          <p:nvPr/>
        </p:nvSpPr>
        <p:spPr>
          <a:xfrm>
            <a:off x="5107780" y="1624988"/>
            <a:ext cx="3464719" cy="7755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1400" b="1" i="0" u="none" strike="noStrike" cap="none">
                <a:solidFill>
                  <a:srgbClr val="2C3E50"/>
                </a:solidFill>
                <a:latin typeface="Inter"/>
                <a:ea typeface="Inter"/>
                <a:cs typeface="Inter"/>
                <a:sym typeface="Inter"/>
              </a:rPr>
              <a:t>Educational:</a:t>
            </a:r>
            <a:r>
              <a:rPr lang="en-US" sz="1400" b="0" i="0" u="none" strike="noStrike" cap="none">
                <a:solidFill>
                  <a:srgbClr val="2C3E50"/>
                </a:solidFill>
                <a:latin typeface="Inter"/>
                <a:ea typeface="Inter"/>
                <a:cs typeface="Inter"/>
                <a:sym typeface="Inter"/>
              </a:rPr>
              <a:t> A RAG framework that democratizes access to specialized Singaporean ecological knowledge.</a:t>
            </a:r>
            <a:endParaRPr sz="1400" b="0" i="0" u="none" strike="noStrike" cap="none">
              <a:solidFill>
                <a:schemeClr val="dk1"/>
              </a:solidFill>
              <a:latin typeface="Calibri"/>
              <a:ea typeface="Calibri"/>
              <a:cs typeface="Calibri"/>
              <a:sym typeface="Calibri"/>
            </a:endParaRPr>
          </a:p>
        </p:txBody>
      </p:sp>
      <p:sp>
        <p:nvSpPr>
          <p:cNvPr id="13" name="Google Shape;341;p10">
            <a:extLst>
              <a:ext uri="{FF2B5EF4-FFF2-40B4-BE49-F238E27FC236}">
                <a16:creationId xmlns:a16="http://schemas.microsoft.com/office/drawing/2014/main" id="{ADD208B7-462D-4E93-863E-EFE484E3EE42}"/>
              </a:ext>
            </a:extLst>
          </p:cNvPr>
          <p:cNvSpPr/>
          <p:nvPr/>
        </p:nvSpPr>
        <p:spPr>
          <a:xfrm>
            <a:off x="657224" y="2182200"/>
            <a:ext cx="3957638" cy="557213"/>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4" name="Google Shape;342;p10" descr="preencoded.png">
            <a:extLst>
              <a:ext uri="{FF2B5EF4-FFF2-40B4-BE49-F238E27FC236}">
                <a16:creationId xmlns:a16="http://schemas.microsoft.com/office/drawing/2014/main" id="{1DD66AA5-95A5-8BAF-B82A-79E7626908AA}"/>
              </a:ext>
            </a:extLst>
          </p:cNvPr>
          <p:cNvPicPr preferRelativeResize="0"/>
          <p:nvPr/>
        </p:nvPicPr>
        <p:blipFill rotWithShape="1">
          <a:blip r:embed="rId5">
            <a:alphaModFix/>
          </a:blip>
          <a:srcRect/>
          <a:stretch/>
        </p:blipFill>
        <p:spPr>
          <a:xfrm>
            <a:off x="571499" y="3021761"/>
            <a:ext cx="385764" cy="318406"/>
          </a:xfrm>
          <a:prstGeom prst="rect">
            <a:avLst/>
          </a:prstGeom>
          <a:noFill/>
          <a:ln>
            <a:noFill/>
          </a:ln>
        </p:spPr>
      </p:pic>
      <p:sp>
        <p:nvSpPr>
          <p:cNvPr id="15" name="Google Shape;343;p10">
            <a:extLst>
              <a:ext uri="{FF2B5EF4-FFF2-40B4-BE49-F238E27FC236}">
                <a16:creationId xmlns:a16="http://schemas.microsoft.com/office/drawing/2014/main" id="{77198D97-CCE5-F7C7-32DD-BF3AFD8A17FA}"/>
              </a:ext>
            </a:extLst>
          </p:cNvPr>
          <p:cNvSpPr/>
          <p:nvPr/>
        </p:nvSpPr>
        <p:spPr>
          <a:xfrm>
            <a:off x="1042985" y="2921068"/>
            <a:ext cx="3464719" cy="7755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1400" b="1" i="0" u="none" strike="noStrike" cap="none" dirty="0">
                <a:solidFill>
                  <a:srgbClr val="2C3E50"/>
                </a:solidFill>
                <a:latin typeface="Inter"/>
                <a:ea typeface="Inter"/>
                <a:cs typeface="Inter"/>
                <a:sym typeface="Inter"/>
              </a:rPr>
              <a:t>Impact:</a:t>
            </a:r>
            <a:r>
              <a:rPr lang="en-US" sz="1400" b="0" i="0" u="none" strike="noStrike" cap="none" dirty="0">
                <a:solidFill>
                  <a:srgbClr val="2C3E50"/>
                </a:solidFill>
                <a:latin typeface="Inter"/>
                <a:ea typeface="Inter"/>
                <a:cs typeface="Inter"/>
                <a:sym typeface="Inter"/>
              </a:rPr>
              <a:t> Lowering the barrier for public engagement in Singapore's "City in Nature" initiatives.</a:t>
            </a:r>
            <a:endParaRPr sz="1400" b="0" i="0" u="none" strike="noStrike" cap="none" dirty="0">
              <a:solidFill>
                <a:schemeClr val="dk1"/>
              </a:solidFill>
              <a:latin typeface="Calibri"/>
              <a:ea typeface="Calibri"/>
              <a:cs typeface="Calibri"/>
              <a:sym typeface="Calibri"/>
            </a:endParaRPr>
          </a:p>
        </p:txBody>
      </p:sp>
      <p:sp>
        <p:nvSpPr>
          <p:cNvPr id="16" name="Google Shape;344;p10">
            <a:extLst>
              <a:ext uri="{FF2B5EF4-FFF2-40B4-BE49-F238E27FC236}">
                <a16:creationId xmlns:a16="http://schemas.microsoft.com/office/drawing/2014/main" id="{B04E909E-BA98-1243-A0F1-7B43C80333AB}"/>
              </a:ext>
            </a:extLst>
          </p:cNvPr>
          <p:cNvSpPr/>
          <p:nvPr/>
        </p:nvSpPr>
        <p:spPr>
          <a:xfrm>
            <a:off x="4700587" y="2182200"/>
            <a:ext cx="3957638" cy="557213"/>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7" name="Google Shape;345;p10" descr="preencoded.png">
            <a:extLst>
              <a:ext uri="{FF2B5EF4-FFF2-40B4-BE49-F238E27FC236}">
                <a16:creationId xmlns:a16="http://schemas.microsoft.com/office/drawing/2014/main" id="{1365D8E5-DBDD-1889-E74A-305543A0B1E8}"/>
              </a:ext>
            </a:extLst>
          </p:cNvPr>
          <p:cNvPicPr preferRelativeResize="0"/>
          <p:nvPr/>
        </p:nvPicPr>
        <p:blipFill rotWithShape="1">
          <a:blip r:embed="rId6">
            <a:alphaModFix/>
          </a:blip>
          <a:srcRect/>
          <a:stretch/>
        </p:blipFill>
        <p:spPr>
          <a:xfrm>
            <a:off x="4636292" y="3021761"/>
            <a:ext cx="300039" cy="318406"/>
          </a:xfrm>
          <a:prstGeom prst="rect">
            <a:avLst/>
          </a:prstGeom>
          <a:noFill/>
          <a:ln>
            <a:noFill/>
          </a:ln>
        </p:spPr>
      </p:pic>
      <p:sp>
        <p:nvSpPr>
          <p:cNvPr id="18" name="Google Shape;346;p10">
            <a:extLst>
              <a:ext uri="{FF2B5EF4-FFF2-40B4-BE49-F238E27FC236}">
                <a16:creationId xmlns:a16="http://schemas.microsoft.com/office/drawing/2014/main" id="{8EAD09B4-1BA0-0ED7-F414-F7EA71216F0D}"/>
              </a:ext>
            </a:extLst>
          </p:cNvPr>
          <p:cNvSpPr/>
          <p:nvPr/>
        </p:nvSpPr>
        <p:spPr>
          <a:xfrm>
            <a:off x="5075632" y="2898320"/>
            <a:ext cx="3529013" cy="7755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2C3E50"/>
              </a:buClr>
              <a:buSzPts val="900"/>
              <a:buFont typeface="Inter"/>
              <a:buNone/>
            </a:pPr>
            <a:r>
              <a:rPr lang="en-US" sz="1400" b="1" i="0" u="none" strike="noStrike" cap="none" dirty="0">
                <a:solidFill>
                  <a:srgbClr val="2C3E50"/>
                </a:solidFill>
                <a:latin typeface="Inter"/>
                <a:ea typeface="Inter"/>
                <a:cs typeface="Inter"/>
                <a:sym typeface="Inter"/>
              </a:rPr>
              <a:t>Open Science:</a:t>
            </a:r>
            <a:r>
              <a:rPr lang="en-US" sz="1400" b="0" i="0" u="none" strike="noStrike" cap="none" dirty="0">
                <a:solidFill>
                  <a:srgbClr val="2C3E50"/>
                </a:solidFill>
                <a:latin typeface="Inter"/>
                <a:ea typeface="Inter"/>
                <a:cs typeface="Inter"/>
                <a:sym typeface="Inter"/>
              </a:rPr>
              <a:t> Documented, modular components ready for integration into </a:t>
            </a:r>
            <a:r>
              <a:rPr lang="en-US" sz="1400" b="0" i="0" u="none" strike="noStrike" cap="none" dirty="0" err="1">
                <a:solidFill>
                  <a:srgbClr val="2C3E50"/>
                </a:solidFill>
                <a:latin typeface="Inter"/>
                <a:ea typeface="Inter"/>
                <a:cs typeface="Inter"/>
                <a:sym typeface="Inter"/>
              </a:rPr>
              <a:t>NParks</a:t>
            </a:r>
            <a:r>
              <a:rPr lang="en-US" sz="1400" b="0" i="0" u="none" strike="noStrike" cap="none" dirty="0">
                <a:solidFill>
                  <a:srgbClr val="2C3E50"/>
                </a:solidFill>
                <a:latin typeface="Inter"/>
                <a:ea typeface="Inter"/>
                <a:cs typeface="Inter"/>
                <a:sym typeface="Inter"/>
              </a:rPr>
              <a:t> or community platforms.</a:t>
            </a:r>
            <a:endParaRPr sz="1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960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5D54BF9-5863-0E63-61C9-4DA583A3502B}"/>
              </a:ext>
            </a:extLst>
          </p:cNvPr>
          <p:cNvSpPr>
            <a:spLocks noGrp="1"/>
          </p:cNvSpPr>
          <p:nvPr>
            <p:ph type="ftr" sz="quarter" idx="11"/>
          </p:nvPr>
        </p:nvSpPr>
        <p:spPr/>
        <p:txBody>
          <a:bodyPr/>
          <a:lstStyle/>
          <a:p>
            <a:r>
              <a:rPr lang="en-US" sz="900"/>
              <a:t>College of Computing and Data Science</a:t>
            </a:r>
            <a:endParaRPr lang="en-US" sz="900" dirty="0"/>
          </a:p>
        </p:txBody>
      </p:sp>
      <p:sp>
        <p:nvSpPr>
          <p:cNvPr id="3" name="Google Shape;347;p10">
            <a:extLst>
              <a:ext uri="{FF2B5EF4-FFF2-40B4-BE49-F238E27FC236}">
                <a16:creationId xmlns:a16="http://schemas.microsoft.com/office/drawing/2014/main" id="{8EAC4145-B4BD-A689-0D8E-7B5EB5F9716E}"/>
              </a:ext>
            </a:extLst>
          </p:cNvPr>
          <p:cNvSpPr/>
          <p:nvPr/>
        </p:nvSpPr>
        <p:spPr>
          <a:xfrm>
            <a:off x="1082082" y="1830351"/>
            <a:ext cx="7200900" cy="907256"/>
          </a:xfrm>
          <a:prstGeom prst="rect">
            <a:avLst/>
          </a:prstGeom>
          <a:solidFill>
            <a:srgbClr val="1F5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oogle Shape;23;p1">
            <a:extLst>
              <a:ext uri="{FF2B5EF4-FFF2-40B4-BE49-F238E27FC236}">
                <a16:creationId xmlns:a16="http://schemas.microsoft.com/office/drawing/2014/main" id="{3B883F3A-7AC7-FB4D-401F-EF7FCC803738}"/>
              </a:ext>
            </a:extLst>
          </p:cNvPr>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4" name="Google Shape;348;p10">
            <a:extLst>
              <a:ext uri="{FF2B5EF4-FFF2-40B4-BE49-F238E27FC236}">
                <a16:creationId xmlns:a16="http://schemas.microsoft.com/office/drawing/2014/main" id="{340FC8EC-A2DA-8476-C069-F3514F218CC8}"/>
              </a:ext>
            </a:extLst>
          </p:cNvPr>
          <p:cNvSpPr/>
          <p:nvPr/>
        </p:nvSpPr>
        <p:spPr>
          <a:xfrm>
            <a:off x="1167807" y="2096307"/>
            <a:ext cx="7029450" cy="40626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FFFFFF"/>
              </a:buClr>
              <a:buSzPts val="1100"/>
              <a:buFont typeface="Inter SemiBold"/>
              <a:buNone/>
            </a:pPr>
            <a:r>
              <a:rPr lang="en-US" sz="1100" b="0" i="1" u="none" strike="noStrike" cap="none" dirty="0">
                <a:solidFill>
                  <a:srgbClr val="FFFFFF"/>
                </a:solidFill>
                <a:latin typeface="Inter SemiBold"/>
                <a:ea typeface="Inter SemiBold"/>
                <a:cs typeface="Inter SemiBold"/>
                <a:sym typeface="Inter SemiBold"/>
              </a:rPr>
              <a:t>By combining localized recognition with grounded intelligence, we empower every </a:t>
            </a:r>
          </a:p>
          <a:p>
            <a:pPr marL="0" marR="0" lvl="0" indent="0" algn="ctr" rtl="0">
              <a:lnSpc>
                <a:spcPct val="120000"/>
              </a:lnSpc>
              <a:spcBef>
                <a:spcPts val="0"/>
              </a:spcBef>
              <a:spcAft>
                <a:spcPts val="0"/>
              </a:spcAft>
              <a:buClr>
                <a:srgbClr val="FFFFFF"/>
              </a:buClr>
              <a:buSzPts val="1100"/>
              <a:buFont typeface="Inter SemiBold"/>
              <a:buNone/>
            </a:pPr>
            <a:r>
              <a:rPr lang="en-US" sz="1100" b="0" i="1" u="none" strike="noStrike" cap="none" dirty="0">
                <a:solidFill>
                  <a:srgbClr val="FFFFFF"/>
                </a:solidFill>
                <a:latin typeface="Inter SemiBold"/>
                <a:ea typeface="Inter SemiBold"/>
                <a:cs typeface="Inter SemiBold"/>
                <a:sym typeface="Inter SemiBold"/>
              </a:rPr>
              <a:t>citizen to become a guardian of Singapore's biodiversity.</a:t>
            </a:r>
            <a:endParaRPr sz="11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09659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86595-9176-484E-CA75-67DAE8F05DC8}"/>
              </a:ext>
            </a:extLst>
          </p:cNvPr>
          <p:cNvSpPr>
            <a:spLocks noGrp="1"/>
          </p:cNvSpPr>
          <p:nvPr>
            <p:ph type="title"/>
          </p:nvPr>
        </p:nvSpPr>
        <p:spPr/>
        <p:txBody>
          <a:bodyPr/>
          <a:lstStyle/>
          <a:p>
            <a:endParaRPr lang="en-GB"/>
          </a:p>
        </p:txBody>
      </p:sp>
      <p:sp>
        <p:nvSpPr>
          <p:cNvPr id="4" name="Text Placeholder 3">
            <a:extLst>
              <a:ext uri="{FF2B5EF4-FFF2-40B4-BE49-F238E27FC236}">
                <a16:creationId xmlns:a16="http://schemas.microsoft.com/office/drawing/2014/main" id="{8B47BCFE-8426-6F27-6772-983F7E03BB29}"/>
              </a:ext>
            </a:extLst>
          </p:cNvPr>
          <p:cNvSpPr>
            <a:spLocks noGrp="1"/>
          </p:cNvSpPr>
          <p:nvPr>
            <p:ph type="body" sz="half" idx="2"/>
          </p:nvPr>
        </p:nvSpPr>
        <p:spPr/>
        <p:txBody>
          <a:bodyPr/>
          <a:lstStyle/>
          <a:p>
            <a:endParaRPr lang="en-GB"/>
          </a:p>
        </p:txBody>
      </p:sp>
      <p:sp>
        <p:nvSpPr>
          <p:cNvPr id="5" name="Footer Placeholder 4">
            <a:extLst>
              <a:ext uri="{FF2B5EF4-FFF2-40B4-BE49-F238E27FC236}">
                <a16:creationId xmlns:a16="http://schemas.microsoft.com/office/drawing/2014/main" id="{82F1D75F-11D0-1C15-A11A-5F274E841427}"/>
              </a:ext>
            </a:extLst>
          </p:cNvPr>
          <p:cNvSpPr>
            <a:spLocks noGrp="1"/>
          </p:cNvSpPr>
          <p:nvPr>
            <p:ph type="ftr" sz="quarter" idx="11"/>
          </p:nvPr>
        </p:nvSpPr>
        <p:spPr/>
        <p:txBody>
          <a:bodyPr/>
          <a:lstStyle/>
          <a:p>
            <a:endParaRPr lang="en-US"/>
          </a:p>
          <a:p>
            <a:r>
              <a:rPr lang="en-US" sz="900"/>
              <a:t>College of Computing and Data Science</a:t>
            </a:r>
          </a:p>
          <a:p>
            <a:endParaRPr lang="en-US" dirty="0"/>
          </a:p>
        </p:txBody>
      </p:sp>
      <p:pic>
        <p:nvPicPr>
          <p:cNvPr id="11" name="Picture Placeholder 10">
            <a:extLst>
              <a:ext uri="{FF2B5EF4-FFF2-40B4-BE49-F238E27FC236}">
                <a16:creationId xmlns:a16="http://schemas.microsoft.com/office/drawing/2014/main" id="{09F076EB-F121-0266-EAF4-247F31378C2F}"/>
              </a:ext>
            </a:extLst>
          </p:cNvPr>
          <p:cNvPicPr>
            <a:picLocks noGrp="1" noChangeAspect="1"/>
          </p:cNvPicPr>
          <p:nvPr>
            <p:ph type="pic" idx="1"/>
          </p:nvPr>
        </p:nvPicPr>
        <p:blipFill>
          <a:blip r:embed="rId3"/>
          <a:srcRect l="744" t="1599" b="5881"/>
          <a:stretch>
            <a:fillRect/>
          </a:stretch>
        </p:blipFill>
        <p:spPr>
          <a:xfrm>
            <a:off x="800107" y="1"/>
            <a:ext cx="7543785" cy="4793064"/>
          </a:xfrm>
          <a:prstGeom prst="rect">
            <a:avLst/>
          </a:prstGeom>
        </p:spPr>
      </p:pic>
    </p:spTree>
    <p:extLst>
      <p:ext uri="{BB962C8B-B14F-4D97-AF65-F5344CB8AC3E}">
        <p14:creationId xmlns:p14="http://schemas.microsoft.com/office/powerpoint/2010/main" val="2849268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show="0">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8662" y="2071814"/>
            <a:ext cx="5695640" cy="999871"/>
          </a:xfrm>
        </p:spPr>
        <p:txBody>
          <a:bodyPr lIns="0" tIns="0" rIns="0" bIns="0" anchor="ctr" anchorCtr="0">
            <a:normAutofit fontScale="90000"/>
          </a:bodyPr>
          <a:lstStyle/>
          <a:p>
            <a:r>
              <a:rPr lang="en-SG" sz="3200" b="1" dirty="0">
                <a:solidFill>
                  <a:schemeClr val="bg1"/>
                </a:solidFill>
              </a:rPr>
              <a:t>Tropical Bird Sound Recognition with Limited Data</a:t>
            </a:r>
            <a:br>
              <a:rPr lang="en-SG" sz="3200" b="1" dirty="0">
                <a:solidFill>
                  <a:schemeClr val="bg1"/>
                </a:solidFill>
              </a:rPr>
            </a:br>
            <a:r>
              <a:rPr lang="en-SG" sz="1800" dirty="0" err="1">
                <a:solidFill>
                  <a:schemeClr val="bg1"/>
                </a:solidFill>
              </a:rPr>
              <a:t>TropiCalls</a:t>
            </a:r>
            <a:r>
              <a:rPr lang="en-SG" sz="1800" dirty="0">
                <a:solidFill>
                  <a:schemeClr val="bg1"/>
                </a:solidFill>
              </a:rPr>
              <a:t> – Giving Tropical Birds a Voice</a:t>
            </a:r>
            <a:br>
              <a:rPr lang="en-SG" sz="2000" dirty="0">
                <a:solidFill>
                  <a:schemeClr val="bg1"/>
                </a:solidFill>
              </a:rPr>
            </a:br>
            <a:endParaRPr lang="en-SG" sz="2000" dirty="0">
              <a:solidFill>
                <a:schemeClr val="bg1"/>
              </a:solidFill>
            </a:endParaRPr>
          </a:p>
        </p:txBody>
      </p:sp>
      <p:sp>
        <p:nvSpPr>
          <p:cNvPr id="3" name="Subtitle 2"/>
          <p:cNvSpPr>
            <a:spLocks noGrp="1"/>
          </p:cNvSpPr>
          <p:nvPr>
            <p:ph type="subTitle" idx="1"/>
          </p:nvPr>
        </p:nvSpPr>
        <p:spPr>
          <a:xfrm>
            <a:off x="618662" y="3473399"/>
            <a:ext cx="5123316" cy="1265293"/>
          </a:xfrm>
        </p:spPr>
        <p:txBody>
          <a:bodyPr lIns="0" tIns="0" rIns="0" bIns="0">
            <a:normAutofit/>
          </a:bodyPr>
          <a:lstStyle/>
          <a:p>
            <a:pPr algn="l"/>
            <a:endParaRPr lang="en-US" sz="1500" b="1" dirty="0">
              <a:solidFill>
                <a:srgbClr val="FFFFFF"/>
              </a:solidFill>
              <a:cs typeface="Arial"/>
            </a:endParaRPr>
          </a:p>
          <a:p>
            <a:pPr algn="l"/>
            <a:endParaRPr lang="en-US" sz="1500" b="1" dirty="0">
              <a:solidFill>
                <a:srgbClr val="FFFFFF"/>
              </a:solidFill>
              <a:cs typeface="Arial"/>
            </a:endParaRPr>
          </a:p>
          <a:p>
            <a:pPr algn="l"/>
            <a:r>
              <a:rPr lang="en-US" sz="1200" b="1" dirty="0">
                <a:solidFill>
                  <a:srgbClr val="FFFFFF"/>
                </a:solidFill>
                <a:cs typeface="Arial"/>
              </a:rPr>
              <a:t>Adele Ng </a:t>
            </a:r>
            <a:r>
              <a:rPr lang="en-US" sz="1200" b="1" dirty="0" err="1">
                <a:solidFill>
                  <a:srgbClr val="FFFFFF"/>
                </a:solidFill>
                <a:cs typeface="Arial"/>
              </a:rPr>
              <a:t>Jingwen</a:t>
            </a:r>
            <a:r>
              <a:rPr lang="en-US" sz="1200" b="1" dirty="0">
                <a:solidFill>
                  <a:srgbClr val="FFFFFF"/>
                </a:solidFill>
                <a:cs typeface="Arial"/>
              </a:rPr>
              <a:t> </a:t>
            </a:r>
          </a:p>
          <a:p>
            <a:pPr algn="l"/>
            <a:r>
              <a:rPr lang="en-US" sz="1200" b="1" dirty="0">
                <a:solidFill>
                  <a:srgbClr val="FFFFFF"/>
                </a:solidFill>
                <a:cs typeface="Arial"/>
              </a:rPr>
              <a:t>CCDS</a:t>
            </a:r>
          </a:p>
          <a:p>
            <a:pPr algn="l"/>
            <a:r>
              <a:rPr lang="en-US" sz="1200" i="1" dirty="0">
                <a:solidFill>
                  <a:srgbClr val="FFFFFF"/>
                </a:solidFill>
                <a:cs typeface="Arial"/>
              </a:rPr>
              <a:t>8 Nov 2025</a:t>
            </a:r>
          </a:p>
        </p:txBody>
      </p:sp>
      <p:pic>
        <p:nvPicPr>
          <p:cNvPr id="6146" name="Picture 2" descr="Bird Silhouette PNG Transparent Background, Free Download #3497 -  FreeIconsPNG">
            <a:extLst>
              <a:ext uri="{FF2B5EF4-FFF2-40B4-BE49-F238E27FC236}">
                <a16:creationId xmlns:a16="http://schemas.microsoft.com/office/drawing/2014/main" id="{5388DB81-713C-8456-2606-9B1074D059E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2162768" y="-840079"/>
            <a:ext cx="5847563" cy="4389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986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7CFCF0-C3DD-DD2A-5289-A106A7D9C7F3}"/>
              </a:ext>
            </a:extLst>
          </p:cNvPr>
          <p:cNvSpPr>
            <a:spLocks noGrp="1"/>
          </p:cNvSpPr>
          <p:nvPr>
            <p:ph type="title"/>
          </p:nvPr>
        </p:nvSpPr>
        <p:spPr>
          <a:xfrm>
            <a:off x="100929" y="124248"/>
            <a:ext cx="8936484" cy="857250"/>
          </a:xfrm>
        </p:spPr>
        <p:txBody>
          <a:bodyPr anchor="ctr">
            <a:normAutofit/>
          </a:bodyPr>
          <a:lstStyle/>
          <a:p>
            <a:r>
              <a:rPr lang="en-SG" sz="3700" err="1"/>
              <a:t>TropiCalls</a:t>
            </a:r>
            <a:r>
              <a:rPr lang="en-SG" sz="3700"/>
              <a:t> – Giving Tropical Birds a Voice</a:t>
            </a:r>
            <a:endParaRPr lang="en-US" sz="3700"/>
          </a:p>
        </p:txBody>
      </p:sp>
      <p:sp>
        <p:nvSpPr>
          <p:cNvPr id="18" name="Content Placeholder 3">
            <a:extLst>
              <a:ext uri="{FF2B5EF4-FFF2-40B4-BE49-F238E27FC236}">
                <a16:creationId xmlns:a16="http://schemas.microsoft.com/office/drawing/2014/main" id="{379BC74C-F0ED-40DB-1866-4023E5627C71}"/>
              </a:ext>
            </a:extLst>
          </p:cNvPr>
          <p:cNvSpPr>
            <a:spLocks noGrp="1"/>
          </p:cNvSpPr>
          <p:nvPr>
            <p:ph sz="half" idx="2"/>
          </p:nvPr>
        </p:nvSpPr>
        <p:spPr>
          <a:xfrm>
            <a:off x="4648200" y="1200151"/>
            <a:ext cx="4038600" cy="3394472"/>
          </a:xfrm>
        </p:spPr>
        <p:txBody>
          <a:bodyPr>
            <a:normAutofit/>
          </a:bodyPr>
          <a:lstStyle/>
          <a:p>
            <a:pPr>
              <a:spcBef>
                <a:spcPts val="0"/>
              </a:spcBef>
              <a:spcAft>
                <a:spcPts val="600"/>
              </a:spcAft>
            </a:pPr>
            <a:r>
              <a:rPr lang="en-SG" sz="2400" dirty="0"/>
              <a:t>Host ~75% of the world’s bird species </a:t>
            </a:r>
          </a:p>
          <a:p>
            <a:pPr>
              <a:spcBef>
                <a:spcPts val="0"/>
              </a:spcBef>
              <a:spcAft>
                <a:spcPts val="600"/>
              </a:spcAft>
            </a:pPr>
            <a:r>
              <a:rPr lang="en-SG" sz="2400" dirty="0"/>
              <a:t>Vital to biodiversity</a:t>
            </a:r>
          </a:p>
          <a:p>
            <a:pPr lvl="1">
              <a:spcBef>
                <a:spcPts val="0"/>
              </a:spcBef>
              <a:spcAft>
                <a:spcPts val="600"/>
              </a:spcAft>
            </a:pPr>
            <a:r>
              <a:rPr lang="en-SG" dirty="0"/>
              <a:t>But hard to see in dense forests</a:t>
            </a:r>
            <a:endParaRPr lang="en-US" dirty="0"/>
          </a:p>
          <a:p>
            <a:pPr>
              <a:spcBef>
                <a:spcPts val="0"/>
              </a:spcBef>
              <a:spcAft>
                <a:spcPts val="600"/>
              </a:spcAft>
            </a:pPr>
            <a:r>
              <a:rPr lang="en-US" sz="2400" dirty="0"/>
              <a:t>Rely on sound recording</a:t>
            </a:r>
            <a:endParaRPr lang="en-SG" sz="2400" dirty="0"/>
          </a:p>
        </p:txBody>
      </p:sp>
      <p:sp>
        <p:nvSpPr>
          <p:cNvPr id="16" name="Footer Placeholder 6">
            <a:extLst>
              <a:ext uri="{FF2B5EF4-FFF2-40B4-BE49-F238E27FC236}">
                <a16:creationId xmlns:a16="http://schemas.microsoft.com/office/drawing/2014/main" id="{A202367C-A4D2-B26B-420F-A0D7EF7B5DEA}"/>
              </a:ext>
            </a:extLst>
          </p:cNvPr>
          <p:cNvSpPr>
            <a:spLocks noGrp="1"/>
          </p:cNvSpPr>
          <p:nvPr>
            <p:ph type="ftr" sz="quarter" idx="11"/>
          </p:nvPr>
        </p:nvSpPr>
        <p:spPr>
          <a:xfrm>
            <a:off x="3124200" y="4886308"/>
            <a:ext cx="4810790" cy="273844"/>
          </a:xfrm>
        </p:spPr>
        <p:txBody>
          <a:bodyPr wrap="none" anchor="ctr">
            <a:normAutofit/>
          </a:bodyPr>
          <a:lstStyle/>
          <a:p>
            <a:pPr>
              <a:lnSpc>
                <a:spcPct val="90000"/>
              </a:lnSpc>
              <a:spcAft>
                <a:spcPts val="600"/>
              </a:spcAft>
            </a:pPr>
            <a:endParaRPr lang="en-US" sz="400" dirty="0"/>
          </a:p>
          <a:p>
            <a:pPr>
              <a:lnSpc>
                <a:spcPct val="90000"/>
              </a:lnSpc>
              <a:spcAft>
                <a:spcPts val="600"/>
              </a:spcAft>
            </a:pPr>
            <a:r>
              <a:rPr lang="en-US" sz="400" dirty="0"/>
              <a:t>College of Computing and Data Science</a:t>
            </a:r>
          </a:p>
          <a:p>
            <a:pPr>
              <a:lnSpc>
                <a:spcPct val="90000"/>
              </a:lnSpc>
              <a:spcAft>
                <a:spcPts val="600"/>
              </a:spcAft>
            </a:pPr>
            <a:endParaRPr lang="en-US" sz="400" dirty="0"/>
          </a:p>
        </p:txBody>
      </p:sp>
      <p:sp>
        <p:nvSpPr>
          <p:cNvPr id="4" name="Rectangle 3">
            <a:extLst>
              <a:ext uri="{FF2B5EF4-FFF2-40B4-BE49-F238E27FC236}">
                <a16:creationId xmlns:a16="http://schemas.microsoft.com/office/drawing/2014/main" id="{A89FAB05-165F-6D22-F994-65C78B204E26}"/>
              </a:ext>
            </a:extLst>
          </p:cNvPr>
          <p:cNvSpPr>
            <a:spLocks noChangeArrowheads="1"/>
          </p:cNvSpPr>
          <p:nvPr/>
        </p:nvSpPr>
        <p:spPr bwMode="auto">
          <a:xfrm>
            <a:off x="0" y="5974733"/>
            <a:ext cx="1745766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Tropical Symphony:</a:t>
            </a:r>
            <a:r>
              <a:rPr kumimoji="0" lang="en-US" altLang="en-US" b="0" i="0" u="none" strike="noStrike" cap="none" normalizeH="0" baseline="0">
                <a:ln>
                  <a:noFill/>
                </a:ln>
                <a:solidFill>
                  <a:schemeClr val="tx1"/>
                </a:solidFill>
                <a:effectLst/>
                <a:latin typeface="Arial" panose="020B0604020202020204" pitchFamily="34" charset="0"/>
              </a:rPr>
              <a:t> Rainforests are filled with </a:t>
            </a:r>
            <a:r>
              <a:rPr kumimoji="0" lang="en-US" altLang="en-US" b="1" i="0" u="none" strike="noStrike" cap="none" normalizeH="0" baseline="0">
                <a:ln>
                  <a:noFill/>
                </a:ln>
                <a:solidFill>
                  <a:schemeClr val="tx1"/>
                </a:solidFill>
                <a:effectLst/>
                <a:latin typeface="Arial" panose="020B0604020202020204" pitchFamily="34" charset="0"/>
              </a:rPr>
              <a:t>bird songs</a:t>
            </a:r>
            <a:r>
              <a:rPr kumimoji="0" lang="en-US" altLang="en-US" b="0" i="0" u="none" strike="noStrike" cap="none" normalizeH="0" baseline="0">
                <a:ln>
                  <a:noFill/>
                </a:ln>
                <a:solidFill>
                  <a:schemeClr val="tx1"/>
                </a:solidFill>
                <a:effectLst/>
                <a:latin typeface="Arial" panose="020B0604020202020204" pitchFamily="34" charset="0"/>
              </a:rPr>
              <a:t> – tropical regions host ~90% of the world’s bird species.</a:t>
            </a:r>
          </a:p>
          <a:p>
            <a:pPr marL="0" marR="0" lvl="0" indent="0" algn="l"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Why It Matters:</a:t>
            </a:r>
            <a:r>
              <a:rPr kumimoji="0" lang="en-US" altLang="en-US" b="0" i="0" u="none" strike="noStrike" cap="none" normalizeH="0" baseline="0">
                <a:ln>
                  <a:noFill/>
                </a:ln>
                <a:solidFill>
                  <a:schemeClr val="tx1"/>
                </a:solidFill>
                <a:effectLst/>
                <a:latin typeface="Arial" panose="020B0604020202020204" pitchFamily="34" charset="0"/>
              </a:rPr>
              <a:t> These birds are vital to </a:t>
            </a:r>
            <a:r>
              <a:rPr kumimoji="0" lang="en-US" altLang="en-US" b="1" i="0" u="none" strike="noStrike" cap="none" normalizeH="0" baseline="0">
                <a:ln>
                  <a:noFill/>
                </a:ln>
                <a:solidFill>
                  <a:schemeClr val="tx1"/>
                </a:solidFill>
                <a:effectLst/>
                <a:latin typeface="Arial" panose="020B0604020202020204" pitchFamily="34" charset="0"/>
              </a:rPr>
              <a:t>biodiversity</a:t>
            </a:r>
            <a:r>
              <a:rPr kumimoji="0" lang="en-US" altLang="en-US" b="0" i="0" u="none" strike="noStrike" cap="none" normalizeH="0" baseline="0">
                <a:ln>
                  <a:noFill/>
                </a:ln>
                <a:solidFill>
                  <a:schemeClr val="tx1"/>
                </a:solidFill>
                <a:effectLst/>
                <a:latin typeface="Arial" panose="020B0604020202020204" pitchFamily="34" charset="0"/>
              </a:rPr>
              <a:t>, but they’re hard to see in dense forests (we often </a:t>
            </a:r>
            <a:r>
              <a:rPr kumimoji="0" lang="en-US" altLang="en-US" b="0" i="1" u="none" strike="noStrike" cap="none" normalizeH="0" baseline="0">
                <a:ln>
                  <a:noFill/>
                </a:ln>
                <a:solidFill>
                  <a:schemeClr val="tx1"/>
                </a:solidFill>
                <a:effectLst/>
                <a:latin typeface="Arial" panose="020B0604020202020204" pitchFamily="34" charset="0"/>
              </a:rPr>
              <a:t>hear</a:t>
            </a:r>
            <a:r>
              <a:rPr kumimoji="0" lang="en-US" altLang="en-US" b="0" i="0" u="none" strike="noStrike" cap="none" normalizeH="0" baseline="0">
                <a:ln>
                  <a:noFill/>
                </a:ln>
                <a:solidFill>
                  <a:schemeClr val="tx1"/>
                </a:solidFill>
                <a:effectLst/>
                <a:latin typeface="Arial" panose="020B0604020202020204" pitchFamily="34" charset="0"/>
              </a:rPr>
              <a:t> them instead). Monitoring their calls is key for conservation.</a:t>
            </a:r>
          </a:p>
          <a:p>
            <a:pPr marL="0" marR="0" lvl="0" indent="0" algn="l"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Our Goal:</a:t>
            </a:r>
            <a:r>
              <a:rPr kumimoji="0" lang="en-US" altLang="en-US" b="0" i="0" u="none" strike="noStrike" cap="none" normalizeH="0" baseline="0">
                <a:ln>
                  <a:noFill/>
                </a:ln>
                <a:solidFill>
                  <a:schemeClr val="tx1"/>
                </a:solidFill>
                <a:effectLst/>
                <a:latin typeface="Arial" panose="020B0604020202020204" pitchFamily="34" charset="0"/>
              </a:rPr>
              <a:t> </a:t>
            </a:r>
            <a:r>
              <a:rPr kumimoji="0" lang="en-US" altLang="en-US" b="0" i="1" u="none" strike="noStrike" cap="none" normalizeH="0" baseline="0" err="1">
                <a:ln>
                  <a:noFill/>
                </a:ln>
                <a:solidFill>
                  <a:schemeClr val="tx1"/>
                </a:solidFill>
                <a:effectLst/>
                <a:latin typeface="Arial" panose="020B0604020202020204" pitchFamily="34" charset="0"/>
              </a:rPr>
              <a:t>TropiCalls</a:t>
            </a:r>
            <a:r>
              <a:rPr kumimoji="0" lang="en-US" altLang="en-US" b="0" i="0" u="none" strike="noStrike" cap="none" normalizeH="0" baseline="0">
                <a:ln>
                  <a:noFill/>
                </a:ln>
                <a:solidFill>
                  <a:schemeClr val="tx1"/>
                </a:solidFill>
                <a:effectLst/>
                <a:latin typeface="Arial" panose="020B0604020202020204" pitchFamily="34" charset="0"/>
              </a:rPr>
              <a:t> is a project to </a:t>
            </a:r>
            <a:r>
              <a:rPr kumimoji="0" lang="en-US" altLang="en-US" b="1" i="0" u="none" strike="noStrike" cap="none" normalizeH="0" baseline="0">
                <a:ln>
                  <a:noFill/>
                </a:ln>
                <a:solidFill>
                  <a:schemeClr val="tx1"/>
                </a:solidFill>
                <a:effectLst/>
                <a:latin typeface="Arial" panose="020B0604020202020204" pitchFamily="34" charset="0"/>
              </a:rPr>
              <a:t>automatically identify tropical bird species by sound</a:t>
            </a:r>
            <a:r>
              <a:rPr kumimoji="0" lang="en-US" altLang="en-US" b="0" i="0" u="none" strike="noStrike" cap="none" normalizeH="0" baseline="0">
                <a:ln>
                  <a:noFill/>
                </a:ln>
                <a:solidFill>
                  <a:schemeClr val="tx1"/>
                </a:solidFill>
                <a:effectLst/>
                <a:latin typeface="Arial" panose="020B0604020202020204" pitchFamily="34" charset="0"/>
              </a:rPr>
              <a:t>, even with very few recordings of each bird.</a:t>
            </a:r>
          </a:p>
        </p:txBody>
      </p:sp>
      <p:pic>
        <p:nvPicPr>
          <p:cNvPr id="1033" name="Picture 9">
            <a:extLst>
              <a:ext uri="{FF2B5EF4-FFF2-40B4-BE49-F238E27FC236}">
                <a16:creationId xmlns:a16="http://schemas.microsoft.com/office/drawing/2014/main" id="{39297759-3D7C-8548-D5BF-91008B9019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206" y="1103214"/>
            <a:ext cx="4347884" cy="3252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622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1E446B-A5B6-CB7E-C90D-9F44BF37CCD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67AF4BA-D665-0997-8C6C-3CF150942DFD}"/>
              </a:ext>
            </a:extLst>
          </p:cNvPr>
          <p:cNvSpPr>
            <a:spLocks noGrp="1"/>
          </p:cNvSpPr>
          <p:nvPr>
            <p:ph type="title"/>
          </p:nvPr>
        </p:nvSpPr>
        <p:spPr>
          <a:xfrm>
            <a:off x="100929" y="124248"/>
            <a:ext cx="8936484" cy="857250"/>
          </a:xfrm>
        </p:spPr>
        <p:txBody>
          <a:bodyPr anchor="ctr">
            <a:normAutofit/>
          </a:bodyPr>
          <a:lstStyle/>
          <a:p>
            <a:r>
              <a:rPr lang="en-SG"/>
              <a:t>The Challenge </a:t>
            </a:r>
            <a:endParaRPr lang="en-US"/>
          </a:p>
        </p:txBody>
      </p:sp>
      <p:pic>
        <p:nvPicPr>
          <p:cNvPr id="7" name="Picture 6" descr="A screenshot of a music app&#10;&#10;AI-generated content may be incorrect.">
            <a:extLst>
              <a:ext uri="{FF2B5EF4-FFF2-40B4-BE49-F238E27FC236}">
                <a16:creationId xmlns:a16="http://schemas.microsoft.com/office/drawing/2014/main" id="{8027914E-DD07-C4A4-9549-A76E0DA0C7C1}"/>
              </a:ext>
            </a:extLst>
          </p:cNvPr>
          <p:cNvPicPr>
            <a:picLocks noChangeAspect="1"/>
          </p:cNvPicPr>
          <p:nvPr/>
        </p:nvPicPr>
        <p:blipFill>
          <a:blip r:embed="rId3"/>
          <a:stretch>
            <a:fillRect/>
          </a:stretch>
        </p:blipFill>
        <p:spPr>
          <a:xfrm>
            <a:off x="744626" y="1200151"/>
            <a:ext cx="3463747" cy="3394472"/>
          </a:xfrm>
          <a:prstGeom prst="rect">
            <a:avLst/>
          </a:prstGeom>
          <a:noFill/>
        </p:spPr>
      </p:pic>
      <p:sp>
        <p:nvSpPr>
          <p:cNvPr id="2" name="Content Placeholder 3">
            <a:extLst>
              <a:ext uri="{FF2B5EF4-FFF2-40B4-BE49-F238E27FC236}">
                <a16:creationId xmlns:a16="http://schemas.microsoft.com/office/drawing/2014/main" id="{57A13926-0C10-A7F1-E569-73DBE091ABD3}"/>
              </a:ext>
            </a:extLst>
          </p:cNvPr>
          <p:cNvSpPr>
            <a:spLocks noGrp="1"/>
          </p:cNvSpPr>
          <p:nvPr>
            <p:ph sz="half" idx="2"/>
          </p:nvPr>
        </p:nvSpPr>
        <p:spPr>
          <a:xfrm>
            <a:off x="4648200" y="1200151"/>
            <a:ext cx="4038600" cy="3394472"/>
          </a:xfrm>
        </p:spPr>
        <p:txBody>
          <a:bodyPr>
            <a:normAutofit/>
          </a:bodyPr>
          <a:lstStyle/>
          <a:p>
            <a:pPr>
              <a:lnSpc>
                <a:spcPct val="90000"/>
              </a:lnSpc>
              <a:spcBef>
                <a:spcPts val="0"/>
              </a:spcBef>
              <a:spcAft>
                <a:spcPts val="600"/>
              </a:spcAft>
            </a:pPr>
            <a:r>
              <a:rPr lang="en-SG" sz="2400" dirty="0"/>
              <a:t>Very few recordings available</a:t>
            </a:r>
          </a:p>
          <a:p>
            <a:pPr>
              <a:lnSpc>
                <a:spcPct val="90000"/>
              </a:lnSpc>
              <a:spcBef>
                <a:spcPts val="0"/>
              </a:spcBef>
              <a:spcAft>
                <a:spcPts val="600"/>
              </a:spcAft>
            </a:pPr>
            <a:r>
              <a:rPr lang="en-SG" sz="2400" dirty="0"/>
              <a:t>Underrepresented compared to temperate species</a:t>
            </a:r>
          </a:p>
          <a:p>
            <a:pPr>
              <a:lnSpc>
                <a:spcPct val="90000"/>
              </a:lnSpc>
              <a:spcBef>
                <a:spcPts val="0"/>
              </a:spcBef>
              <a:spcAft>
                <a:spcPts val="600"/>
              </a:spcAft>
            </a:pPr>
            <a:r>
              <a:rPr lang="en-US" sz="2400" dirty="0"/>
              <a:t>Modern AI</a:t>
            </a:r>
          </a:p>
          <a:p>
            <a:pPr lvl="1">
              <a:lnSpc>
                <a:spcPct val="90000"/>
              </a:lnSpc>
              <a:spcBef>
                <a:spcPts val="0"/>
              </a:spcBef>
              <a:spcAft>
                <a:spcPts val="600"/>
              </a:spcAft>
            </a:pPr>
            <a:r>
              <a:rPr lang="en-US" dirty="0"/>
              <a:t>Few recordings = “invisible” species</a:t>
            </a:r>
            <a:endParaRPr lang="en-SG" dirty="0"/>
          </a:p>
        </p:txBody>
      </p:sp>
      <p:sp>
        <p:nvSpPr>
          <p:cNvPr id="8" name="Footer Placeholder 6">
            <a:extLst>
              <a:ext uri="{FF2B5EF4-FFF2-40B4-BE49-F238E27FC236}">
                <a16:creationId xmlns:a16="http://schemas.microsoft.com/office/drawing/2014/main" id="{0FB2D353-1858-A1B5-969E-5C0519D65AC9}"/>
              </a:ext>
            </a:extLst>
          </p:cNvPr>
          <p:cNvSpPr>
            <a:spLocks noGrp="1"/>
          </p:cNvSpPr>
          <p:nvPr>
            <p:ph type="ftr" sz="quarter" idx="11"/>
          </p:nvPr>
        </p:nvSpPr>
        <p:spPr>
          <a:xfrm>
            <a:off x="3124200" y="4886308"/>
            <a:ext cx="4810790" cy="273844"/>
          </a:xfrm>
        </p:spPr>
        <p:txBody>
          <a:bodyPr wrap="none" anchor="ctr">
            <a:normAutofit/>
          </a:bodyPr>
          <a:lstStyle/>
          <a:p>
            <a:pPr>
              <a:lnSpc>
                <a:spcPct val="90000"/>
              </a:lnSpc>
              <a:spcAft>
                <a:spcPts val="600"/>
              </a:spcAft>
            </a:pPr>
            <a:endParaRPr lang="en-US" sz="400" dirty="0"/>
          </a:p>
          <a:p>
            <a:pPr>
              <a:lnSpc>
                <a:spcPct val="90000"/>
              </a:lnSpc>
              <a:spcAft>
                <a:spcPts val="600"/>
              </a:spcAft>
            </a:pPr>
            <a:r>
              <a:rPr lang="en-US" sz="400" dirty="0"/>
              <a:t>College of Computing and Data Science</a:t>
            </a:r>
          </a:p>
          <a:p>
            <a:pPr>
              <a:lnSpc>
                <a:spcPct val="90000"/>
              </a:lnSpc>
              <a:spcAft>
                <a:spcPts val="600"/>
              </a:spcAft>
            </a:pPr>
            <a:endParaRPr lang="en-US" sz="400" dirty="0"/>
          </a:p>
        </p:txBody>
      </p:sp>
      <p:sp>
        <p:nvSpPr>
          <p:cNvPr id="21" name="Content Placeholder 3">
            <a:extLst>
              <a:ext uri="{FF2B5EF4-FFF2-40B4-BE49-F238E27FC236}">
                <a16:creationId xmlns:a16="http://schemas.microsoft.com/office/drawing/2014/main" id="{AD62CB4E-0AEB-3D38-18C5-6BADEC773682}"/>
              </a:ext>
            </a:extLst>
          </p:cNvPr>
          <p:cNvSpPr>
            <a:spLocks noGrp="1"/>
          </p:cNvSpPr>
          <p:nvPr>
            <p:ph sz="half" idx="1"/>
          </p:nvPr>
        </p:nvSpPr>
        <p:spPr>
          <a:xfrm>
            <a:off x="1285838" y="5237757"/>
            <a:ext cx="4639990" cy="1589226"/>
          </a:xfrm>
        </p:spPr>
        <p:txBody>
          <a:bodyPr>
            <a:normAutofit/>
          </a:bodyPr>
          <a:lstStyle/>
          <a:p>
            <a:pPr>
              <a:lnSpc>
                <a:spcPct val="150000"/>
              </a:lnSpc>
            </a:pPr>
            <a:r>
              <a:rPr lang="en-SG" sz="1400" dirty="0" err="1"/>
              <a:t>BirdNET</a:t>
            </a:r>
            <a:r>
              <a:rPr lang="en-SG" sz="1400" dirty="0"/>
              <a:t> struggle with </a:t>
            </a:r>
            <a:r>
              <a:rPr lang="en-SG" sz="1400" b="1" dirty="0"/>
              <a:t>local and rare birds</a:t>
            </a:r>
          </a:p>
          <a:p>
            <a:pPr>
              <a:lnSpc>
                <a:spcPct val="150000"/>
              </a:lnSpc>
            </a:pPr>
            <a:r>
              <a:rPr lang="en-SG" sz="1400" b="1" dirty="0"/>
              <a:t>Localising models </a:t>
            </a:r>
            <a:r>
              <a:rPr lang="en-SG" sz="1400" dirty="0"/>
              <a:t>with Singapore-specific sounds</a:t>
            </a:r>
          </a:p>
        </p:txBody>
      </p:sp>
      <p:sp>
        <p:nvSpPr>
          <p:cNvPr id="4" name="TextBox 3">
            <a:extLst>
              <a:ext uri="{FF2B5EF4-FFF2-40B4-BE49-F238E27FC236}">
                <a16:creationId xmlns:a16="http://schemas.microsoft.com/office/drawing/2014/main" id="{CF654E1B-13B9-23AA-F98A-440B274056D1}"/>
              </a:ext>
            </a:extLst>
          </p:cNvPr>
          <p:cNvSpPr txBox="1"/>
          <p:nvPr/>
        </p:nvSpPr>
        <p:spPr>
          <a:xfrm>
            <a:off x="449490" y="6265559"/>
            <a:ext cx="8397419" cy="2816156"/>
          </a:xfrm>
          <a:prstGeom prst="rect">
            <a:avLst/>
          </a:prstGeom>
          <a:noFill/>
        </p:spPr>
        <p:txBody>
          <a:bodyPr wrap="square">
            <a:spAutoFit/>
          </a:bodyPr>
          <a:lstStyle/>
          <a:p>
            <a:pPr>
              <a:spcAft>
                <a:spcPts val="600"/>
              </a:spcAft>
              <a:buNone/>
            </a:pPr>
            <a:r>
              <a:rPr lang="en-SG" b="1" dirty="0"/>
              <a:t>Slide 2: The Challenge – Scarce Audio Data</a:t>
            </a:r>
            <a:endParaRPr lang="en-SG"/>
          </a:p>
          <a:p>
            <a:pPr>
              <a:spcAft>
                <a:spcPts val="600"/>
              </a:spcAft>
              <a:buFont typeface="Arial" panose="020B0604020202020204" pitchFamily="34" charset="0"/>
              <a:buChar char="•"/>
            </a:pPr>
            <a:r>
              <a:rPr lang="en-SG" b="1" dirty="0"/>
              <a:t>Data Gap:</a:t>
            </a:r>
            <a:r>
              <a:rPr lang="en-SG" dirty="0"/>
              <a:t> Many tropical birds have </a:t>
            </a:r>
            <a:r>
              <a:rPr lang="en-SG" b="1" dirty="0"/>
              <a:t>very few recordings</a:t>
            </a:r>
            <a:r>
              <a:rPr lang="en-SG" dirty="0"/>
              <a:t> available – some only 5–10 clips in public archives.</a:t>
            </a:r>
            <a:endParaRPr lang="en-SG"/>
          </a:p>
          <a:p>
            <a:pPr>
              <a:spcAft>
                <a:spcPts val="600"/>
              </a:spcAft>
              <a:buFont typeface="Arial" panose="020B0604020202020204" pitchFamily="34" charset="0"/>
              <a:buChar char="•"/>
            </a:pPr>
            <a:r>
              <a:rPr lang="en-SG" b="1" dirty="0"/>
              <a:t>Bias in Databases:</a:t>
            </a:r>
            <a:r>
              <a:rPr lang="en-SG" dirty="0"/>
              <a:t> Most bird sound collections focus on Europe/N. America; tropical species are </a:t>
            </a:r>
            <a:r>
              <a:rPr lang="en-SG" b="1" dirty="0"/>
              <a:t>underrepresented</a:t>
            </a:r>
            <a:r>
              <a:rPr lang="en-SG" dirty="0"/>
              <a:t>. </a:t>
            </a:r>
            <a:r>
              <a:rPr lang="en-SG" i="1" dirty="0"/>
              <a:t>(E.g., many East African birds are missing from major libraries.)</a:t>
            </a:r>
            <a:endParaRPr lang="en-SG"/>
          </a:p>
          <a:p>
            <a:pPr>
              <a:spcAft>
                <a:spcPts val="600"/>
              </a:spcAft>
              <a:buFont typeface="Arial" panose="020B0604020202020204" pitchFamily="34" charset="0"/>
              <a:buChar char="•"/>
            </a:pPr>
            <a:r>
              <a:rPr lang="en-SG" b="1" dirty="0"/>
              <a:t>Why Hard for AI:</a:t>
            </a:r>
            <a:r>
              <a:rPr lang="en-SG" dirty="0"/>
              <a:t> Modern AI needs lots of examples. </a:t>
            </a:r>
            <a:r>
              <a:rPr lang="en-SG" b="1" dirty="0"/>
              <a:t>Few recordings = “invisible” species</a:t>
            </a:r>
            <a:r>
              <a:rPr lang="en-SG" dirty="0"/>
              <a:t> for AI models. The richest biodiversity is where data are scarcest.</a:t>
            </a:r>
            <a:endParaRPr lang="en-SG"/>
          </a:p>
        </p:txBody>
      </p:sp>
    </p:spTree>
    <p:extLst>
      <p:ext uri="{BB962C8B-B14F-4D97-AF65-F5344CB8AC3E}">
        <p14:creationId xmlns:p14="http://schemas.microsoft.com/office/powerpoint/2010/main" val="2915122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7DEF67-DEE1-0235-D12B-157037CDF0C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A7857DD-A446-73F1-A2E3-6D750D698D6D}"/>
              </a:ext>
            </a:extLst>
          </p:cNvPr>
          <p:cNvSpPr>
            <a:spLocks noGrp="1"/>
          </p:cNvSpPr>
          <p:nvPr>
            <p:ph type="title"/>
          </p:nvPr>
        </p:nvSpPr>
        <p:spPr>
          <a:xfrm>
            <a:off x="100929" y="124248"/>
            <a:ext cx="8936484" cy="857250"/>
          </a:xfrm>
        </p:spPr>
        <p:txBody>
          <a:bodyPr anchor="ctr">
            <a:normAutofit/>
          </a:bodyPr>
          <a:lstStyle/>
          <a:p>
            <a:r>
              <a:rPr lang="en-SG" dirty="0"/>
              <a:t>Our Approach</a:t>
            </a:r>
            <a:endParaRPr lang="en-US" dirty="0"/>
          </a:p>
        </p:txBody>
      </p:sp>
      <p:sp>
        <p:nvSpPr>
          <p:cNvPr id="8" name="Footer Placeholder 6">
            <a:extLst>
              <a:ext uri="{FF2B5EF4-FFF2-40B4-BE49-F238E27FC236}">
                <a16:creationId xmlns:a16="http://schemas.microsoft.com/office/drawing/2014/main" id="{E794E0B3-1744-2C24-BA15-311E5F4C4344}"/>
              </a:ext>
            </a:extLst>
          </p:cNvPr>
          <p:cNvSpPr>
            <a:spLocks noGrp="1"/>
          </p:cNvSpPr>
          <p:nvPr>
            <p:ph type="ftr" sz="quarter" idx="3"/>
          </p:nvPr>
        </p:nvSpPr>
        <p:spPr>
          <a:xfrm>
            <a:off x="2782001" y="4869656"/>
            <a:ext cx="3489773" cy="273844"/>
          </a:xfrm>
        </p:spPr>
        <p:txBody>
          <a:bodyPr wrap="none" anchor="ctr">
            <a:normAutofit/>
          </a:bodyPr>
          <a:lstStyle/>
          <a:p>
            <a:pPr>
              <a:lnSpc>
                <a:spcPct val="90000"/>
              </a:lnSpc>
              <a:spcAft>
                <a:spcPts val="600"/>
              </a:spcAft>
            </a:pPr>
            <a:endParaRPr lang="en-US" sz="400" dirty="0"/>
          </a:p>
          <a:p>
            <a:pPr>
              <a:lnSpc>
                <a:spcPct val="90000"/>
              </a:lnSpc>
              <a:spcAft>
                <a:spcPts val="600"/>
              </a:spcAft>
            </a:pPr>
            <a:r>
              <a:rPr lang="en-US" sz="400" dirty="0"/>
              <a:t>College of Computing and Data Science</a:t>
            </a:r>
          </a:p>
          <a:p>
            <a:pPr>
              <a:lnSpc>
                <a:spcPct val="90000"/>
              </a:lnSpc>
              <a:spcAft>
                <a:spcPts val="600"/>
              </a:spcAft>
            </a:pPr>
            <a:endParaRPr lang="en-US" sz="400" dirty="0"/>
          </a:p>
        </p:txBody>
      </p:sp>
      <p:pic>
        <p:nvPicPr>
          <p:cNvPr id="3" name="Picture 2" descr="A screenshot of a computer screen&#10;&#10;AI-generated content may be incorrect.">
            <a:extLst>
              <a:ext uri="{FF2B5EF4-FFF2-40B4-BE49-F238E27FC236}">
                <a16:creationId xmlns:a16="http://schemas.microsoft.com/office/drawing/2014/main" id="{146398D5-925F-7642-C7A2-DCFAC3FC7785}"/>
              </a:ext>
            </a:extLst>
          </p:cNvPr>
          <p:cNvPicPr>
            <a:picLocks noChangeAspect="1"/>
          </p:cNvPicPr>
          <p:nvPr/>
        </p:nvPicPr>
        <p:blipFill>
          <a:blip r:embed="rId3"/>
          <a:stretch>
            <a:fillRect/>
          </a:stretch>
        </p:blipFill>
        <p:spPr>
          <a:xfrm>
            <a:off x="221245" y="981498"/>
            <a:ext cx="4147453" cy="295282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391E815-865A-8567-7D16-01E2020C053F}"/>
              </a:ext>
            </a:extLst>
          </p:cNvPr>
          <p:cNvPicPr>
            <a:picLocks noChangeAspect="1"/>
          </p:cNvPicPr>
          <p:nvPr/>
        </p:nvPicPr>
        <p:blipFill>
          <a:blip r:embed="rId4"/>
          <a:stretch>
            <a:fillRect/>
          </a:stretch>
        </p:blipFill>
        <p:spPr>
          <a:xfrm>
            <a:off x="4569171" y="981498"/>
            <a:ext cx="4257644" cy="2818672"/>
          </a:xfrm>
          <a:prstGeom prst="rect">
            <a:avLst/>
          </a:prstGeom>
        </p:spPr>
      </p:pic>
      <p:sp>
        <p:nvSpPr>
          <p:cNvPr id="9" name="TextBox 8">
            <a:extLst>
              <a:ext uri="{FF2B5EF4-FFF2-40B4-BE49-F238E27FC236}">
                <a16:creationId xmlns:a16="http://schemas.microsoft.com/office/drawing/2014/main" id="{F3548CC9-2E4C-890D-F87E-37084B228228}"/>
              </a:ext>
            </a:extLst>
          </p:cNvPr>
          <p:cNvSpPr txBox="1"/>
          <p:nvPr/>
        </p:nvSpPr>
        <p:spPr>
          <a:xfrm>
            <a:off x="1485043" y="3934326"/>
            <a:ext cx="1296958" cy="369332"/>
          </a:xfrm>
          <a:prstGeom prst="rect">
            <a:avLst/>
          </a:prstGeom>
          <a:noFill/>
        </p:spPr>
        <p:txBody>
          <a:bodyPr wrap="none" rtlCol="0">
            <a:spAutoFit/>
          </a:bodyPr>
          <a:lstStyle/>
          <a:p>
            <a:r>
              <a:rPr lang="en-GB" dirty="0"/>
              <a:t>Xeno-</a:t>
            </a:r>
            <a:r>
              <a:rPr lang="en-GB" dirty="0" err="1"/>
              <a:t>cato</a:t>
            </a:r>
            <a:r>
              <a:rPr lang="en-GB" dirty="0"/>
              <a:t> </a:t>
            </a:r>
          </a:p>
        </p:txBody>
      </p:sp>
      <p:sp>
        <p:nvSpPr>
          <p:cNvPr id="11" name="TextBox 10">
            <a:extLst>
              <a:ext uri="{FF2B5EF4-FFF2-40B4-BE49-F238E27FC236}">
                <a16:creationId xmlns:a16="http://schemas.microsoft.com/office/drawing/2014/main" id="{1BF93093-91E0-5414-B63C-E38CBF4D3CD2}"/>
              </a:ext>
            </a:extLst>
          </p:cNvPr>
          <p:cNvSpPr txBox="1"/>
          <p:nvPr/>
        </p:nvSpPr>
        <p:spPr>
          <a:xfrm>
            <a:off x="5049048" y="3977336"/>
            <a:ext cx="3195298" cy="369332"/>
          </a:xfrm>
          <a:prstGeom prst="rect">
            <a:avLst/>
          </a:prstGeom>
          <a:noFill/>
        </p:spPr>
        <p:txBody>
          <a:bodyPr wrap="none" rtlCol="0">
            <a:spAutoFit/>
          </a:bodyPr>
          <a:lstStyle/>
          <a:p>
            <a:r>
              <a:rPr lang="en-GB" dirty="0"/>
              <a:t>Kaggle Rainforest Connection</a:t>
            </a:r>
          </a:p>
        </p:txBody>
      </p:sp>
    </p:spTree>
    <p:extLst>
      <p:ext uri="{BB962C8B-B14F-4D97-AF65-F5344CB8AC3E}">
        <p14:creationId xmlns:p14="http://schemas.microsoft.com/office/powerpoint/2010/main" val="2729512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DED340-8BCB-4EC6-A52A-7DFE16F0BE4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95660E8-2EA4-A7B1-B63E-4DD1148CD57C}"/>
              </a:ext>
            </a:extLst>
          </p:cNvPr>
          <p:cNvSpPr>
            <a:spLocks noGrp="1"/>
          </p:cNvSpPr>
          <p:nvPr>
            <p:ph type="title"/>
          </p:nvPr>
        </p:nvSpPr>
        <p:spPr>
          <a:xfrm>
            <a:off x="100929" y="124248"/>
            <a:ext cx="8936484" cy="857250"/>
          </a:xfrm>
        </p:spPr>
        <p:txBody>
          <a:bodyPr anchor="ctr">
            <a:normAutofit/>
          </a:bodyPr>
          <a:lstStyle/>
          <a:p>
            <a:r>
              <a:rPr lang="en-SG" dirty="0"/>
              <a:t>Model Strategies</a:t>
            </a:r>
            <a:endParaRPr lang="en-US" dirty="0"/>
          </a:p>
        </p:txBody>
      </p:sp>
      <p:pic>
        <p:nvPicPr>
          <p:cNvPr id="3074" name="Picture 2" descr="Diagram of the transfer learning pipeline used for experiments with... |  Download Scientific Diagram">
            <a:extLst>
              <a:ext uri="{FF2B5EF4-FFF2-40B4-BE49-F238E27FC236}">
                <a16:creationId xmlns:a16="http://schemas.microsoft.com/office/drawing/2014/main" id="{B96FBE1F-04AB-98DF-CD6E-B91DC2545A5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03863" y="981498"/>
            <a:ext cx="7136274" cy="2676102"/>
          </a:xfrm>
          <a:prstGeom prst="rect">
            <a:avLst/>
          </a:prstGeom>
          <a:solidFill>
            <a:srgbClr val="FFFFFF"/>
          </a:solidFill>
        </p:spPr>
      </p:pic>
      <p:sp>
        <p:nvSpPr>
          <p:cNvPr id="8" name="Footer Placeholder 6">
            <a:extLst>
              <a:ext uri="{FF2B5EF4-FFF2-40B4-BE49-F238E27FC236}">
                <a16:creationId xmlns:a16="http://schemas.microsoft.com/office/drawing/2014/main" id="{FBF3F75E-AC1D-4A52-33C7-D6454CDA1972}"/>
              </a:ext>
            </a:extLst>
          </p:cNvPr>
          <p:cNvSpPr>
            <a:spLocks noGrp="1"/>
          </p:cNvSpPr>
          <p:nvPr>
            <p:ph type="ftr" sz="quarter" idx="3"/>
          </p:nvPr>
        </p:nvSpPr>
        <p:spPr>
          <a:xfrm>
            <a:off x="2782001" y="4869656"/>
            <a:ext cx="3489773" cy="273844"/>
          </a:xfrm>
        </p:spPr>
        <p:txBody>
          <a:bodyPr wrap="none" anchor="ctr">
            <a:normAutofit/>
          </a:bodyPr>
          <a:lstStyle/>
          <a:p>
            <a:pPr>
              <a:lnSpc>
                <a:spcPct val="90000"/>
              </a:lnSpc>
              <a:spcAft>
                <a:spcPts val="600"/>
              </a:spcAft>
            </a:pPr>
            <a:endParaRPr lang="en-US" sz="400" dirty="0"/>
          </a:p>
          <a:p>
            <a:pPr>
              <a:lnSpc>
                <a:spcPct val="90000"/>
              </a:lnSpc>
              <a:spcAft>
                <a:spcPts val="600"/>
              </a:spcAft>
            </a:pPr>
            <a:r>
              <a:rPr lang="en-US" sz="400" dirty="0"/>
              <a:t>College of Computing and Data Science</a:t>
            </a:r>
          </a:p>
          <a:p>
            <a:pPr>
              <a:lnSpc>
                <a:spcPct val="90000"/>
              </a:lnSpc>
              <a:spcAft>
                <a:spcPts val="600"/>
              </a:spcAft>
            </a:pPr>
            <a:endParaRPr lang="en-US" sz="400" dirty="0"/>
          </a:p>
        </p:txBody>
      </p:sp>
      <p:sp>
        <p:nvSpPr>
          <p:cNvPr id="2" name="TextBox 1">
            <a:extLst>
              <a:ext uri="{FF2B5EF4-FFF2-40B4-BE49-F238E27FC236}">
                <a16:creationId xmlns:a16="http://schemas.microsoft.com/office/drawing/2014/main" id="{56B58351-7B72-FF94-1524-F56B50D0FC56}"/>
              </a:ext>
            </a:extLst>
          </p:cNvPr>
          <p:cNvSpPr txBox="1"/>
          <p:nvPr/>
        </p:nvSpPr>
        <p:spPr>
          <a:xfrm>
            <a:off x="1808579" y="3838836"/>
            <a:ext cx="5436616" cy="923330"/>
          </a:xfrm>
          <a:prstGeom prst="rect">
            <a:avLst/>
          </a:prstGeom>
          <a:noFill/>
        </p:spPr>
        <p:txBody>
          <a:bodyPr wrap="none" rtlCol="0">
            <a:spAutoFit/>
          </a:bodyPr>
          <a:lstStyle/>
          <a:p>
            <a:pPr marL="285750" indent="-285750">
              <a:buFont typeface="Wingdings" pitchFamily="2" charset="2"/>
              <a:buChar char="§"/>
            </a:pPr>
            <a:r>
              <a:rPr lang="en-GB" dirty="0"/>
              <a:t>Applied Transferred Learning on existing models </a:t>
            </a:r>
          </a:p>
          <a:p>
            <a:pPr marL="285750" indent="-285750">
              <a:buFont typeface="Wingdings" pitchFamily="2" charset="2"/>
              <a:buChar char="§"/>
            </a:pPr>
            <a:r>
              <a:rPr lang="en-GB" dirty="0"/>
              <a:t>Use data augmentation to expand the dataset</a:t>
            </a:r>
          </a:p>
          <a:p>
            <a:pPr marL="285750" indent="-285750">
              <a:buFont typeface="Wingdings" pitchFamily="2" charset="2"/>
              <a:buChar char="§"/>
            </a:pPr>
            <a:r>
              <a:rPr lang="en-GB" dirty="0"/>
              <a:t>Fine-tuned using our limited recordings</a:t>
            </a:r>
          </a:p>
        </p:txBody>
      </p:sp>
    </p:spTree>
    <p:extLst>
      <p:ext uri="{BB962C8B-B14F-4D97-AF65-F5344CB8AC3E}">
        <p14:creationId xmlns:p14="http://schemas.microsoft.com/office/powerpoint/2010/main" val="1118461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61EF04-DA45-DC81-BA7C-D61082919A6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A308BA1-9E72-1C8E-5C49-99DECE0F8F62}"/>
              </a:ext>
            </a:extLst>
          </p:cNvPr>
          <p:cNvSpPr>
            <a:spLocks noGrp="1"/>
          </p:cNvSpPr>
          <p:nvPr>
            <p:ph type="title"/>
          </p:nvPr>
        </p:nvSpPr>
        <p:spPr>
          <a:xfrm>
            <a:off x="100929" y="124248"/>
            <a:ext cx="8936484" cy="857250"/>
          </a:xfrm>
        </p:spPr>
        <p:txBody>
          <a:bodyPr anchor="ctr">
            <a:normAutofit/>
          </a:bodyPr>
          <a:lstStyle/>
          <a:p>
            <a:r>
              <a:rPr lang="en-SG" dirty="0" err="1"/>
              <a:t>TropiCall</a:t>
            </a:r>
            <a:endParaRPr lang="en-US" dirty="0"/>
          </a:p>
        </p:txBody>
      </p:sp>
      <p:pic>
        <p:nvPicPr>
          <p:cNvPr id="7172" name="Picture 4" descr="Birdwatching">
            <a:extLst>
              <a:ext uri="{FF2B5EF4-FFF2-40B4-BE49-F238E27FC236}">
                <a16:creationId xmlns:a16="http://schemas.microsoft.com/office/drawing/2014/main" id="{C6903EAF-5351-DFD5-1BB0-751C66169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947" r="20131" b="3"/>
          <a:stretch>
            <a:fillRect/>
          </a:stretch>
        </p:blipFill>
        <p:spPr bwMode="auto">
          <a:xfrm>
            <a:off x="457200" y="1200151"/>
            <a:ext cx="4038600" cy="3394472"/>
          </a:xfrm>
          <a:prstGeom prst="rect">
            <a:avLst/>
          </a:prstGeom>
          <a:solidFill>
            <a:srgbClr val="FFFFFF"/>
          </a:solidFill>
        </p:spPr>
      </p:pic>
      <p:sp>
        <p:nvSpPr>
          <p:cNvPr id="7177" name="Content Placeholder 3">
            <a:extLst>
              <a:ext uri="{FF2B5EF4-FFF2-40B4-BE49-F238E27FC236}">
                <a16:creationId xmlns:a16="http://schemas.microsoft.com/office/drawing/2014/main" id="{CF86C7FD-3301-F14A-7363-FD3B5B42CD80}"/>
              </a:ext>
            </a:extLst>
          </p:cNvPr>
          <p:cNvSpPr>
            <a:spLocks noGrp="1"/>
          </p:cNvSpPr>
          <p:nvPr>
            <p:ph sz="half" idx="2"/>
          </p:nvPr>
        </p:nvSpPr>
        <p:spPr>
          <a:xfrm>
            <a:off x="4648200" y="1200151"/>
            <a:ext cx="4038600" cy="3394472"/>
          </a:xfrm>
        </p:spPr>
        <p:txBody>
          <a:bodyPr/>
          <a:lstStyle/>
          <a:p>
            <a:r>
              <a:rPr lang="en-US" dirty="0"/>
              <a:t>Despite data limitations</a:t>
            </a:r>
          </a:p>
          <a:p>
            <a:r>
              <a:rPr lang="en-US" dirty="0"/>
              <a:t>Bridge data gap with clever AI strategies</a:t>
            </a:r>
          </a:p>
          <a:p>
            <a:r>
              <a:rPr lang="en-US" dirty="0"/>
              <a:t>Future: Extend to more tropical species</a:t>
            </a:r>
          </a:p>
          <a:p>
            <a:pPr lvl="1"/>
            <a:r>
              <a:rPr lang="en-US" dirty="0"/>
              <a:t>Frogs, Insects </a:t>
            </a:r>
          </a:p>
        </p:txBody>
      </p:sp>
      <p:sp>
        <p:nvSpPr>
          <p:cNvPr id="8" name="Footer Placeholder 6">
            <a:extLst>
              <a:ext uri="{FF2B5EF4-FFF2-40B4-BE49-F238E27FC236}">
                <a16:creationId xmlns:a16="http://schemas.microsoft.com/office/drawing/2014/main" id="{01B1C14A-D9E7-0EF3-420D-8D778907DC09}"/>
              </a:ext>
            </a:extLst>
          </p:cNvPr>
          <p:cNvSpPr>
            <a:spLocks noGrp="1"/>
          </p:cNvSpPr>
          <p:nvPr>
            <p:ph type="ftr" sz="quarter" idx="11"/>
          </p:nvPr>
        </p:nvSpPr>
        <p:spPr>
          <a:xfrm>
            <a:off x="3124200" y="4886308"/>
            <a:ext cx="4810790" cy="273844"/>
          </a:xfrm>
        </p:spPr>
        <p:txBody>
          <a:bodyPr wrap="none" anchor="ctr">
            <a:normAutofit/>
          </a:bodyPr>
          <a:lstStyle/>
          <a:p>
            <a:pPr>
              <a:lnSpc>
                <a:spcPct val="90000"/>
              </a:lnSpc>
              <a:spcAft>
                <a:spcPts val="600"/>
              </a:spcAft>
            </a:pPr>
            <a:endParaRPr lang="en-US" sz="400" dirty="0"/>
          </a:p>
          <a:p>
            <a:pPr>
              <a:lnSpc>
                <a:spcPct val="90000"/>
              </a:lnSpc>
              <a:spcAft>
                <a:spcPts val="600"/>
              </a:spcAft>
            </a:pPr>
            <a:r>
              <a:rPr lang="en-US" sz="400" dirty="0"/>
              <a:t>College of Computing and Data Science</a:t>
            </a:r>
          </a:p>
          <a:p>
            <a:pPr>
              <a:lnSpc>
                <a:spcPct val="90000"/>
              </a:lnSpc>
              <a:spcAft>
                <a:spcPts val="600"/>
              </a:spcAft>
            </a:pPr>
            <a:endParaRPr lang="en-US" sz="400" dirty="0"/>
          </a:p>
        </p:txBody>
      </p:sp>
    </p:spTree>
    <p:extLst>
      <p:ext uri="{BB962C8B-B14F-4D97-AF65-F5344CB8AC3E}">
        <p14:creationId xmlns:p14="http://schemas.microsoft.com/office/powerpoint/2010/main" val="24115077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UI">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58D05998BBEA4590626CDB702E1741" ma:contentTypeVersion="8" ma:contentTypeDescription="Create a new document." ma:contentTypeScope="" ma:versionID="d71ccf782989f226781504bb14618d96">
  <xsd:schema xmlns:xsd="http://www.w3.org/2001/XMLSchema" xmlns:xs="http://www.w3.org/2001/XMLSchema" xmlns:p="http://schemas.microsoft.com/office/2006/metadata/properties" xmlns:ns2="cebf7570-8c45-4114-9c21-c7cda339255a" xmlns:ns3="89c1fc6f-a21f-491a-a042-f993e7d84368" targetNamespace="http://schemas.microsoft.com/office/2006/metadata/properties" ma:root="true" ma:fieldsID="c17b204c37352eb91c2d99bb9fb8e833" ns2:_="" ns3:_="">
    <xsd:import namespace="cebf7570-8c45-4114-9c21-c7cda339255a"/>
    <xsd:import namespace="89c1fc6f-a21f-491a-a042-f993e7d84368"/>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bf7570-8c45-4114-9c21-c7cda33925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bc49540-5c35-4aa1-8e74-ce7972271726"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c1fc6f-a21f-491a-a042-f993e7d843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e471bb1d-f199-4549-9076-08c62d1581a4}" ma:internalName="TaxCatchAll" ma:showField="CatchAllData" ma:web="89c1fc6f-a21f-491a-a042-f993e7d8436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9c1fc6f-a21f-491a-a042-f993e7d84368" xsi:nil="true"/>
    <lcf76f155ced4ddcb4097134ff3c332f xmlns="cebf7570-8c45-4114-9c21-c7cda339255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F0E009-EBB1-4332-9BD2-FDBC98C89A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bf7570-8c45-4114-9c21-c7cda339255a"/>
    <ds:schemaRef ds:uri="89c1fc6f-a21f-491a-a042-f993e7d843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1E0363-0F83-40DC-9D4B-2214B9B3F31F}">
  <ds:schemaRefs>
    <ds:schemaRef ds:uri="http://schemas.microsoft.com/office/2006/metadata/properties"/>
    <ds:schemaRef ds:uri="http://schemas.microsoft.com/office/infopath/2007/PartnerControls"/>
    <ds:schemaRef ds:uri="89c1fc6f-a21f-491a-a042-f993e7d84368"/>
    <ds:schemaRef ds:uri="cebf7570-8c45-4114-9c21-c7cda339255a"/>
  </ds:schemaRefs>
</ds:datastoreItem>
</file>

<file path=customXml/itemProps3.xml><?xml version="1.0" encoding="utf-8"?>
<ds:datastoreItem xmlns:ds="http://schemas.openxmlformats.org/officeDocument/2006/customXml" ds:itemID="{D1A1B3F9-6713-4355-BB6C-98463F63AFA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2630</Words>
  <Application>Microsoft Macintosh PowerPoint</Application>
  <PresentationFormat>On-screen Show (16:9)</PresentationFormat>
  <Paragraphs>289</Paragraphs>
  <Slides>33</Slides>
  <Notes>27</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Inter</vt:lpstr>
      <vt:lpstr>Inter SemiBold</vt:lpstr>
      <vt:lpstr>Arial</vt:lpstr>
      <vt:lpstr>Calibri</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Tropical Bird Sound Recognition with Limited Data TropiCalls – Giving Tropical Birds a Voice </vt:lpstr>
      <vt:lpstr>TropiCalls – Giving Tropical Birds a Voice</vt:lpstr>
      <vt:lpstr>The Challenge </vt:lpstr>
      <vt:lpstr>Our Approach</vt:lpstr>
      <vt:lpstr>Model Strategies</vt:lpstr>
      <vt:lpstr>TropiCall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on  these lines</dc:title>
  <dc:creator/>
  <cp:lastModifiedBy/>
  <cp:revision>3</cp:revision>
  <dcterms:created xsi:type="dcterms:W3CDTF">2019-02-25T17:29:56Z</dcterms:created>
  <dcterms:modified xsi:type="dcterms:W3CDTF">2026-05-18T07:44:04Z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0x010100AD58D05998BBEA4590626CDB702E1741</vt:lpwstr>
  </property>
  <property fmtid="{D5CDD505-2E9C-101B-9397-08002B2CF9AE}" pid="3" name="MediaServiceImageTags">
    <vt:lpwstr/>
  </property>
</Properties>
</file>